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43"/>
  </p:normalViewPr>
  <p:slideViewPr>
    <p:cSldViewPr snapToGrid="0">
      <p:cViewPr varScale="1">
        <p:scale>
          <a:sx n="25" d="100"/>
          <a:sy n="25" d="100"/>
        </p:scale>
        <p:origin x="18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0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0096" y="9802368"/>
            <a:ext cx="13240512" cy="5056632"/>
          </a:xfrm>
          <a:prstGeom prst="rect">
            <a:avLst/>
          </a:prstGeom>
        </p:spPr>
      </p:pic>
      <p:sp>
        <p:nvSpPr>
          <p:cNvPr id="151" name="INTRO_WhyHead"/>
          <p:cNvSpPr txBox="1"/>
          <p:nvPr/>
        </p:nvSpPr>
        <p:spPr>
          <a:xfrm>
            <a:off x="1700784" y="8686800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Зачем нужны Semantic IDs?</a:t>
            </a:r>
          </a:p>
        </p:txBody>
      </p:sp>
      <p:sp>
        <p:nvSpPr>
          <p:cNvPr id="152" name="INTRO_WhyBody"/>
          <p:cNvSpPr txBox="1"/>
          <p:nvPr/>
        </p:nvSpPr>
        <p:spPr>
          <a:xfrm>
            <a:off x="1700784" y="9180576"/>
            <a:ext cx="11695176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Semantic IDs — дискретные коды объектов для генеративных рекомендательных моделей.</a:t>
            </a:r>
          </a:p>
        </p:txBody>
      </p:sp>
      <p:cxnSp>
        <p:nvCxnSpPr>
          <p:cNvPr id="153" name="INTRO_WhyRule"/>
          <p:cNvCxnSpPr/>
          <p:nvPr/>
        </p:nvCxnSpPr>
        <p:spPr>
          <a:xfrm>
            <a:off x="1700784" y="10222992"/>
            <a:ext cx="11695175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INTRO_HowHead"/>
          <p:cNvSpPr txBox="1"/>
          <p:nvPr/>
        </p:nvSpPr>
        <p:spPr>
          <a:xfrm>
            <a:off x="1700784" y="10442448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Как получается SID?</a:t>
            </a:r>
          </a:p>
        </p:txBody>
      </p:sp>
      <p:sp>
        <p:nvSpPr>
          <p:cNvPr id="155" name="INTRO_RQKMeansLabel"/>
          <p:cNvSpPr txBox="1"/>
          <p:nvPr/>
        </p:nvSpPr>
        <p:spPr>
          <a:xfrm>
            <a:off x="1700784" y="10917936"/>
            <a:ext cx="116951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RQ-KMeans · последовательное residual quantization</a:t>
            </a:r>
          </a:p>
        </p:txBody>
      </p:sp>
      <p:sp>
        <p:nvSpPr>
          <p:cNvPr id="156" name="INTRO_RQKMeansBand"/>
          <p:cNvSpPr/>
          <p:nvPr/>
        </p:nvSpPr>
        <p:spPr>
          <a:xfrm>
            <a:off x="1700784" y="11448288"/>
            <a:ext cx="11695176" cy="202996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INTRO_RQKMeansStage_Embedding"/>
          <p:cNvSpPr txBox="1"/>
          <p:nvPr/>
        </p:nvSpPr>
        <p:spPr>
          <a:xfrm>
            <a:off x="1810512" y="11667744"/>
            <a:ext cx="23317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item embedding</a:t>
            </a:r>
          </a:p>
        </p:txBody>
      </p:sp>
      <p:sp>
        <p:nvSpPr>
          <p:cNvPr id="158" name="INTRO_RQKMeansArrow_1"/>
          <p:cNvSpPr txBox="1"/>
          <p:nvPr/>
        </p:nvSpPr>
        <p:spPr>
          <a:xfrm>
            <a:off x="4169664" y="11740896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59" name="INTRO_RQKMeansStage_Level1"/>
          <p:cNvSpPr txBox="1"/>
          <p:nvPr/>
        </p:nvSpPr>
        <p:spPr>
          <a:xfrm>
            <a:off x="4517136" y="11667744"/>
            <a:ext cx="1920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level 1 · c₁</a:t>
            </a:r>
          </a:p>
        </p:txBody>
      </p:sp>
      <p:sp>
        <p:nvSpPr>
          <p:cNvPr id="160" name="INTRO_RQKMeansArrow_2"/>
          <p:cNvSpPr txBox="1"/>
          <p:nvPr/>
        </p:nvSpPr>
        <p:spPr>
          <a:xfrm>
            <a:off x="6473952" y="11740896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1" name="INTRO_RQKMeansStage_Residual"/>
          <p:cNvSpPr txBox="1"/>
          <p:nvPr/>
        </p:nvSpPr>
        <p:spPr>
          <a:xfrm>
            <a:off x="6839712" y="11667744"/>
            <a:ext cx="1874519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residual</a:t>
            </a:r>
          </a:p>
        </p:txBody>
      </p:sp>
      <p:sp>
        <p:nvSpPr>
          <p:cNvPr id="162" name="INTRO_RQKMeansArrow_3"/>
          <p:cNvSpPr txBox="1"/>
          <p:nvPr/>
        </p:nvSpPr>
        <p:spPr>
          <a:xfrm>
            <a:off x="8759952" y="11740896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3" name="INTRO_RQKMeansStage_Next"/>
          <p:cNvSpPr txBox="1"/>
          <p:nvPr/>
        </p:nvSpPr>
        <p:spPr>
          <a:xfrm>
            <a:off x="9125711" y="11667744"/>
            <a:ext cx="230428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levels 2…L</a:t>
            </a:r>
          </a:p>
        </p:txBody>
      </p:sp>
      <p:sp>
        <p:nvSpPr>
          <p:cNvPr id="164" name="INTRO_RQKMeansArrow_4"/>
          <p:cNvSpPr txBox="1"/>
          <p:nvPr/>
        </p:nvSpPr>
        <p:spPr>
          <a:xfrm>
            <a:off x="11448288" y="11740896"/>
            <a:ext cx="329184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5" name="INTRO_RQKMeansStage_SID"/>
          <p:cNvSpPr txBox="1"/>
          <p:nvPr/>
        </p:nvSpPr>
        <p:spPr>
          <a:xfrm>
            <a:off x="11786615" y="11667744"/>
            <a:ext cx="14813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SID</a:t>
            </a:r>
          </a:p>
        </p:txBody>
      </p:sp>
      <p:sp>
        <p:nvSpPr>
          <p:cNvPr id="166" name="INTRO_RQKMeansSequence"/>
          <p:cNvSpPr txBox="1"/>
          <p:nvPr/>
        </p:nvSpPr>
        <p:spPr>
          <a:xfrm>
            <a:off x="1883664" y="12591288"/>
            <a:ext cx="11329415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c₁  →  c₂  →  …  →  cₗ   =   Semantic ID</a:t>
            </a:r>
          </a:p>
        </p:txBody>
      </p:sp>
      <p:sp>
        <p:nvSpPr>
          <p:cNvPr id="167" name="INTRO_RQVAEReference"/>
          <p:cNvSpPr txBox="1"/>
          <p:nvPr/>
        </p:nvSpPr>
        <p:spPr>
          <a:xfrm>
            <a:off x="1700784" y="13633704"/>
            <a:ext cx="116951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RQ-VAE — обучаемый baseline с той же residual-логикой.</a:t>
            </a:r>
          </a:p>
        </p:txBody>
      </p:sp>
      <p:sp>
        <p:nvSpPr>
          <p:cNvPr id="168" name="INTRO_QuestionHead"/>
          <p:cNvSpPr txBox="1"/>
          <p:nvPr/>
        </p:nvSpPr>
        <p:spPr>
          <a:xfrm>
            <a:off x="1700784" y="14246352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хотим выяснить?</a:t>
            </a:r>
          </a:p>
        </p:txBody>
      </p:sp>
      <p:sp>
        <p:nvSpPr>
          <p:cNvPr id="169" name="INTRO_ResearchQuestion"/>
          <p:cNvSpPr txBox="1"/>
          <p:nvPr/>
        </p:nvSpPr>
        <p:spPr>
          <a:xfrm>
            <a:off x="1700784" y="14740128"/>
            <a:ext cx="11695176" cy="21214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Какие свойства и способы построения SID действительно отражаются на downstream-качестве?</a:t>
            </a:r>
          </a:p>
        </p:txBody>
      </p:sp>
      <p:cxnSp>
        <p:nvCxnSpPr>
          <p:cNvPr id="170" name="INTRO_QuestionUnderline"/>
          <p:cNvCxnSpPr/>
          <p:nvPr/>
        </p:nvCxnSpPr>
        <p:spPr>
          <a:xfrm>
            <a:off x="1700784" y="16934688"/>
            <a:ext cx="667512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INTRO_EvaluationHead"/>
          <p:cNvSpPr txBox="1"/>
          <p:nvPr/>
        </p:nvSpPr>
        <p:spPr>
          <a:xfrm>
            <a:off x="1700784" y="17181576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Где проверяем?</a:t>
            </a:r>
          </a:p>
        </p:txBody>
      </p:sp>
      <p:sp>
        <p:nvSpPr>
          <p:cNvPr id="172" name="INTRO_Dataset"/>
          <p:cNvSpPr txBox="1"/>
          <p:nvPr/>
        </p:nvSpPr>
        <p:spPr>
          <a:xfrm>
            <a:off x="1700784" y="17638776"/>
            <a:ext cx="11695176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Yambda-50M · time split</a:t>
            </a:r>
          </a:p>
        </p:txBody>
      </p:sp>
      <p:cxnSp>
        <p:nvCxnSpPr>
          <p:cNvPr id="173" name="INTRO_TaskDivider"/>
          <p:cNvCxnSpPr/>
          <p:nvPr/>
        </p:nvCxnSpPr>
        <p:spPr>
          <a:xfrm>
            <a:off x="7388352" y="18233136"/>
            <a:ext cx="0" cy="354787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INTRO_GenerationHead"/>
          <p:cNvSpPr txBox="1"/>
          <p:nvPr/>
        </p:nvSpPr>
        <p:spPr>
          <a:xfrm>
            <a:off x="1700784" y="18233136"/>
            <a:ext cx="54132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Генерация</a:t>
            </a:r>
          </a:p>
        </p:txBody>
      </p:sp>
      <p:sp>
        <p:nvSpPr>
          <p:cNvPr id="175" name="INTRO_GenerationBody"/>
          <p:cNvSpPr txBox="1"/>
          <p:nvPr/>
        </p:nvSpPr>
        <p:spPr>
          <a:xfrm>
            <a:off x="1700784" y="18745200"/>
            <a:ext cx="5413248" cy="2926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→ SID следующего объекта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 · SASRec по item ID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Метрика · Recall@100</a:t>
            </a:r>
          </a:p>
        </p:txBody>
      </p:sp>
      <p:sp>
        <p:nvSpPr>
          <p:cNvPr id="176" name="INTRO_RankingHead"/>
          <p:cNvSpPr txBox="1"/>
          <p:nvPr/>
        </p:nvSpPr>
        <p:spPr>
          <a:xfrm>
            <a:off x="7662671" y="18233136"/>
            <a:ext cx="5733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Ранжирование</a:t>
            </a:r>
          </a:p>
        </p:txBody>
      </p:sp>
      <p:sp>
        <p:nvSpPr>
          <p:cNvPr id="177" name="INTRO_RankingBody"/>
          <p:cNvSpPr txBox="1"/>
          <p:nvPr/>
        </p:nvSpPr>
        <p:spPr>
          <a:xfrm>
            <a:off x="7662671" y="18745200"/>
            <a:ext cx="5733288" cy="3090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DCNv2 + SID целевого объекта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 — дополнительный признак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Метрики · ROC-AUC / Pairwise Accuracy</a:t>
            </a:r>
          </a:p>
        </p:txBody>
      </p:sp>
      <p:sp>
        <p:nvSpPr>
          <p:cNvPr id="178" name="METHODS_QuestionHead"/>
          <p:cNvSpPr txBox="1"/>
          <p:nvPr/>
        </p:nvSpPr>
        <p:spPr>
          <a:xfrm>
            <a:off x="14429232" y="8686800"/>
            <a:ext cx="1260043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11116"/>
                </a:solidFill>
                <a:latin typeface="Arial"/>
              </a:rPr>
              <a:t>Что именно мы меняли в SID?</a:t>
            </a:r>
          </a:p>
        </p:txBody>
      </p:sp>
      <p:sp>
        <p:nvSpPr>
          <p:cNvPr id="179" name="METHODS_RQVAEReferenceBand"/>
          <p:cNvSpPr/>
          <p:nvPr/>
        </p:nvSpPr>
        <p:spPr>
          <a:xfrm>
            <a:off x="14429232" y="9281160"/>
            <a:ext cx="12600432" cy="10789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METHODS_RQVAEReferenceHead"/>
          <p:cNvSpPr txBox="1"/>
          <p:nvPr/>
        </p:nvSpPr>
        <p:spPr>
          <a:xfrm>
            <a:off x="14593824" y="9454896"/>
            <a:ext cx="1874519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RQ-VAE</a:t>
            </a:r>
          </a:p>
        </p:txBody>
      </p:sp>
      <p:sp>
        <p:nvSpPr>
          <p:cNvPr id="181" name="METHODS_RQVAEReferenceBody"/>
          <p:cNvSpPr txBox="1"/>
          <p:nvPr/>
        </p:nvSpPr>
        <p:spPr>
          <a:xfrm>
            <a:off x="16550639" y="9418320"/>
            <a:ext cx="10314432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Reference point · residual quantization по обучаемым codebooks.</a:t>
            </a:r>
          </a:p>
        </p:txBody>
      </p:sp>
      <p:sp>
        <p:nvSpPr>
          <p:cNvPr id="182" name="METHODS_UserAwareHead"/>
          <p:cNvSpPr txBox="1"/>
          <p:nvPr/>
        </p:nvSpPr>
        <p:spPr>
          <a:xfrm>
            <a:off x="14429232" y="10661904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User-aware</a:t>
            </a:r>
          </a:p>
        </p:txBody>
      </p:sp>
      <p:sp>
        <p:nvSpPr>
          <p:cNvPr id="183" name="METHODS_UserAwareWhat"/>
          <p:cNvSpPr txBox="1"/>
          <p:nvPr/>
        </p:nvSpPr>
        <p:spPr>
          <a:xfrm>
            <a:off x="14429232" y="11338560"/>
            <a:ext cx="1260043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добавляем информацию о пользовательских предпочтениях.</a:t>
            </a:r>
          </a:p>
        </p:txBody>
      </p:sp>
      <p:sp>
        <p:nvSpPr>
          <p:cNvPr id="184" name="METHODS_UserAwareBand"/>
          <p:cNvSpPr/>
          <p:nvPr/>
        </p:nvSpPr>
        <p:spPr>
          <a:xfrm>
            <a:off x="14429232" y="12088368"/>
            <a:ext cx="12600432" cy="100584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METHODS_UserAwareItems"/>
          <p:cNvSpPr txBox="1"/>
          <p:nvPr/>
        </p:nvSpPr>
        <p:spPr>
          <a:xfrm>
            <a:off x="14703551" y="12243816"/>
            <a:ext cx="199339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ITEMS</a:t>
            </a:r>
          </a:p>
        </p:txBody>
      </p:sp>
      <p:sp>
        <p:nvSpPr>
          <p:cNvPr id="186" name="METHODS_UserAwarePlus"/>
          <p:cNvSpPr txBox="1"/>
          <p:nvPr/>
        </p:nvSpPr>
        <p:spPr>
          <a:xfrm>
            <a:off x="16733520" y="12243816"/>
            <a:ext cx="5029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+</a:t>
            </a:r>
          </a:p>
        </p:txBody>
      </p:sp>
      <p:sp>
        <p:nvSpPr>
          <p:cNvPr id="187" name="METHODS_UserAwareSignals"/>
          <p:cNvSpPr txBox="1"/>
          <p:nvPr/>
        </p:nvSpPr>
        <p:spPr>
          <a:xfrm>
            <a:off x="17282160" y="12243816"/>
            <a:ext cx="309067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 SIGNALS</a:t>
            </a:r>
          </a:p>
        </p:txBody>
      </p:sp>
      <p:sp>
        <p:nvSpPr>
          <p:cNvPr id="188" name="METHODS_UserAwareArrow"/>
          <p:cNvSpPr txBox="1"/>
          <p:nvPr/>
        </p:nvSpPr>
        <p:spPr>
          <a:xfrm>
            <a:off x="20482560" y="12307824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89" name="METHODS_UserAwareSID"/>
          <p:cNvSpPr txBox="1"/>
          <p:nvPr/>
        </p:nvSpPr>
        <p:spPr>
          <a:xfrm>
            <a:off x="21031200" y="12243816"/>
            <a:ext cx="56235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USER-AWARE SID</a:t>
            </a:r>
          </a:p>
        </p:txBody>
      </p:sp>
      <p:sp>
        <p:nvSpPr>
          <p:cNvPr id="190" name="METHODS_UserAwareWhy"/>
          <p:cNvSpPr txBox="1"/>
          <p:nvPr/>
        </p:nvSpPr>
        <p:spPr>
          <a:xfrm>
            <a:off x="14429232" y="13185648"/>
            <a:ext cx="1260043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согласовать коды с пользовательским восприятием объектов.</a:t>
            </a:r>
          </a:p>
        </p:txBody>
      </p:sp>
      <p:cxnSp>
        <p:nvCxnSpPr>
          <p:cNvPr id="191" name="METHODS_UserAwareRule"/>
          <p:cNvCxnSpPr/>
          <p:nvPr/>
        </p:nvCxnSpPr>
        <p:spPr>
          <a:xfrm>
            <a:off x="14429232" y="13898880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METHODS_PSIHead"/>
          <p:cNvSpPr txBox="1"/>
          <p:nvPr/>
        </p:nvSpPr>
        <p:spPr>
          <a:xfrm>
            <a:off x="14429232" y="14136624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PSI</a:t>
            </a:r>
          </a:p>
        </p:txBody>
      </p:sp>
      <p:sp>
        <p:nvSpPr>
          <p:cNvPr id="193" name="METHODS_PSIWhat"/>
          <p:cNvSpPr txBox="1"/>
          <p:nvPr/>
        </p:nvSpPr>
        <p:spPr>
          <a:xfrm>
            <a:off x="14429232" y="14794992"/>
            <a:ext cx="1260043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при коллизии выбираем следующую близкую свободную комбинацию.</a:t>
            </a:r>
          </a:p>
        </p:txBody>
      </p:sp>
      <p:sp>
        <p:nvSpPr>
          <p:cNvPr id="194" name="METHODS_PSIBand"/>
          <p:cNvSpPr/>
          <p:nvPr/>
        </p:nvSpPr>
        <p:spPr>
          <a:xfrm>
            <a:off x="14429232" y="15544800"/>
            <a:ext cx="12600432" cy="102412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METHODS_PSINearest"/>
          <p:cNvSpPr txBox="1"/>
          <p:nvPr/>
        </p:nvSpPr>
        <p:spPr>
          <a:xfrm>
            <a:off x="14612111" y="15709392"/>
            <a:ext cx="27889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nearest SID</a:t>
            </a:r>
          </a:p>
        </p:txBody>
      </p:sp>
      <p:sp>
        <p:nvSpPr>
          <p:cNvPr id="196" name="METHODS_PSIArrow_1"/>
          <p:cNvSpPr txBox="1"/>
          <p:nvPr/>
        </p:nvSpPr>
        <p:spPr>
          <a:xfrm>
            <a:off x="17446752" y="15773400"/>
            <a:ext cx="38404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97" name="METHODS_PSIOccupied"/>
          <p:cNvSpPr txBox="1"/>
          <p:nvPr/>
        </p:nvSpPr>
        <p:spPr>
          <a:xfrm>
            <a:off x="17885664" y="15709392"/>
            <a:ext cx="292608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occupied  ×</a:t>
            </a:r>
          </a:p>
        </p:txBody>
      </p:sp>
      <p:sp>
        <p:nvSpPr>
          <p:cNvPr id="198" name="METHODS_PSIArrow_2"/>
          <p:cNvSpPr txBox="1"/>
          <p:nvPr/>
        </p:nvSpPr>
        <p:spPr>
          <a:xfrm>
            <a:off x="20866608" y="15773400"/>
            <a:ext cx="38404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99" name="METHODS_PSIFree"/>
          <p:cNvSpPr txBox="1"/>
          <p:nvPr/>
        </p:nvSpPr>
        <p:spPr>
          <a:xfrm>
            <a:off x="21305519" y="15709392"/>
            <a:ext cx="550468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next nearest free SID  ✓</a:t>
            </a:r>
          </a:p>
        </p:txBody>
      </p:sp>
      <p:sp>
        <p:nvSpPr>
          <p:cNvPr id="200" name="METHODS_PSIWhy"/>
          <p:cNvSpPr txBox="1"/>
          <p:nvPr/>
        </p:nvSpPr>
        <p:spPr>
          <a:xfrm>
            <a:off x="14429232" y="16678655"/>
            <a:ext cx="12600432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устранить коллизии без дополнительного токена.</a:t>
            </a:r>
          </a:p>
        </p:txBody>
      </p:sp>
      <p:cxnSp>
        <p:nvCxnSpPr>
          <p:cNvPr id="201" name="METHODS_PSIRule"/>
          <p:cNvCxnSpPr/>
          <p:nvPr/>
        </p:nvCxnSpPr>
        <p:spPr>
          <a:xfrm>
            <a:off x="14429232" y="17391888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METHODS_R3VAEHead"/>
          <p:cNvSpPr txBox="1"/>
          <p:nvPr/>
        </p:nvSpPr>
        <p:spPr>
          <a:xfrm>
            <a:off x="14429232" y="17666208"/>
            <a:ext cx="601675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R3-VAE</a:t>
            </a:r>
          </a:p>
        </p:txBody>
      </p:sp>
      <p:sp>
        <p:nvSpPr>
          <p:cNvPr id="203" name="METHODS_R3VAEWhat"/>
          <p:cNvSpPr txBox="1"/>
          <p:nvPr/>
        </p:nvSpPr>
        <p:spPr>
          <a:xfrm>
            <a:off x="14429232" y="18324576"/>
            <a:ext cx="6016752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обучаемый semantic anchor для первого residual.</a:t>
            </a:r>
          </a:p>
        </p:txBody>
      </p:sp>
      <p:sp>
        <p:nvSpPr>
          <p:cNvPr id="204" name="METHODS_R3VAEBand"/>
          <p:cNvSpPr/>
          <p:nvPr/>
        </p:nvSpPr>
        <p:spPr>
          <a:xfrm>
            <a:off x="14429232" y="19549872"/>
            <a:ext cx="6016752" cy="117043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METHODS_R3VAEScheme"/>
          <p:cNvSpPr txBox="1"/>
          <p:nvPr/>
        </p:nvSpPr>
        <p:spPr>
          <a:xfrm>
            <a:off x="14566392" y="19714464"/>
            <a:ext cx="5742432" cy="7680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embedding  →  anchor  →  residual Q</a:t>
            </a:r>
          </a:p>
        </p:txBody>
      </p:sp>
      <p:sp>
        <p:nvSpPr>
          <p:cNvPr id="206" name="METHODS_R3VAEWhy"/>
          <p:cNvSpPr txBox="1"/>
          <p:nvPr/>
        </p:nvSpPr>
        <p:spPr>
          <a:xfrm>
            <a:off x="14429232" y="20848320"/>
            <a:ext cx="6016752" cy="12252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усилить семантическую структуру кодов.</a:t>
            </a:r>
          </a:p>
        </p:txBody>
      </p:sp>
      <p:sp>
        <p:nvSpPr>
          <p:cNvPr id="207" name="METHODS_LogQHead"/>
          <p:cNvSpPr txBox="1"/>
          <p:nvPr/>
        </p:nvSpPr>
        <p:spPr>
          <a:xfrm>
            <a:off x="21012912" y="17666208"/>
            <a:ext cx="601675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LogQ</a:t>
            </a:r>
          </a:p>
        </p:txBody>
      </p:sp>
      <p:sp>
        <p:nvSpPr>
          <p:cNvPr id="208" name="METHODS_LogQWhat"/>
          <p:cNvSpPr txBox="1"/>
          <p:nvPr/>
        </p:nvSpPr>
        <p:spPr>
          <a:xfrm>
            <a:off x="21012912" y="18324576"/>
            <a:ext cx="6016752" cy="1097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поправка logits по частоте SID-префиксов / объектов.</a:t>
            </a:r>
          </a:p>
        </p:txBody>
      </p:sp>
      <p:sp>
        <p:nvSpPr>
          <p:cNvPr id="209" name="METHODS_LogQBand"/>
          <p:cNvSpPr/>
          <p:nvPr/>
        </p:nvSpPr>
        <p:spPr>
          <a:xfrm>
            <a:off x="21012912" y="19549872"/>
            <a:ext cx="6016752" cy="117043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METHODS_LogQScheme"/>
          <p:cNvSpPr txBox="1"/>
          <p:nvPr/>
        </p:nvSpPr>
        <p:spPr>
          <a:xfrm>
            <a:off x="21150072" y="19677888"/>
            <a:ext cx="5742432" cy="8778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raw logits  →  frequency correction
→  corrected logits</a:t>
            </a:r>
          </a:p>
        </p:txBody>
      </p:sp>
      <p:sp>
        <p:nvSpPr>
          <p:cNvPr id="211" name="METHODS_LogQWhy"/>
          <p:cNvSpPr txBox="1"/>
          <p:nvPr/>
        </p:nvSpPr>
        <p:spPr>
          <a:xfrm>
            <a:off x="21012912" y="20848320"/>
            <a:ext cx="6016752" cy="12252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компенсировать частотный перекос при обучении.</a:t>
            </a:r>
          </a:p>
        </p:txBody>
      </p:sp>
      <p:sp>
        <p:nvSpPr>
          <p:cNvPr id="212" name="RESULTS_HeatmapQuestion"/>
          <p:cNvSpPr txBox="1"/>
          <p:nvPr/>
        </p:nvSpPr>
        <p:spPr>
          <a:xfrm>
            <a:off x="28520136" y="8686800"/>
            <a:ext cx="12600432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КАКИЕ СВОЙСТВА SID СВЯЗАНЫ
С DOWNSTREAM-КАЧЕСТВОМ?</a:t>
            </a:r>
          </a:p>
        </p:txBody>
      </p:sp>
      <p:sp>
        <p:nvSpPr>
          <p:cNvPr id="213" name="RESULTS_Observation_1"/>
          <p:cNvSpPr txBox="1"/>
          <p:nvPr/>
        </p:nvSpPr>
        <p:spPr>
          <a:xfrm>
            <a:off x="28520136" y="15014448"/>
            <a:ext cx="126004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DCNv2 Pairwise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ICR и code entropy дают r ≈ 0.47.</a:t>
            </a:r>
          </a:p>
        </p:txBody>
      </p:sp>
      <p:sp>
        <p:nvSpPr>
          <p:cNvPr id="214" name="RESULTS_Observation_2"/>
          <p:cNvSpPr txBox="1"/>
          <p:nvPr/>
        </p:nvSpPr>
        <p:spPr>
          <a:xfrm>
            <a:off x="28520136" y="15691104"/>
            <a:ext cx="126004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DCNv2 ROC-AUC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выраженной связи нет, max |r| ≈ 0.20.</a:t>
            </a:r>
          </a:p>
        </p:txBody>
      </p:sp>
      <p:cxnSp>
        <p:nvCxnSpPr>
          <p:cNvPr id="215" name="RESULTS_ObservationRule"/>
          <p:cNvCxnSpPr/>
          <p:nvPr/>
        </p:nvCxnSpPr>
        <p:spPr>
          <a:xfrm>
            <a:off x="28520136" y="16514063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SULTS_GenerationTableHead"/>
          <p:cNvSpPr txBox="1"/>
          <p:nvPr/>
        </p:nvSpPr>
        <p:spPr>
          <a:xfrm>
            <a:off x="28520136" y="16870680"/>
            <a:ext cx="126004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Главный результат генерации</a:t>
            </a:r>
          </a:p>
        </p:txBody>
      </p:sp>
      <p:sp>
        <p:nvSpPr>
          <p:cNvPr id="217" name="RESULTS_TableHeaderBand"/>
          <p:cNvSpPr/>
          <p:nvPr/>
        </p:nvSpPr>
        <p:spPr>
          <a:xfrm>
            <a:off x="28520136" y="17465040"/>
            <a:ext cx="12600432" cy="64008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SULTS_TableBestBand"/>
          <p:cNvSpPr/>
          <p:nvPr/>
        </p:nvSpPr>
        <p:spPr>
          <a:xfrm>
            <a:off x="28520136" y="18946368"/>
            <a:ext cx="12600432" cy="84124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SULTS_TableHeader_0"/>
          <p:cNvSpPr txBox="1"/>
          <p:nvPr/>
        </p:nvSpPr>
        <p:spPr>
          <a:xfrm>
            <a:off x="28520136" y="17465040"/>
            <a:ext cx="6629400" cy="640080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Модель</a:t>
            </a:r>
          </a:p>
        </p:txBody>
      </p:sp>
      <p:sp>
        <p:nvSpPr>
          <p:cNvPr id="220" name="RESULTS_TableHeader_1"/>
          <p:cNvSpPr txBox="1"/>
          <p:nvPr/>
        </p:nvSpPr>
        <p:spPr>
          <a:xfrm>
            <a:off x="35149536" y="17465040"/>
            <a:ext cx="3063240" cy="640080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Recall@100</a:t>
            </a:r>
          </a:p>
        </p:txBody>
      </p:sp>
      <p:sp>
        <p:nvSpPr>
          <p:cNvPr id="221" name="RESULTS_TableHeader_2"/>
          <p:cNvSpPr txBox="1"/>
          <p:nvPr/>
        </p:nvSpPr>
        <p:spPr>
          <a:xfrm>
            <a:off x="38212776" y="17465040"/>
            <a:ext cx="2907791" cy="640080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Δ</a:t>
            </a:r>
          </a:p>
        </p:txBody>
      </p:sp>
      <p:sp>
        <p:nvSpPr>
          <p:cNvPr id="222" name="RESULTS_TableCell_0_0"/>
          <p:cNvSpPr txBox="1"/>
          <p:nvPr/>
        </p:nvSpPr>
        <p:spPr>
          <a:xfrm>
            <a:off x="28520136" y="18105120"/>
            <a:ext cx="6629400" cy="841248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223" name="RESULTS_TableCell_0_1"/>
          <p:cNvSpPr txBox="1"/>
          <p:nvPr/>
        </p:nvSpPr>
        <p:spPr>
          <a:xfrm>
            <a:off x="35149536" y="18105120"/>
            <a:ext cx="3063240" cy="841248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0.12303</a:t>
            </a:r>
          </a:p>
        </p:txBody>
      </p:sp>
      <p:sp>
        <p:nvSpPr>
          <p:cNvPr id="224" name="RESULTS_TableCell_0_2"/>
          <p:cNvSpPr txBox="1"/>
          <p:nvPr/>
        </p:nvSpPr>
        <p:spPr>
          <a:xfrm>
            <a:off x="38212776" y="18105120"/>
            <a:ext cx="2907791" cy="841248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</a:t>
            </a:r>
          </a:p>
        </p:txBody>
      </p:sp>
      <p:cxnSp>
        <p:nvCxnSpPr>
          <p:cNvPr id="225" name="RESULTS_TableRule_0"/>
          <p:cNvCxnSpPr/>
          <p:nvPr/>
        </p:nvCxnSpPr>
        <p:spPr>
          <a:xfrm>
            <a:off x="28520136" y="18946368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SULTS_TableCell_1_0"/>
          <p:cNvSpPr txBox="1"/>
          <p:nvPr/>
        </p:nvSpPr>
        <p:spPr>
          <a:xfrm>
            <a:off x="28520136" y="18946368"/>
            <a:ext cx="6629400" cy="841248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RQ-VAE + item LogQ</a:t>
            </a:r>
          </a:p>
        </p:txBody>
      </p:sp>
      <p:sp>
        <p:nvSpPr>
          <p:cNvPr id="227" name="RESULTS_TableCell_1_1"/>
          <p:cNvSpPr txBox="1"/>
          <p:nvPr/>
        </p:nvSpPr>
        <p:spPr>
          <a:xfrm>
            <a:off x="35149536" y="18946368"/>
            <a:ext cx="3063240" cy="841248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0.14138</a:t>
            </a:r>
          </a:p>
        </p:txBody>
      </p:sp>
      <p:sp>
        <p:nvSpPr>
          <p:cNvPr id="228" name="RESULTS_TableCell_1_2"/>
          <p:cNvSpPr txBox="1"/>
          <p:nvPr/>
        </p:nvSpPr>
        <p:spPr>
          <a:xfrm>
            <a:off x="38212776" y="18946368"/>
            <a:ext cx="2907791" cy="841248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cxnSp>
        <p:nvCxnSpPr>
          <p:cNvPr id="229" name="RESULTS_TableRule_1"/>
          <p:cNvCxnSpPr/>
          <p:nvPr/>
        </p:nvCxnSpPr>
        <p:spPr>
          <a:xfrm>
            <a:off x="28520136" y="19787616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SULTS_GenerationTableNote"/>
          <p:cNvSpPr txBox="1"/>
          <p:nvPr/>
        </p:nvSpPr>
        <p:spPr>
          <a:xfrm>
            <a:off x="28520136" y="19915632"/>
            <a:ext cx="126004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Лучший генеративный вариант — RQ-VAE + item LogQ.</a:t>
            </a:r>
          </a:p>
        </p:txBody>
      </p:sp>
      <p:cxnSp>
        <p:nvCxnSpPr>
          <p:cNvPr id="231" name="CONCLUSIONS_Divider_1"/>
          <p:cNvCxnSpPr/>
          <p:nvPr/>
        </p:nvCxnSpPr>
        <p:spPr>
          <a:xfrm>
            <a:off x="14410944" y="26353008"/>
            <a:ext cx="0" cy="2066544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CLUSIONS_Divider_2"/>
          <p:cNvCxnSpPr/>
          <p:nvPr/>
        </p:nvCxnSpPr>
        <p:spPr>
          <a:xfrm>
            <a:off x="27505152" y="26353008"/>
            <a:ext cx="0" cy="2066544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CONCLUSIONS_Thesis_1"/>
          <p:cNvSpPr txBox="1"/>
          <p:nvPr/>
        </p:nvSpPr>
        <p:spPr>
          <a:xfrm>
            <a:off x="1792224" y="26261568"/>
            <a:ext cx="12161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Внутреннее качество SID само по себе не гарантирует downstream-улучшение.</a:t>
            </a:r>
          </a:p>
        </p:txBody>
      </p:sp>
      <p:sp>
        <p:nvSpPr>
          <p:cNvPr id="234" name="CONCLUSIONS_Thesis_2"/>
          <p:cNvSpPr txBox="1"/>
          <p:nvPr/>
        </p:nvSpPr>
        <p:spPr>
          <a:xfrm>
            <a:off x="14886432" y="26261568"/>
            <a:ext cx="12161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Лучший генеративный вариант: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Recall@100 0.12303 → 0.14138 (+14.9%).</a:t>
            </a:r>
          </a:p>
        </p:txBody>
      </p:sp>
      <p:sp>
        <p:nvSpPr>
          <p:cNvPr id="235" name="CONCLUSIONS_Thesis_3"/>
          <p:cNvSpPr txBox="1"/>
          <p:nvPr/>
        </p:nvSpPr>
        <p:spPr>
          <a:xfrm>
            <a:off x="27980640" y="26261568"/>
            <a:ext cx="1216152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Связь характеристик SID с итоговым качеством зависит от downstream-задачи и метрики.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282</Words>
  <Application>Microsoft Macintosh PowerPoint</Application>
  <PresentationFormat>Произвольный</PresentationFormat>
  <Paragraphs>60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Narrative Workflow · conversation-starter scientific poster · fixed ML-Академия A0 template · no scientific values changed</dc:description>
  <cp:lastModifiedBy>Konstantin Ryadinskiy</cp:lastModifiedBy>
  <cp:revision>10</cp:revision>
  <dcterms:modified xsi:type="dcterms:W3CDTF">2026-08-18T16:06:40Z</dcterms:modified>
</cp:coreProperties>
</file>