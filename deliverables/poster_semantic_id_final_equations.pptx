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43014900" cy="30480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1228069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AE881"/>
    <a:srgbClr val="B6A4FF"/>
    <a:srgbClr val="FF5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508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508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635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57"/>
    <p:restoredTop sz="94658"/>
  </p:normalViewPr>
  <p:slideViewPr>
    <p:cSldViewPr snapToGrid="0">
      <p:cViewPr>
        <p:scale>
          <a:sx n="31" d="100"/>
          <a:sy n="31" d="100"/>
        </p:scale>
        <p:origin x="1240" y="-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228069" latinLnBrk="0">
      <a:defRPr sz="1600">
        <a:latin typeface="+mj-lt"/>
        <a:ea typeface="+mj-ea"/>
        <a:cs typeface="+mj-cs"/>
        <a:sym typeface="Calibri"/>
      </a:defRPr>
    </a:lvl1pPr>
    <a:lvl2pPr indent="228600" defTabSz="1228069" latinLnBrk="0">
      <a:defRPr sz="1600">
        <a:latin typeface="+mj-lt"/>
        <a:ea typeface="+mj-ea"/>
        <a:cs typeface="+mj-cs"/>
        <a:sym typeface="Calibri"/>
      </a:defRPr>
    </a:lvl2pPr>
    <a:lvl3pPr indent="457200" defTabSz="1228069" latinLnBrk="0">
      <a:defRPr sz="1600">
        <a:latin typeface="+mj-lt"/>
        <a:ea typeface="+mj-ea"/>
        <a:cs typeface="+mj-cs"/>
        <a:sym typeface="Calibri"/>
      </a:defRPr>
    </a:lvl3pPr>
    <a:lvl4pPr indent="685800" defTabSz="1228069" latinLnBrk="0">
      <a:defRPr sz="1600">
        <a:latin typeface="+mj-lt"/>
        <a:ea typeface="+mj-ea"/>
        <a:cs typeface="+mj-cs"/>
        <a:sym typeface="Calibri"/>
      </a:defRPr>
    </a:lvl4pPr>
    <a:lvl5pPr indent="914400" defTabSz="1228069" latinLnBrk="0">
      <a:defRPr sz="1600">
        <a:latin typeface="+mj-lt"/>
        <a:ea typeface="+mj-ea"/>
        <a:cs typeface="+mj-cs"/>
        <a:sym typeface="Calibri"/>
      </a:defRPr>
    </a:lvl5pPr>
    <a:lvl6pPr indent="1143000" defTabSz="1228069" latinLnBrk="0">
      <a:defRPr sz="1600">
        <a:latin typeface="+mj-lt"/>
        <a:ea typeface="+mj-ea"/>
        <a:cs typeface="+mj-cs"/>
        <a:sym typeface="Calibri"/>
      </a:defRPr>
    </a:lvl6pPr>
    <a:lvl7pPr indent="1371600" defTabSz="1228069" latinLnBrk="0">
      <a:defRPr sz="1600">
        <a:latin typeface="+mj-lt"/>
        <a:ea typeface="+mj-ea"/>
        <a:cs typeface="+mj-cs"/>
        <a:sym typeface="Calibri"/>
      </a:defRPr>
    </a:lvl7pPr>
    <a:lvl8pPr indent="1600200" defTabSz="1228069" latinLnBrk="0">
      <a:defRPr sz="1600">
        <a:latin typeface="+mj-lt"/>
        <a:ea typeface="+mj-ea"/>
        <a:cs typeface="+mj-cs"/>
        <a:sym typeface="Calibri"/>
      </a:defRPr>
    </a:lvl8pPr>
    <a:lvl9pPr indent="1828800" defTabSz="1228069" latinLnBrk="0">
      <a:defRPr sz="16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Shape 52"/>
          <p:cNvSpPr>
            <a:spLocks noGrp="1" noRot="1" noChangeAspect="1"/>
          </p:cNvSpPr>
          <p:nvPr>
            <p:ph type="sldImg"/>
          </p:nvPr>
        </p:nvSpPr>
        <p:spPr>
          <a:xfrm>
            <a:off x="1009650" y="685800"/>
            <a:ext cx="48387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3" name="Shape 53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defRPr sz="1200"/>
            </a:lvl1pPr>
          </a:lstStyle>
          <a:p>
            <a:r>
              <a:rPr lang="ru-RU" dirty="0"/>
              <a:t>Минимальный шрифт для использования - 30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6444766" y="3445777"/>
            <a:ext cx="34411922" cy="74004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1278" tIns="61278" rIns="61278" bIns="61278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24009184" y="10846212"/>
            <a:ext cx="16847504" cy="19603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61278" tIns="61278" rIns="61278" bIns="61278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30486110" y="28058351"/>
            <a:ext cx="341236" cy="331711"/>
          </a:xfrm>
          <a:prstGeom prst="rect">
            <a:avLst/>
          </a:prstGeom>
          <a:ln w="12700">
            <a:miter lim="400000"/>
          </a:ln>
        </p:spPr>
        <p:txBody>
          <a:bodyPr wrap="none" lIns="61278" tIns="61278" rIns="61278" bIns="61278" anchor="ctr">
            <a:spAutoFit/>
          </a:bodyPr>
          <a:lstStyle>
            <a:lvl1pPr algn="r">
              <a:defRPr sz="1600">
                <a:latin typeface="+mj-lt"/>
                <a:ea typeface="+mj-ea"/>
                <a:cs typeface="+mj-cs"/>
                <a:sym typeface="Calibri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8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450056" marR="0" indent="-450056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885824" marR="0" indent="-428624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314450" marR="0" indent="-40005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8516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–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3088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»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7660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223260" marR="0" indent="-480060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6804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137658" marR="0" indent="-480058" algn="l" defTabSz="1228069" rtl="0" latinLnBrk="0">
        <a:lnSpc>
          <a:spcPct val="100000"/>
        </a:lnSpc>
        <a:spcBef>
          <a:spcPts val="900"/>
        </a:spcBef>
        <a:spcAft>
          <a:spcPts val="0"/>
        </a:spcAft>
        <a:buClrTx/>
        <a:buSzPct val="100000"/>
        <a:buFont typeface="Arial"/>
        <a:buChar char="•"/>
        <a:tabLst/>
        <a:defRPr sz="4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r" defTabSz="1228069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6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6A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EE50391F-0664-C67A-EBA1-CC64D05A7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83407" y="26403251"/>
            <a:ext cx="22231493" cy="4076749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17B639A-DE9F-D45E-400F-B22DE1467731}"/>
              </a:ext>
            </a:extLst>
          </p:cNvPr>
          <p:cNvSpPr/>
          <p:nvPr/>
        </p:nvSpPr>
        <p:spPr>
          <a:xfrm>
            <a:off x="1142298" y="6937785"/>
            <a:ext cx="12444658" cy="17353984"/>
          </a:xfrm>
          <a:prstGeom prst="roundRect">
            <a:avLst>
              <a:gd name="adj" fmla="val 2889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7C7F30C-A8A2-E4FD-C149-1567DD560DF5}"/>
              </a:ext>
            </a:extLst>
          </p:cNvPr>
          <p:cNvSpPr/>
          <p:nvPr/>
        </p:nvSpPr>
        <p:spPr>
          <a:xfrm>
            <a:off x="27979859" y="6937785"/>
            <a:ext cx="13730928" cy="17353984"/>
          </a:xfrm>
          <a:prstGeom prst="roundRect">
            <a:avLst>
              <a:gd name="adj" fmla="val 2461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670C4D9-8716-E8CA-7716-33BCC5EBD599}"/>
              </a:ext>
            </a:extLst>
          </p:cNvPr>
          <p:cNvSpPr/>
          <p:nvPr/>
        </p:nvSpPr>
        <p:spPr>
          <a:xfrm>
            <a:off x="13842138" y="6957115"/>
            <a:ext cx="13882538" cy="17315324"/>
          </a:xfrm>
          <a:prstGeom prst="roundRect">
            <a:avLst>
              <a:gd name="adj" fmla="val 2477"/>
            </a:avLst>
          </a:prstGeom>
          <a:solidFill>
            <a:srgbClr val="FFFFFF"/>
          </a:solidFill>
          <a:ln w="25400" cap="flat">
            <a:solidFill>
              <a:schemeClr val="bg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sp>
        <p:nvSpPr>
          <p:cNvPr id="35" name="Text 0"/>
          <p:cNvSpPr txBox="1"/>
          <p:nvPr/>
        </p:nvSpPr>
        <p:spPr>
          <a:xfrm>
            <a:off x="1682496" y="2084831"/>
            <a:ext cx="31821119" cy="1325880"/>
          </a:xfrm>
          <a:prstGeom prst="rect">
            <a:avLst/>
          </a:prstGeom>
          <a:solidFill>
            <a:srgbClr val="2AE881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b">
            <a:spAutoFit/>
          </a:bodyPr>
          <a:lstStyle>
            <a:lvl1pPr>
              <a:lnSpc>
                <a:spcPts val="13600"/>
              </a:lnSpc>
              <a:defRPr sz="12200" spc="-298">
                <a:solidFill>
                  <a:srgbClr val="201B1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sz="7200" b="0" i="0" dirty="0">
                <a:solidFill>
                  <a:srgbClr val="111116"/>
                </a:solidFill>
                <a:latin typeface="Arial"/>
              </a:rPr>
              <a:t>ВЛИЯНИЕ КАЧЕСТВА SEMANTIC ID НА ФИНАЛЬНЫЕ МЕТРИКИ</a:t>
            </a:r>
          </a:p>
        </p:txBody>
      </p:sp>
      <p:sp>
        <p:nvSpPr>
          <p:cNvPr id="36" name="default_name"/>
          <p:cNvSpPr txBox="1"/>
          <p:nvPr/>
        </p:nvSpPr>
        <p:spPr>
          <a:xfrm>
            <a:off x="1682496" y="3822191"/>
            <a:ext cx="31821119" cy="10972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 anchor="ctr">
            <a:no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  <a:defRPr sz="6800">
                <a:latin typeface="Arial"/>
                <a:ea typeface="Arial"/>
                <a:cs typeface="Arial"/>
                <a:sym typeface="Arial"/>
              </a:defRPr>
            </a:pPr>
            <a:r>
              <a:rPr sz="4000" b="0" i="0" dirty="0" err="1">
                <a:solidFill>
                  <a:srgbClr val="111116"/>
                </a:solidFill>
                <a:latin typeface="Arial"/>
              </a:rPr>
              <a:t>Константин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Рядинский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• Лев Клюев • Ростислав Головков • Глеб Шевченко •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Ментор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: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Александр</a:t>
            </a:r>
            <a:r>
              <a:rPr sz="4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0" i="0" dirty="0" err="1">
                <a:solidFill>
                  <a:srgbClr val="111116"/>
                </a:solidFill>
                <a:latin typeface="Arial"/>
              </a:rPr>
              <a:t>Новак</a:t>
            </a:r>
            <a:endParaRPr sz="4000" b="0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37" name="default_name"/>
          <p:cNvSpPr txBox="1"/>
          <p:nvPr/>
        </p:nvSpPr>
        <p:spPr>
          <a:xfrm>
            <a:off x="1685189" y="5435652"/>
            <a:ext cx="17639104" cy="9859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>
            <a:spAutoFit/>
          </a:bodyPr>
          <a:lstStyle>
            <a:lvl1pPr>
              <a:lnSpc>
                <a:spcPts val="8300"/>
              </a:lnSpc>
              <a:defRPr sz="52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dirty="0">
              <a:solidFill>
                <a:schemeClr val="tx1"/>
              </a:solidFill>
            </a:endParaRPr>
          </a:p>
        </p:txBody>
      </p:sp>
      <p:sp>
        <p:nvSpPr>
          <p:cNvPr id="38" name="default_name"/>
          <p:cNvSpPr txBox="1"/>
          <p:nvPr/>
        </p:nvSpPr>
        <p:spPr>
          <a:xfrm>
            <a:off x="17891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ВВЕДЕНИЕ В ПРОЕКТ 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11946-1A10-6EAE-4921-3B62BED2D2A7}"/>
              </a:ext>
            </a:extLst>
          </p:cNvPr>
          <p:cNvSpPr/>
          <p:nvPr/>
        </p:nvSpPr>
        <p:spPr>
          <a:xfrm>
            <a:off x="1142298" y="24561454"/>
            <a:ext cx="40568489" cy="4076749"/>
          </a:xfrm>
          <a:prstGeom prst="roundRect">
            <a:avLst>
              <a:gd name="adj" fmla="val 7162"/>
            </a:avLst>
          </a:prstGeom>
          <a:solidFill>
            <a:srgbClr val="FFFFFF"/>
          </a:solidFill>
          <a:ln w="25400" cap="flat">
            <a:solidFill>
              <a:srgbClr val="B6A4FF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61278" tIns="61278" rIns="61278" bIns="61278" numCol="1" spcCol="38100" rtlCol="0" anchor="ctr">
            <a:spAutoFit/>
          </a:bodyPr>
          <a:lstStyle/>
          <a:p>
            <a:pPr marL="0" marR="0" indent="0" algn="l" defTabSz="1228069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001" sz="24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8F2CD8D-DD11-3361-C160-36D6EC43D6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481277" y="780599"/>
            <a:ext cx="7772400" cy="109851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0684C4F-56ED-0150-5194-49342BC908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38146" y="2129278"/>
            <a:ext cx="7629443" cy="4292326"/>
          </a:xfrm>
          <a:prstGeom prst="rect">
            <a:avLst/>
          </a:prstGeom>
        </p:spPr>
      </p:pic>
      <p:sp>
        <p:nvSpPr>
          <p:cNvPr id="21" name="default_name">
            <a:extLst>
              <a:ext uri="{FF2B5EF4-FFF2-40B4-BE49-F238E27FC236}">
                <a16:creationId xmlns:a16="http://schemas.microsoft.com/office/drawing/2014/main" id="{8292C18D-869D-4BDC-B907-5F81C0235459}"/>
              </a:ext>
            </a:extLst>
          </p:cNvPr>
          <p:cNvSpPr txBox="1"/>
          <p:nvPr/>
        </p:nvSpPr>
        <p:spPr>
          <a:xfrm>
            <a:off x="144383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ВЫПОЛНЕНИЕ ЗАДАЧИ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4" name="default_name">
            <a:extLst>
              <a:ext uri="{FF2B5EF4-FFF2-40B4-BE49-F238E27FC236}">
                <a16:creationId xmlns:a16="http://schemas.microsoft.com/office/drawing/2014/main" id="{EE7D5751-A99A-206B-7A8E-D1B4F8A5637E}"/>
              </a:ext>
            </a:extLst>
          </p:cNvPr>
          <p:cNvSpPr txBox="1"/>
          <p:nvPr/>
        </p:nvSpPr>
        <p:spPr>
          <a:xfrm>
            <a:off x="28560708" y="75808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РЕЗУЛЬТАТЫ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25" name="default_name">
            <a:extLst>
              <a:ext uri="{FF2B5EF4-FFF2-40B4-BE49-F238E27FC236}">
                <a16:creationId xmlns:a16="http://schemas.microsoft.com/office/drawing/2014/main" id="{F4CD12C8-10F6-44D9-F7FC-8E1ABBD574F7}"/>
              </a:ext>
            </a:extLst>
          </p:cNvPr>
          <p:cNvSpPr txBox="1"/>
          <p:nvPr/>
        </p:nvSpPr>
        <p:spPr>
          <a:xfrm>
            <a:off x="1789108" y="25208466"/>
            <a:ext cx="10355472" cy="9968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0" tIns="0" rIns="0" bIns="0">
            <a:spAutoFit/>
          </a:bodyPr>
          <a:lstStyle>
            <a:lvl1pPr>
              <a:lnSpc>
                <a:spcPts val="8300"/>
              </a:lnSpc>
              <a:defRPr sz="6800" b="1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ru-RU" b="0" dirty="0">
                <a:highlight>
                  <a:srgbClr val="2AE881"/>
                </a:highlight>
              </a:rPr>
              <a:t>ВЫВОДЫ</a:t>
            </a:r>
            <a:endParaRPr b="0" dirty="0">
              <a:highlight>
                <a:srgbClr val="2AE881"/>
              </a:highlight>
            </a:endParaRPr>
          </a:p>
        </p:txBody>
      </p:sp>
      <p:sp>
        <p:nvSpPr>
          <p:cNvPr id="4" name="default_name">
            <a:extLst>
              <a:ext uri="{FF2B5EF4-FFF2-40B4-BE49-F238E27FC236}">
                <a16:creationId xmlns:a16="http://schemas.microsoft.com/office/drawing/2014/main" id="{26487D6C-A6AA-BA28-6B36-8DD763247E7E}"/>
              </a:ext>
            </a:extLst>
          </p:cNvPr>
          <p:cNvSpPr txBox="1"/>
          <p:nvPr/>
        </p:nvSpPr>
        <p:spPr>
          <a:xfrm>
            <a:off x="1539608" y="8679337"/>
            <a:ext cx="11358861" cy="38779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/>
          </a:p>
        </p:txBody>
      </p:sp>
      <p:sp>
        <p:nvSpPr>
          <p:cNvPr id="7" name="default_name">
            <a:extLst>
              <a:ext uri="{FF2B5EF4-FFF2-40B4-BE49-F238E27FC236}">
                <a16:creationId xmlns:a16="http://schemas.microsoft.com/office/drawing/2014/main" id="{779B4DCB-4E9F-32F4-71E4-0E0B66856854}"/>
              </a:ext>
            </a:extLst>
          </p:cNvPr>
          <p:cNvSpPr txBox="1"/>
          <p:nvPr/>
        </p:nvSpPr>
        <p:spPr>
          <a:xfrm>
            <a:off x="14285356" y="8777364"/>
            <a:ext cx="13006016" cy="443198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endParaRPr lang="ru-RU" sz="3600" dirty="0">
              <a:latin typeface="Arial" panose="020B0604020202020204" pitchFamily="34" charset="0"/>
            </a:endParaRPr>
          </a:p>
        </p:txBody>
      </p:sp>
      <p:sp>
        <p:nvSpPr>
          <p:cNvPr id="9" name="default_name">
            <a:extLst>
              <a:ext uri="{FF2B5EF4-FFF2-40B4-BE49-F238E27FC236}">
                <a16:creationId xmlns:a16="http://schemas.microsoft.com/office/drawing/2014/main" id="{A6DC43E7-88E6-DEEC-77C6-81373E33641C}"/>
              </a:ext>
            </a:extLst>
          </p:cNvPr>
          <p:cNvSpPr txBox="1"/>
          <p:nvPr/>
        </p:nvSpPr>
        <p:spPr>
          <a:xfrm>
            <a:off x="28567039" y="8679337"/>
            <a:ext cx="12219782" cy="16619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buNone/>
            </a:pPr>
            <a:endParaRPr/>
          </a:p>
        </p:txBody>
      </p:sp>
      <p:sp>
        <p:nvSpPr>
          <p:cNvPr id="10" name="default_name">
            <a:extLst>
              <a:ext uri="{FF2B5EF4-FFF2-40B4-BE49-F238E27FC236}">
                <a16:creationId xmlns:a16="http://schemas.microsoft.com/office/drawing/2014/main" id="{AF9E4EF9-39CB-4EAF-1EE7-774C43D6C944}"/>
              </a:ext>
            </a:extLst>
          </p:cNvPr>
          <p:cNvSpPr txBox="1"/>
          <p:nvPr/>
        </p:nvSpPr>
        <p:spPr>
          <a:xfrm>
            <a:off x="1789108" y="26400875"/>
            <a:ext cx="15237862" cy="615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>
            <a:lvl1pPr defTabSz="614034">
              <a:defRPr sz="4000"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 lang="ru-RU" dirty="0">
              <a:solidFill>
                <a:srgbClr val="000000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9" name="INTRO_Subhead"/>
          <p:cNvSpPr txBox="1"/>
          <p:nvPr/>
        </p:nvSpPr>
        <p:spPr>
          <a:xfrm>
            <a:off x="1697390" y="8690950"/>
            <a:ext cx="1129284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Semantic ID и исследовательский вопрос</a:t>
            </a:r>
          </a:p>
        </p:txBody>
      </p:sp>
      <p:sp>
        <p:nvSpPr>
          <p:cNvPr id="40" name="INTRO_Definition"/>
          <p:cNvSpPr txBox="1"/>
          <p:nvPr/>
        </p:nvSpPr>
        <p:spPr>
          <a:xfrm>
            <a:off x="1697390" y="9332211"/>
            <a:ext cx="11694754" cy="1600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Semantic IDs —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дискретное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представление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рекомендательных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системах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Но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хорошее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внутреннее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не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обязательно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означает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хорошее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41" name="INTRO_ResearchQuestion"/>
          <p:cNvSpPr txBox="1"/>
          <p:nvPr/>
        </p:nvSpPr>
        <p:spPr>
          <a:xfrm>
            <a:off x="1697390" y="11022407"/>
            <a:ext cx="11292840" cy="1874519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 i="0" dirty="0" err="1">
                <a:solidFill>
                  <a:srgbClr val="111116"/>
                </a:solidFill>
                <a:latin typeface="Arial"/>
              </a:rPr>
              <a:t>Какие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свойства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Semantic ID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действительно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отражаются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на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метриках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рекомендательной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4000" b="1" i="0" dirty="0" err="1">
                <a:solidFill>
                  <a:srgbClr val="111116"/>
                </a:solidFill>
                <a:latin typeface="Arial"/>
              </a:rPr>
              <a:t>системы</a:t>
            </a:r>
            <a:r>
              <a:rPr sz="4000" b="1" i="0" dirty="0">
                <a:solidFill>
                  <a:srgbClr val="111116"/>
                </a:solidFill>
                <a:latin typeface="Arial"/>
              </a:rPr>
              <a:t>?</a:t>
            </a:r>
          </a:p>
        </p:txBody>
      </p:sp>
      <p:cxnSp>
        <p:nvCxnSpPr>
          <p:cNvPr id="42" name="INTRO_QuestionUnderline"/>
          <p:cNvCxnSpPr/>
          <p:nvPr/>
        </p:nvCxnSpPr>
        <p:spPr>
          <a:xfrm>
            <a:off x="1789108" y="13116646"/>
            <a:ext cx="6949440" cy="0"/>
          </a:xfrm>
          <a:prstGeom prst="line">
            <a:avLst/>
          </a:prstGeom>
          <a:ln w="508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INTRO_GoalHead"/>
          <p:cNvSpPr txBox="1"/>
          <p:nvPr/>
        </p:nvSpPr>
        <p:spPr>
          <a:xfrm>
            <a:off x="1697390" y="13262950"/>
            <a:ext cx="11292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Цель</a:t>
            </a:r>
          </a:p>
        </p:txBody>
      </p:sp>
      <p:sp>
        <p:nvSpPr>
          <p:cNvPr id="44" name="INTRO_GoalBody"/>
          <p:cNvSpPr txBox="1"/>
          <p:nvPr/>
        </p:nvSpPr>
        <p:spPr>
          <a:xfrm>
            <a:off x="1697390" y="13915748"/>
            <a:ext cx="11292840" cy="11887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• Сравнить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способы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построения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• Проверить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связь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метрик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downstream-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качеством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45" name="INTRO_ContextHead"/>
          <p:cNvSpPr txBox="1"/>
          <p:nvPr/>
        </p:nvSpPr>
        <p:spPr>
          <a:xfrm>
            <a:off x="1697390" y="15091750"/>
            <a:ext cx="11292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Экспериментальный контекст</a:t>
            </a:r>
          </a:p>
        </p:txBody>
      </p:sp>
      <p:sp>
        <p:nvSpPr>
          <p:cNvPr id="46" name="INTRO_ContextLabel_0"/>
          <p:cNvSpPr txBox="1"/>
          <p:nvPr/>
        </p:nvSpPr>
        <p:spPr>
          <a:xfrm>
            <a:off x="1697390" y="15640389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Dataset</a:t>
            </a:r>
          </a:p>
        </p:txBody>
      </p:sp>
      <p:sp>
        <p:nvSpPr>
          <p:cNvPr id="47" name="INTRO_ContextValue_0"/>
          <p:cNvSpPr txBox="1"/>
          <p:nvPr/>
        </p:nvSpPr>
        <p:spPr>
          <a:xfrm>
            <a:off x="4943510" y="15640389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Yambda-50M, time split</a:t>
            </a:r>
          </a:p>
        </p:txBody>
      </p:sp>
      <p:cxnSp>
        <p:nvCxnSpPr>
          <p:cNvPr id="48" name="INTRO_ContextRule_0"/>
          <p:cNvCxnSpPr/>
          <p:nvPr/>
        </p:nvCxnSpPr>
        <p:spPr>
          <a:xfrm>
            <a:off x="1697390" y="16207318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INTRO_ContextLabel_1"/>
          <p:cNvSpPr txBox="1"/>
          <p:nvPr/>
        </p:nvSpPr>
        <p:spPr>
          <a:xfrm>
            <a:off x="1697390" y="16262182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Generation</a:t>
            </a:r>
          </a:p>
        </p:txBody>
      </p:sp>
      <p:sp>
        <p:nvSpPr>
          <p:cNvPr id="50" name="INTRO_ContextValue_1"/>
          <p:cNvSpPr txBox="1"/>
          <p:nvPr/>
        </p:nvSpPr>
        <p:spPr>
          <a:xfrm>
            <a:off x="4943510" y="16262182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TIGER vs SASRec</a:t>
            </a:r>
          </a:p>
        </p:txBody>
      </p:sp>
      <p:cxnSp>
        <p:nvCxnSpPr>
          <p:cNvPr id="51" name="INTRO_ContextRule_1"/>
          <p:cNvCxnSpPr/>
          <p:nvPr/>
        </p:nvCxnSpPr>
        <p:spPr>
          <a:xfrm>
            <a:off x="1697390" y="16829110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INTRO_ContextLabel_2"/>
          <p:cNvSpPr txBox="1"/>
          <p:nvPr/>
        </p:nvSpPr>
        <p:spPr>
          <a:xfrm>
            <a:off x="1697390" y="16883974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</a:t>
            </a:r>
          </a:p>
        </p:txBody>
      </p:sp>
      <p:sp>
        <p:nvSpPr>
          <p:cNvPr id="53" name="INTRO_ContextValue_2"/>
          <p:cNvSpPr txBox="1"/>
          <p:nvPr/>
        </p:nvSpPr>
        <p:spPr>
          <a:xfrm>
            <a:off x="4943510" y="16883974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DCNv2 / TransAct-like</a:t>
            </a:r>
          </a:p>
        </p:txBody>
      </p:sp>
      <p:cxnSp>
        <p:nvCxnSpPr>
          <p:cNvPr id="54" name="INTRO_ContextRule_2"/>
          <p:cNvCxnSpPr/>
          <p:nvPr/>
        </p:nvCxnSpPr>
        <p:spPr>
          <a:xfrm>
            <a:off x="1697390" y="17450902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INTRO_ContextLabel_3"/>
          <p:cNvSpPr txBox="1"/>
          <p:nvPr/>
        </p:nvSpPr>
        <p:spPr>
          <a:xfrm>
            <a:off x="1697390" y="17505765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Gen. metric</a:t>
            </a:r>
          </a:p>
        </p:txBody>
      </p:sp>
      <p:sp>
        <p:nvSpPr>
          <p:cNvPr id="56" name="INTRO_ContextValue_3"/>
          <p:cNvSpPr txBox="1"/>
          <p:nvPr/>
        </p:nvSpPr>
        <p:spPr>
          <a:xfrm>
            <a:off x="4943510" y="17505765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Recall@100</a:t>
            </a:r>
          </a:p>
        </p:txBody>
      </p:sp>
      <p:cxnSp>
        <p:nvCxnSpPr>
          <p:cNvPr id="57" name="INTRO_ContextRule_3"/>
          <p:cNvCxnSpPr/>
          <p:nvPr/>
        </p:nvCxnSpPr>
        <p:spPr>
          <a:xfrm>
            <a:off x="1697390" y="18072694"/>
            <a:ext cx="11292840" cy="0"/>
          </a:xfrm>
          <a:prstGeom prst="line">
            <a:avLst/>
          </a:prstGeom>
          <a:ln w="1270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INTRO_ContextLabel_4"/>
          <p:cNvSpPr txBox="1"/>
          <p:nvPr/>
        </p:nvSpPr>
        <p:spPr>
          <a:xfrm>
            <a:off x="1697390" y="18127557"/>
            <a:ext cx="306324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Rank. metrics</a:t>
            </a:r>
          </a:p>
        </p:txBody>
      </p:sp>
      <p:sp>
        <p:nvSpPr>
          <p:cNvPr id="59" name="INTRO_ContextValue_4"/>
          <p:cNvSpPr txBox="1"/>
          <p:nvPr/>
        </p:nvSpPr>
        <p:spPr>
          <a:xfrm>
            <a:off x="4943510" y="18127557"/>
            <a:ext cx="8046720" cy="5669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ROC-AUC · Pairwise Accuracy</a:t>
            </a:r>
          </a:p>
        </p:txBody>
      </p:sp>
      <p:sp>
        <p:nvSpPr>
          <p:cNvPr id="60" name="INTRO_MetricsHead"/>
          <p:cNvSpPr txBox="1"/>
          <p:nvPr/>
        </p:nvSpPr>
        <p:spPr>
          <a:xfrm>
            <a:off x="1697390" y="18794498"/>
            <a:ext cx="1129284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 dirty="0" err="1">
                <a:solidFill>
                  <a:srgbClr val="111116"/>
                </a:solidFill>
                <a:latin typeface="Arial"/>
              </a:rPr>
              <a:t>Ключевые</a:t>
            </a:r>
            <a:r>
              <a:rPr sz="3400" b="1" i="0" dirty="0">
                <a:solidFill>
                  <a:srgbClr val="111116"/>
                </a:solidFill>
                <a:latin typeface="Arial"/>
              </a:rPr>
              <a:t> SID-</a:t>
            </a:r>
            <a:r>
              <a:rPr sz="3400" b="1" i="0" dirty="0" err="1">
                <a:solidFill>
                  <a:srgbClr val="111116"/>
                </a:solidFill>
                <a:latin typeface="Arial"/>
              </a:rPr>
              <a:t>метрики</a:t>
            </a:r>
            <a:endParaRPr sz="3400" b="1" i="0" dirty="0">
              <a:solidFill>
                <a:srgbClr val="111116"/>
              </a:solidFill>
              <a:latin typeface="Arial"/>
            </a:endParaRPr>
          </a:p>
        </p:txBody>
      </p:sp>
      <p:sp>
        <p:nvSpPr>
          <p:cNvPr id="61" name="INTRO_ICR_Head"/>
          <p:cNvSpPr txBox="1"/>
          <p:nvPr/>
        </p:nvSpPr>
        <p:spPr>
          <a:xfrm>
            <a:off x="1697390" y="19734391"/>
            <a:ext cx="11292840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Independent Code Rate (ICR)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INTRO_ICR_OfficeMath"/>
              <p:cNvSpPr txBox="1"/>
              <p:nvPr/>
            </p:nvSpPr>
            <p:spPr>
              <a:xfrm>
                <a:off x="6269390" y="19488546"/>
                <a:ext cx="8046720" cy="1051560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r>
                        <m:rPr>
                          <m:nor/>
                        </m:rPr>
                        <a:rPr lang="en-US" sz="3600" i="0">
                          <a:solidFill>
                            <a:srgbClr val="111116"/>
                          </a:solidFill>
                          <a:latin typeface="Cambria Math"/>
                        </a:rPr>
                        <m:t>ICR = </m:t>
                      </m:r>
                      <m:f>
                        <m:fPr>
                          <m:ctrlPr>
                            <a:rPr lang="en-US" sz="36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sz="36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unique used codes</m:t>
                          </m:r>
                        </m:num>
                        <m:den>
                          <m:sSub>
                            <m:sSubPr>
                              <m:ctrlPr>
                                <a:rPr lang="en-US" sz="360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US" sz="360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sz="3600" i="0">
                                  <a:solidFill>
                                    <a:srgbClr val="111116"/>
                                  </a:solidFill>
                                  <a:latin typeface="Cambria Math"/>
                                </a:rPr>
                                <m:t>items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62" name="INTRO_ICR_OfficeMat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9390" y="19488546"/>
                <a:ext cx="8046720" cy="1051560"/>
              </a:xfrm>
              <a:prstGeom prst="rect">
                <a:avLst/>
              </a:prstGeom>
              <a:blipFill>
                <a:blip r:embed="rId6"/>
                <a:stretch>
                  <a:fillRect t="-13095" b="-20238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3" name="INTRO_ICR_Note"/>
          <p:cNvSpPr txBox="1"/>
          <p:nvPr/>
        </p:nvSpPr>
        <p:spPr>
          <a:xfrm>
            <a:off x="1697390" y="20827954"/>
            <a:ext cx="11292840" cy="56692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Чем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ближе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1,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тем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меньше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разделяют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один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SID.</a:t>
            </a:r>
          </a:p>
        </p:txBody>
      </p:sp>
      <p:sp>
        <p:nvSpPr>
          <p:cNvPr id="64" name="INTRO_IntraCode"/>
          <p:cNvSpPr txBox="1"/>
          <p:nvPr/>
        </p:nvSpPr>
        <p:spPr>
          <a:xfrm>
            <a:off x="1697390" y="21533770"/>
            <a:ext cx="11292840" cy="1691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Intra-code Similarity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Средняя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семантическая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близость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объектов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внутри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одного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кода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  <a:p>
            <a:pPr algn="l">
              <a:lnSpc>
                <a:spcPct val="105000"/>
              </a:lnSpc>
              <a:spcBef>
                <a:spcPts val="3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Чем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выше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значение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,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тем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семантически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однороднее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группа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65" name="METHODS_LogicHead"/>
          <p:cNvSpPr txBox="1"/>
          <p:nvPr/>
        </p:nvSpPr>
        <p:spPr>
          <a:xfrm>
            <a:off x="14316110" y="8690950"/>
            <a:ext cx="1284732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Логика эксперимента</a:t>
            </a:r>
          </a:p>
        </p:txBody>
      </p:sp>
      <p:sp>
        <p:nvSpPr>
          <p:cNvPr id="66" name="METHODS_LogicBand"/>
          <p:cNvSpPr/>
          <p:nvPr/>
        </p:nvSpPr>
        <p:spPr>
          <a:xfrm>
            <a:off x="14316110" y="9257878"/>
            <a:ext cx="12847320" cy="107899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METHODS_LogicSID"/>
          <p:cNvSpPr txBox="1"/>
          <p:nvPr/>
        </p:nvSpPr>
        <p:spPr>
          <a:xfrm>
            <a:off x="14572142" y="9349318"/>
            <a:ext cx="3108960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Построение
Semantic ID</a:t>
            </a:r>
          </a:p>
        </p:txBody>
      </p:sp>
      <p:sp>
        <p:nvSpPr>
          <p:cNvPr id="68" name="METHODS_LogicArrow1"/>
          <p:cNvSpPr txBox="1"/>
          <p:nvPr/>
        </p:nvSpPr>
        <p:spPr>
          <a:xfrm>
            <a:off x="17772542" y="9541342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69" name="METHODS_LogicModels"/>
          <p:cNvSpPr txBox="1"/>
          <p:nvPr/>
        </p:nvSpPr>
        <p:spPr>
          <a:xfrm>
            <a:off x="18202310" y="9349318"/>
            <a:ext cx="3886200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TIGER / DCNv2 /
TransAct-like</a:t>
            </a:r>
          </a:p>
        </p:txBody>
      </p:sp>
      <p:sp>
        <p:nvSpPr>
          <p:cNvPr id="70" name="METHODS_LogicArrow2"/>
          <p:cNvSpPr txBox="1"/>
          <p:nvPr/>
        </p:nvSpPr>
        <p:spPr>
          <a:xfrm>
            <a:off x="22198237" y="9541342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71" name="METHODS_LogicMetrics"/>
          <p:cNvSpPr txBox="1"/>
          <p:nvPr/>
        </p:nvSpPr>
        <p:spPr>
          <a:xfrm>
            <a:off x="22618862" y="9349318"/>
            <a:ext cx="4279392" cy="896112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downstream-метрики</a:t>
            </a:r>
          </a:p>
        </p:txBody>
      </p:sp>
      <p:sp>
        <p:nvSpPr>
          <p:cNvPr id="72" name="METHODS_BalancedHead"/>
          <p:cNvSpPr txBox="1"/>
          <p:nvPr/>
        </p:nvSpPr>
        <p:spPr>
          <a:xfrm>
            <a:off x="14316110" y="10629478"/>
            <a:ext cx="1284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Balanced RQ-KMeans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" name="METHODS_BalancedConcept"/>
              <p:cNvSpPr txBox="1"/>
              <p:nvPr/>
            </p:nvSpPr>
            <p:spPr>
              <a:xfrm>
                <a:off x="14316110" y="11226514"/>
                <a:ext cx="4526280" cy="129844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t">
                <a:noAutofit/>
              </a:bodyPr>
              <a:lstStyle/>
              <a:p>
                <a:pPr algn="l">
                  <a:lnSpc>
                    <a:spcPct val="105000"/>
                  </a:lnSpc>
                  <a:spcBef>
                    <a:spcPts val="0"/>
                  </a:spcBef>
                  <a:spcAft>
                    <a:spcPts val="0"/>
                  </a:spcAft>
                </a:pPr>
                <a:r>
                  <a:rPr lang="ru-RU" sz="3000" b="1" i="0" dirty="0" err="1">
                    <a:solidFill>
                      <a:srgbClr val="111116"/>
                    </a:solidFill>
                    <a:latin typeface="Arial"/>
                  </a:rPr>
                  <a:t>Равноразмерные</a:t>
                </a:r>
                <a:r>
                  <a:rPr lang="ru-RU" sz="3000" b="1" i="0" dirty="0">
                    <a:solidFill>
                      <a:srgbClr val="111116"/>
                    </a:solidFill>
                    <a:latin typeface="Arial"/>
                  </a:rPr>
                  <a:t> кластеры</a:t>
                </a:r>
                <a:r>
                  <a:rPr lang="en-US" sz="3000" b="1" dirty="0">
                    <a:solidFill>
                      <a:srgbClr val="111116"/>
                    </a:solidFill>
                    <a:latin typeface="Arial"/>
                  </a:rPr>
                  <a:t> </a:t>
                </a:r>
                <a:r>
                  <a:rPr lang="en" sz="3000" b="1" i="0" dirty="0">
                    <a:solidFill>
                      <a:srgbClr val="087C48"/>
                    </a:solidFill>
                    <a:latin typeface="Arial"/>
                  </a:rPr>
                  <a:t>Capacity</a:t>
                </a:r>
                <a:r>
                  <a:rPr lang="en" sz="3000" b="1" dirty="0">
                    <a:solidFill>
                      <a:srgbClr val="087C48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𝑽</m:t>
                        </m:r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num>
                      <m:den>
                        <m:r>
                          <a:rPr lang="en-US" sz="4000" b="1" i="1" smtClean="0">
                            <a:solidFill>
                              <a:srgbClr val="087C48"/>
                            </a:solidFill>
                            <a:latin typeface="Cambria Math" panose="02040503050406030204" pitchFamily="18" charset="0"/>
                          </a:rPr>
                          <m:t>𝑲</m:t>
                        </m:r>
                      </m:den>
                    </m:f>
                  </m:oMath>
                </a14:m>
                <a:endParaRPr sz="4000" b="1" i="0" dirty="0">
                  <a:solidFill>
                    <a:srgbClr val="087C48"/>
                  </a:solidFill>
                  <a:latin typeface="Arial"/>
                </a:endParaRPr>
              </a:p>
            </p:txBody>
          </p:sp>
        </mc:Choice>
        <mc:Fallback>
          <p:sp>
            <p:nvSpPr>
              <p:cNvPr id="73" name="METHODS_BalancedConcep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16110" y="11226514"/>
                <a:ext cx="4526280" cy="1298448"/>
              </a:xfrm>
              <a:prstGeom prst="rect">
                <a:avLst/>
              </a:prstGeom>
              <a:blipFill>
                <a:blip r:embed="rId7"/>
                <a:stretch>
                  <a:fillRect l="-4482" t="-7767" b="-213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METHODS_BalancedDivider"/>
          <p:cNvCxnSpPr/>
          <p:nvPr/>
        </p:nvCxnSpPr>
        <p:spPr>
          <a:xfrm>
            <a:off x="19043558" y="11205550"/>
            <a:ext cx="0" cy="112471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METHODS_BalancedFlow"/>
          <p:cNvSpPr txBox="1"/>
          <p:nvPr/>
        </p:nvSpPr>
        <p:spPr>
          <a:xfrm>
            <a:off x="19327022" y="11205550"/>
            <a:ext cx="7699248" cy="1133856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Назначаем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ближайшие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→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ограничиваем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размер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каждого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кластера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→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обновляем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центры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до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сходимости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76" name="METHODS_RQVAEHead"/>
          <p:cNvSpPr txBox="1"/>
          <p:nvPr/>
        </p:nvSpPr>
        <p:spPr>
          <a:xfrm>
            <a:off x="14316110" y="12659446"/>
            <a:ext cx="1284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dirty="0">
                <a:solidFill>
                  <a:srgbClr val="111116"/>
                </a:solidFill>
                <a:latin typeface="Arial"/>
              </a:rPr>
              <a:t>RQ-VAE</a:t>
            </a:r>
          </a:p>
        </p:txBody>
      </p:sp>
      <p:sp>
        <p:nvSpPr>
          <p:cNvPr id="77" name="METHODS_RQVAEBand"/>
          <p:cNvSpPr/>
          <p:nvPr/>
        </p:nvSpPr>
        <p:spPr>
          <a:xfrm>
            <a:off x="14316110" y="13297653"/>
            <a:ext cx="12847320" cy="1481328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METHODS_RQVAEStage_1"/>
          <p:cNvSpPr txBox="1"/>
          <p:nvPr/>
        </p:nvSpPr>
        <p:spPr>
          <a:xfrm>
            <a:off x="14316110" y="13462245"/>
            <a:ext cx="2103120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Encoder</a:t>
            </a:r>
          </a:p>
        </p:txBody>
      </p:sp>
      <p:sp>
        <p:nvSpPr>
          <p:cNvPr id="79" name="METHODS_RQVAEArrow_1"/>
          <p:cNvSpPr txBox="1"/>
          <p:nvPr/>
        </p:nvSpPr>
        <p:spPr>
          <a:xfrm>
            <a:off x="16455806" y="13782285"/>
            <a:ext cx="31089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0" name="METHODS_RQVAEStage_2"/>
          <p:cNvSpPr txBox="1"/>
          <p:nvPr/>
        </p:nvSpPr>
        <p:spPr>
          <a:xfrm>
            <a:off x="16830710" y="13462245"/>
            <a:ext cx="3794760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Residual
codebooks 1…L</a:t>
            </a:r>
          </a:p>
        </p:txBody>
      </p:sp>
      <p:sp>
        <p:nvSpPr>
          <p:cNvPr id="81" name="METHODS_RQVAEArrow_2"/>
          <p:cNvSpPr txBox="1"/>
          <p:nvPr/>
        </p:nvSpPr>
        <p:spPr>
          <a:xfrm>
            <a:off x="20662045" y="13782285"/>
            <a:ext cx="31089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2" name="METHODS_RQVAEStage_3"/>
          <p:cNvSpPr txBox="1"/>
          <p:nvPr/>
        </p:nvSpPr>
        <p:spPr>
          <a:xfrm>
            <a:off x="21036950" y="13462245"/>
            <a:ext cx="3584448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Quantized
representation</a:t>
            </a:r>
          </a:p>
        </p:txBody>
      </p:sp>
      <p:sp>
        <p:nvSpPr>
          <p:cNvPr id="83" name="METHODS_RQVAEArrow_3"/>
          <p:cNvSpPr txBox="1"/>
          <p:nvPr/>
        </p:nvSpPr>
        <p:spPr>
          <a:xfrm>
            <a:off x="24657974" y="13782285"/>
            <a:ext cx="310896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84" name="METHODS_RQVAEStage_4"/>
          <p:cNvSpPr txBox="1"/>
          <p:nvPr/>
        </p:nvSpPr>
        <p:spPr>
          <a:xfrm>
            <a:off x="25032878" y="13462245"/>
            <a:ext cx="2084831" cy="111556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Decoder</a:t>
            </a:r>
          </a:p>
        </p:txBody>
      </p:sp>
      <p:sp>
        <p:nvSpPr>
          <p:cNvPr id="85" name="METHODS_RQVAENote"/>
          <p:cNvSpPr txBox="1"/>
          <p:nvPr/>
        </p:nvSpPr>
        <p:spPr>
          <a:xfrm>
            <a:off x="14316110" y="14762566"/>
            <a:ext cx="1284732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>
                <a:solidFill>
                  <a:srgbClr val="524D61"/>
                </a:solidFill>
                <a:latin typeface="Arial"/>
              </a:rPr>
              <a:t>Остаток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последовательно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квантуется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по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codebooks →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итоговый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SID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состоит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из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суммы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уровней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.</a:t>
            </a:r>
          </a:p>
        </p:txBody>
      </p:sp>
      <p:sp>
        <p:nvSpPr>
          <p:cNvPr id="86" name="METHODS_UserAwareHead"/>
          <p:cNvSpPr txBox="1"/>
          <p:nvPr/>
        </p:nvSpPr>
        <p:spPr>
          <a:xfrm>
            <a:off x="14316110" y="15720812"/>
            <a:ext cx="12847320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dirty="0">
                <a:solidFill>
                  <a:srgbClr val="111116"/>
                </a:solidFill>
                <a:latin typeface="Arial"/>
              </a:rPr>
              <a:t>User-aware</a:t>
            </a:r>
          </a:p>
        </p:txBody>
      </p:sp>
      <p:sp>
        <p:nvSpPr>
          <p:cNvPr id="87" name="METHODS_UserAwareBand"/>
          <p:cNvSpPr/>
          <p:nvPr/>
        </p:nvSpPr>
        <p:spPr>
          <a:xfrm>
            <a:off x="14285356" y="16421982"/>
            <a:ext cx="12847320" cy="1536192"/>
          </a:xfrm>
          <a:prstGeom prst="rect">
            <a:avLst/>
          </a:prstGeom>
          <a:solidFill>
            <a:srgbClr val="F2EFFF"/>
          </a:solidFill>
          <a:ln w="6350">
            <a:solidFill>
              <a:srgbClr val="F2E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METHODS_UserAwareStage_1"/>
          <p:cNvSpPr txBox="1"/>
          <p:nvPr/>
        </p:nvSpPr>
        <p:spPr>
          <a:xfrm>
            <a:off x="14285356" y="16614006"/>
            <a:ext cx="2788920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User + item
embedding</a:t>
            </a:r>
          </a:p>
        </p:txBody>
      </p:sp>
      <p:sp>
        <p:nvSpPr>
          <p:cNvPr id="89" name="METHODS_UserAwareArrow_1"/>
          <p:cNvSpPr txBox="1"/>
          <p:nvPr/>
        </p:nvSpPr>
        <p:spPr>
          <a:xfrm>
            <a:off x="17147428" y="16952334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 dirty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0" name="METHODS_UserAwareStage_2"/>
          <p:cNvSpPr txBox="1"/>
          <p:nvPr/>
        </p:nvSpPr>
        <p:spPr>
          <a:xfrm>
            <a:off x="17568052" y="16614006"/>
            <a:ext cx="2816352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 dirty="0">
                <a:solidFill>
                  <a:srgbClr val="111116"/>
                </a:solidFill>
                <a:latin typeface="Arial"/>
              </a:rPr>
              <a:t>User-aware
network</a:t>
            </a:r>
          </a:p>
        </p:txBody>
      </p:sp>
      <p:sp>
        <p:nvSpPr>
          <p:cNvPr id="91" name="METHODS_UserAwareArrow_2"/>
          <p:cNvSpPr txBox="1"/>
          <p:nvPr/>
        </p:nvSpPr>
        <p:spPr>
          <a:xfrm>
            <a:off x="20457556" y="16952334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2" name="METHODS_UserAwareStage_3"/>
          <p:cNvSpPr txBox="1"/>
          <p:nvPr/>
        </p:nvSpPr>
        <p:spPr>
          <a:xfrm>
            <a:off x="20878180" y="16614006"/>
            <a:ext cx="2971800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User-aware SID</a:t>
            </a:r>
          </a:p>
        </p:txBody>
      </p:sp>
      <p:sp>
        <p:nvSpPr>
          <p:cNvPr id="93" name="METHODS_UserAwareArrow_3"/>
          <p:cNvSpPr txBox="1"/>
          <p:nvPr/>
        </p:nvSpPr>
        <p:spPr>
          <a:xfrm>
            <a:off x="23923132" y="16952334"/>
            <a:ext cx="347472" cy="5029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→</a:t>
            </a:r>
          </a:p>
        </p:txBody>
      </p:sp>
      <p:sp>
        <p:nvSpPr>
          <p:cNvPr id="94" name="METHODS_UserAwareStage_4"/>
          <p:cNvSpPr txBox="1"/>
          <p:nvPr/>
        </p:nvSpPr>
        <p:spPr>
          <a:xfrm>
            <a:off x="24343756" y="16614006"/>
            <a:ext cx="2788920" cy="115214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200" b="1" i="0">
                <a:solidFill>
                  <a:srgbClr val="111116"/>
                </a:solidFill>
                <a:latin typeface="Arial"/>
              </a:rPr>
              <a:t>Canonical
SID target</a:t>
            </a:r>
          </a:p>
        </p:txBody>
      </p:sp>
      <p:cxnSp>
        <p:nvCxnSpPr>
          <p:cNvPr id="95" name="METHODS_SummaryRule"/>
          <p:cNvCxnSpPr/>
          <p:nvPr/>
        </p:nvCxnSpPr>
        <p:spPr>
          <a:xfrm>
            <a:off x="14316110" y="18063550"/>
            <a:ext cx="12847320" cy="0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METHODS_Summary_1"/>
          <p:cNvSpPr txBox="1"/>
          <p:nvPr/>
        </p:nvSpPr>
        <p:spPr>
          <a:xfrm>
            <a:off x="14425837" y="18488526"/>
            <a:ext cx="623620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PLUM-like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Кодов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меньше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глубиной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случайный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активный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префикс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Полная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глубина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: p = 0.25.</a:t>
            </a:r>
          </a:p>
        </p:txBody>
      </p:sp>
      <p:sp>
        <p:nvSpPr>
          <p:cNvPr id="97" name="METHODS_Summary_2"/>
          <p:cNvSpPr txBox="1"/>
          <p:nvPr/>
        </p:nvSpPr>
        <p:spPr>
          <a:xfrm>
            <a:off x="21027805" y="18488526"/>
            <a:ext cx="623620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R3-VAE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Опорный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вектор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задаёт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якорь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скалярное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произведение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сохраняет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градиент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 SC/PD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структурирует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кластеры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p:sp>
        <p:nvSpPr>
          <p:cNvPr id="98" name="METHODS_Summary_3"/>
          <p:cNvSpPr txBox="1"/>
          <p:nvPr/>
        </p:nvSpPr>
        <p:spPr>
          <a:xfrm>
            <a:off x="14425837" y="20948262"/>
            <a:ext cx="6236208" cy="2148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>
                <a:solidFill>
                  <a:srgbClr val="087C48"/>
                </a:solidFill>
                <a:latin typeface="Arial"/>
              </a:rPr>
              <a:t>PSI</a:t>
            </a: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>
                <a:solidFill>
                  <a:srgbClr val="111116"/>
                </a:solidFill>
                <a:latin typeface="Arial"/>
              </a:rPr>
              <a:t>Коллизии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устраняются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без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дополнительного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токена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Сравниваются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RRS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и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ECM.</a:t>
            </a:r>
          </a:p>
        </p:txBody>
      </p:sp>
      <p:sp>
        <p:nvSpPr>
          <p:cNvPr id="99" name="METHODS_Summary_4"/>
          <p:cNvSpPr txBox="1"/>
          <p:nvPr/>
        </p:nvSpPr>
        <p:spPr>
          <a:xfrm>
            <a:off x="21027805" y="20948262"/>
            <a:ext cx="6236208" cy="128016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 dirty="0" err="1">
                <a:solidFill>
                  <a:srgbClr val="087C48"/>
                </a:solidFill>
                <a:latin typeface="Arial"/>
              </a:rPr>
              <a:t>LogQ</a:t>
            </a:r>
            <a:endParaRPr sz="3200" b="1" i="0" dirty="0">
              <a:solidFill>
                <a:srgbClr val="087C48"/>
              </a:solidFill>
              <a:latin typeface="Arial"/>
            </a:endParaRPr>
          </a:p>
          <a:p>
            <a:pPr algn="l">
              <a:lnSpc>
                <a:spcPct val="102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 dirty="0" err="1">
                <a:solidFill>
                  <a:srgbClr val="111116"/>
                </a:solidFill>
                <a:latin typeface="Arial"/>
              </a:rPr>
              <a:t>Логиты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—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SID-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префиксам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;
item loss —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по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111116"/>
                </a:solidFill>
                <a:latin typeface="Arial"/>
              </a:rPr>
              <a:t>объектам</a:t>
            </a:r>
            <a:r>
              <a:rPr sz="3000" b="0" i="0" dirty="0">
                <a:solidFill>
                  <a:srgbClr val="111116"/>
                </a:solidFill>
                <a:latin typeface="Arial"/>
              </a:rPr>
              <a:t>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METHODS_LogQ_OfficeMath"/>
              <p:cNvSpPr txBox="1"/>
              <p:nvPr/>
            </p:nvSpPr>
            <p:spPr>
              <a:xfrm>
                <a:off x="20168269" y="22535838"/>
                <a:ext cx="6236208" cy="658368"/>
              </a:xfrm>
              <a:prstGeom prst="rect">
                <a:avLst/>
              </a:prstGeom>
              <a:noFill/>
            </p:spPr>
            <p:txBody>
              <a:bodyPr wrap="square" lIns="36576" tIns="36576" rIns="36576" bIns="36576" anchor="ctr">
                <a:noAutofit/>
              </a:bodyPr>
              <a:lstStyle/>
              <a:p>
                <a:pPr algn="l">
                  <a:lnSpc>
                    <a:spcPct val="100000"/>
                  </a:lnSpc>
                </a:pPr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0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total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i="0">
                          <a:solidFill>
                            <a:srgbClr val="111116"/>
                          </a:solidFill>
                          <a:latin typeface="Cambria Math"/>
                        </a:rPr>
                        <m:t> = </m:t>
                      </m:r>
                      <m:sSub>
                        <m:sSubPr>
                          <m:ctrlP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0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SID</m:t>
                          </m:r>
                        </m:sub>
                      </m:sSub>
                      <m:r>
                        <m:rPr>
                          <m:nor/>
                        </m:rPr>
                        <a:rPr lang="en-US" sz="3000" i="0">
                          <a:solidFill>
                            <a:srgbClr val="111116"/>
                          </a:solidFill>
                          <a:latin typeface="Cambria Math"/>
                        </a:rPr>
                        <m:t> + 0.1 </m:t>
                      </m:r>
                      <m:sSub>
                        <m:sSubPr>
                          <m:ctrlP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sz="300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𝐿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sz="3000" i="0">
                              <a:solidFill>
                                <a:srgbClr val="111116"/>
                              </a:solidFill>
                              <a:latin typeface="Cambria Math"/>
                            </a:rPr>
                            <m:t>item</m:t>
                          </m:r>
                        </m:sub>
                      </m:sSub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00" name="METHODS_LogQ_OfficeMath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68269" y="22535838"/>
                <a:ext cx="6236208" cy="658368"/>
              </a:xfrm>
              <a:prstGeom prst="rect">
                <a:avLst/>
              </a:prstGeom>
              <a:blipFill>
                <a:blip r:embed="rId8"/>
                <a:stretch>
                  <a:fillRect b="-11321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1" name="RESULTS_HeatmapHead"/>
          <p:cNvSpPr txBox="1"/>
          <p:nvPr/>
        </p:nvSpPr>
        <p:spPr>
          <a:xfrm>
            <a:off x="28516742" y="8690950"/>
            <a:ext cx="12600432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111116"/>
                </a:solidFill>
                <a:latin typeface="Arial"/>
              </a:rPr>
              <a:t>Корреляция SID-метрик с downstream</a:t>
            </a:r>
          </a:p>
        </p:txBody>
      </p:sp>
      <p:sp>
        <p:nvSpPr>
          <p:cNvPr id="102" name="RESULTS_HeatmapSubhead"/>
          <p:cNvSpPr txBox="1"/>
          <p:nvPr/>
        </p:nvSpPr>
        <p:spPr>
          <a:xfrm>
            <a:off x="28516742" y="9184726"/>
            <a:ext cx="12600432" cy="40233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524D61"/>
                </a:solidFill>
                <a:latin typeface="Arial"/>
              </a:rPr>
              <a:t>Pearson r · две ключевые SID-метрики</a:t>
            </a:r>
          </a:p>
        </p:txBody>
      </p:sp>
      <p:sp>
        <p:nvSpPr>
          <p:cNvPr id="103" name="RESULTS_HeatmapHeader_1"/>
          <p:cNvSpPr txBox="1"/>
          <p:nvPr/>
        </p:nvSpPr>
        <p:spPr>
          <a:xfrm>
            <a:off x="31032275" y="9724222"/>
            <a:ext cx="2022652" cy="10607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Recall
@100</a:t>
            </a:r>
          </a:p>
        </p:txBody>
      </p:sp>
      <p:sp>
        <p:nvSpPr>
          <p:cNvPr id="104" name="RESULTS_HeatmapHeader_2"/>
          <p:cNvSpPr txBox="1"/>
          <p:nvPr/>
        </p:nvSpPr>
        <p:spPr>
          <a:xfrm>
            <a:off x="33054927" y="9724222"/>
            <a:ext cx="2022652" cy="10607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DCNv2
Pairwise</a:t>
            </a:r>
          </a:p>
        </p:txBody>
      </p:sp>
      <p:sp>
        <p:nvSpPr>
          <p:cNvPr id="105" name="RESULTS_HeatmapHeader_3"/>
          <p:cNvSpPr txBox="1"/>
          <p:nvPr/>
        </p:nvSpPr>
        <p:spPr>
          <a:xfrm>
            <a:off x="35077580" y="9724222"/>
            <a:ext cx="2022652" cy="10607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DCNv2
ROC-AUC</a:t>
            </a:r>
          </a:p>
        </p:txBody>
      </p:sp>
      <p:sp>
        <p:nvSpPr>
          <p:cNvPr id="106" name="RESULTS_HeatmapHeader_4"/>
          <p:cNvSpPr txBox="1"/>
          <p:nvPr/>
        </p:nvSpPr>
        <p:spPr>
          <a:xfrm>
            <a:off x="37100233" y="9724222"/>
            <a:ext cx="2022652" cy="10607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TransAct
Pairwise</a:t>
            </a:r>
          </a:p>
        </p:txBody>
      </p:sp>
      <p:sp>
        <p:nvSpPr>
          <p:cNvPr id="107" name="RESULTS_HeatmapHeader_5"/>
          <p:cNvSpPr txBox="1"/>
          <p:nvPr/>
        </p:nvSpPr>
        <p:spPr>
          <a:xfrm>
            <a:off x="39122886" y="9724222"/>
            <a:ext cx="2022652" cy="1060704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TransAct
ROC-AUC</a:t>
            </a:r>
          </a:p>
        </p:txBody>
      </p:sp>
      <p:sp>
        <p:nvSpPr>
          <p:cNvPr id="108" name="RESULTS_HeatmapRow_1"/>
          <p:cNvSpPr txBox="1"/>
          <p:nvPr/>
        </p:nvSpPr>
        <p:spPr>
          <a:xfrm>
            <a:off x="28545107" y="10821502"/>
            <a:ext cx="2414016" cy="10241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ICR</a:t>
            </a:r>
          </a:p>
        </p:txBody>
      </p:sp>
      <p:sp>
        <p:nvSpPr>
          <p:cNvPr id="109" name="RESULTS_HeatmapCell_1_1"/>
          <p:cNvSpPr/>
          <p:nvPr/>
        </p:nvSpPr>
        <p:spPr>
          <a:xfrm>
            <a:off x="31032275" y="10821502"/>
            <a:ext cx="2022652" cy="1024128"/>
          </a:xfrm>
          <a:prstGeom prst="rect">
            <a:avLst/>
          </a:prstGeom>
          <a:solidFill>
            <a:srgbClr val="F18D7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0.55</a:t>
            </a:r>
          </a:p>
        </p:txBody>
      </p:sp>
      <p:sp>
        <p:nvSpPr>
          <p:cNvPr id="110" name="RESULTS_HeatmapCell_1_2"/>
          <p:cNvSpPr/>
          <p:nvPr/>
        </p:nvSpPr>
        <p:spPr>
          <a:xfrm>
            <a:off x="33054927" y="10821502"/>
            <a:ext cx="2022652" cy="1024128"/>
          </a:xfrm>
          <a:prstGeom prst="rect">
            <a:avLst/>
          </a:prstGeom>
          <a:solidFill>
            <a:srgbClr val="F4B69E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4000" b="1" i="0">
                <a:solidFill>
                  <a:srgbClr val="111116"/>
                </a:solidFill>
                <a:latin typeface="Arial"/>
              </a:rPr>
              <a:t>0.47</a:t>
            </a:r>
          </a:p>
        </p:txBody>
      </p:sp>
      <p:sp>
        <p:nvSpPr>
          <p:cNvPr id="111" name="RESULTS_HeatmapCell_1_3"/>
          <p:cNvSpPr/>
          <p:nvPr/>
        </p:nvSpPr>
        <p:spPr>
          <a:xfrm>
            <a:off x="35077580" y="10821502"/>
            <a:ext cx="2022652" cy="1024128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−0.05</a:t>
            </a:r>
          </a:p>
        </p:txBody>
      </p:sp>
      <p:sp>
        <p:nvSpPr>
          <p:cNvPr id="112" name="RESULTS_HeatmapCell_1_4"/>
          <p:cNvSpPr/>
          <p:nvPr/>
        </p:nvSpPr>
        <p:spPr>
          <a:xfrm>
            <a:off x="37100233" y="10821502"/>
            <a:ext cx="2022652" cy="1024128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−0.08</a:t>
            </a:r>
          </a:p>
        </p:txBody>
      </p:sp>
      <p:sp>
        <p:nvSpPr>
          <p:cNvPr id="113" name="RESULTS_HeatmapCell_1_5"/>
          <p:cNvSpPr/>
          <p:nvPr/>
        </p:nvSpPr>
        <p:spPr>
          <a:xfrm>
            <a:off x="39122886" y="10821502"/>
            <a:ext cx="2022652" cy="1024128"/>
          </a:xfrm>
          <a:prstGeom prst="rect">
            <a:avLst/>
          </a:prstGeom>
          <a:solidFill>
            <a:srgbClr val="F9E5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0.11</a:t>
            </a:r>
          </a:p>
        </p:txBody>
      </p:sp>
      <p:sp>
        <p:nvSpPr>
          <p:cNvPr id="114" name="RESULTS_HeatmapRow_2"/>
          <p:cNvSpPr txBox="1"/>
          <p:nvPr/>
        </p:nvSpPr>
        <p:spPr>
          <a:xfrm>
            <a:off x="28545107" y="11918781"/>
            <a:ext cx="2414016" cy="10241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111116"/>
                </a:solidFill>
                <a:latin typeface="Arial"/>
              </a:rPr>
              <a:t>Intra-code
Similarity</a:t>
            </a:r>
          </a:p>
        </p:txBody>
      </p:sp>
      <p:sp>
        <p:nvSpPr>
          <p:cNvPr id="115" name="RESULTS_HeatmapCell_2_1"/>
          <p:cNvSpPr/>
          <p:nvPr/>
        </p:nvSpPr>
        <p:spPr>
          <a:xfrm>
            <a:off x="31032275" y="11918781"/>
            <a:ext cx="2022652" cy="1024128"/>
          </a:xfrm>
          <a:prstGeom prst="rect">
            <a:avLst/>
          </a:prstGeom>
          <a:solidFill>
            <a:srgbClr val="F7D3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0.32</a:t>
            </a:r>
          </a:p>
        </p:txBody>
      </p:sp>
      <p:sp>
        <p:nvSpPr>
          <p:cNvPr id="116" name="RESULTS_HeatmapCell_2_2"/>
          <p:cNvSpPr/>
          <p:nvPr/>
        </p:nvSpPr>
        <p:spPr>
          <a:xfrm>
            <a:off x="33054927" y="11918781"/>
            <a:ext cx="2022652" cy="1024128"/>
          </a:xfrm>
          <a:prstGeom prst="rect">
            <a:avLst/>
          </a:prstGeom>
          <a:solidFill>
            <a:srgbClr val="F7D3C2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0.37</a:t>
            </a:r>
          </a:p>
        </p:txBody>
      </p:sp>
      <p:sp>
        <p:nvSpPr>
          <p:cNvPr id="117" name="RESULTS_HeatmapCell_2_3"/>
          <p:cNvSpPr/>
          <p:nvPr/>
        </p:nvSpPr>
        <p:spPr>
          <a:xfrm>
            <a:off x="35077580" y="11918781"/>
            <a:ext cx="2022652" cy="1024128"/>
          </a:xfrm>
          <a:prstGeom prst="rect">
            <a:avLst/>
          </a:prstGeom>
          <a:solidFill>
            <a:srgbClr val="F9E5DB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0.18</a:t>
            </a:r>
          </a:p>
        </p:txBody>
      </p:sp>
      <p:sp>
        <p:nvSpPr>
          <p:cNvPr id="118" name="RESULTS_HeatmapCell_2_4"/>
          <p:cNvSpPr/>
          <p:nvPr/>
        </p:nvSpPr>
        <p:spPr>
          <a:xfrm>
            <a:off x="37100233" y="11918781"/>
            <a:ext cx="2022652" cy="1024128"/>
          </a:xfrm>
          <a:prstGeom prst="rect">
            <a:avLst/>
          </a:prstGeom>
          <a:solidFill>
            <a:srgbClr val="D8E3F4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−0.13</a:t>
            </a:r>
          </a:p>
        </p:txBody>
      </p:sp>
      <p:sp>
        <p:nvSpPr>
          <p:cNvPr id="119" name="RESULTS_HeatmapCell_2_5"/>
          <p:cNvSpPr/>
          <p:nvPr/>
        </p:nvSpPr>
        <p:spPr>
          <a:xfrm>
            <a:off x="39122886" y="11918781"/>
            <a:ext cx="2022652" cy="1024128"/>
          </a:xfrm>
          <a:prstGeom prst="rect">
            <a:avLst/>
          </a:prstGeom>
          <a:solidFill>
            <a:srgbClr val="E5ECF7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109728" rIns="109728" bIns="109728" rtlCol="0" anchor="ctr">
            <a:noAutofit/>
          </a:bodyPr>
          <a:lstStyle/>
          <a:p>
            <a:pPr algn="ctr">
              <a:lnSpc>
                <a:spcPct val="102000"/>
              </a:lnSpc>
              <a:spcAft>
                <a:spcPts val="0"/>
              </a:spcAft>
            </a:pPr>
            <a:r>
              <a:rPr sz="3200" b="0" i="0">
                <a:solidFill>
                  <a:srgbClr val="111116"/>
                </a:solidFill>
                <a:latin typeface="Arial"/>
              </a:rPr>
              <a:t>−0.05</a:t>
            </a:r>
          </a:p>
        </p:txBody>
      </p:sp>
      <p:sp>
        <p:nvSpPr>
          <p:cNvPr id="120" name="RESULTS_HeatmapNote"/>
          <p:cNvSpPr txBox="1"/>
          <p:nvPr/>
        </p:nvSpPr>
        <p:spPr>
          <a:xfrm>
            <a:off x="28545107" y="13116646"/>
            <a:ext cx="12600432" cy="950976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 dirty="0" err="1">
                <a:solidFill>
                  <a:srgbClr val="524D61"/>
                </a:solidFill>
                <a:latin typeface="Arial"/>
              </a:rPr>
              <a:t>Наиболее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выраженные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корреляции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—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с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Recall@100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и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DCNv2 Pairwise.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Корреляция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не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означает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 </a:t>
            </a:r>
            <a:r>
              <a:rPr sz="3000" b="0" i="0" dirty="0" err="1">
                <a:solidFill>
                  <a:srgbClr val="524D61"/>
                </a:solidFill>
                <a:latin typeface="Arial"/>
              </a:rPr>
              <a:t>причинность</a:t>
            </a:r>
            <a:r>
              <a:rPr sz="3000" b="0" i="0" dirty="0">
                <a:solidFill>
                  <a:srgbClr val="524D61"/>
                </a:solidFill>
                <a:latin typeface="Arial"/>
              </a:rPr>
              <a:t>.</a:t>
            </a:r>
          </a:p>
        </p:txBody>
      </p:sp>
      <p:cxnSp>
        <p:nvCxnSpPr>
          <p:cNvPr id="121" name="RESULTS_GenerationRule"/>
          <p:cNvCxnSpPr/>
          <p:nvPr/>
        </p:nvCxnSpPr>
        <p:spPr>
          <a:xfrm>
            <a:off x="28560708" y="14297311"/>
            <a:ext cx="12600432" cy="0"/>
          </a:xfrm>
          <a:prstGeom prst="line">
            <a:avLst/>
          </a:prstGeom>
          <a:ln w="38100">
            <a:solidFill>
              <a:srgbClr val="2AE88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RESULTS_GenerationHead"/>
          <p:cNvSpPr txBox="1"/>
          <p:nvPr/>
        </p:nvSpPr>
        <p:spPr>
          <a:xfrm>
            <a:off x="28492692" y="14582666"/>
            <a:ext cx="12600432" cy="43891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 i="0">
                <a:solidFill>
                  <a:srgbClr val="087C48"/>
                </a:solidFill>
                <a:latin typeface="Arial"/>
              </a:rPr>
              <a:t>GENERATION УЛУЧШИЛСЯ · Recall@100</a:t>
            </a:r>
          </a:p>
        </p:txBody>
      </p:sp>
      <p:sp>
        <p:nvSpPr>
          <p:cNvPr id="123" name="RESULTS_GenerationValues"/>
          <p:cNvSpPr txBox="1"/>
          <p:nvPr/>
        </p:nvSpPr>
        <p:spPr>
          <a:xfrm>
            <a:off x="28492692" y="15186171"/>
            <a:ext cx="7406640" cy="84124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5400" b="1" i="0">
                <a:solidFill>
                  <a:srgbClr val="111116"/>
                </a:solidFill>
                <a:latin typeface="Arial"/>
              </a:rPr>
              <a:t>0.12303 → 0.14138</a:t>
            </a:r>
          </a:p>
        </p:txBody>
      </p:sp>
      <p:sp>
        <p:nvSpPr>
          <p:cNvPr id="124" name="RESULTS_GenerationDelta"/>
          <p:cNvSpPr txBox="1"/>
          <p:nvPr/>
        </p:nvSpPr>
        <p:spPr>
          <a:xfrm>
            <a:off x="35972484" y="15039866"/>
            <a:ext cx="5047488" cy="102412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6600" b="1" i="0">
                <a:solidFill>
                  <a:srgbClr val="087C48"/>
                </a:solidFill>
                <a:latin typeface="Arial"/>
              </a:rPr>
              <a:t>+14.9%</a:t>
            </a:r>
          </a:p>
        </p:txBody>
      </p:sp>
      <p:sp>
        <p:nvSpPr>
          <p:cNvPr id="125" name="RESULTS_GenerationBaseline"/>
          <p:cNvSpPr txBox="1"/>
          <p:nvPr/>
        </p:nvSpPr>
        <p:spPr>
          <a:xfrm>
            <a:off x="28492692" y="16228587"/>
            <a:ext cx="566928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Baseline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SASRec-Audio-Uniform</a:t>
            </a:r>
          </a:p>
        </p:txBody>
      </p:sp>
      <p:sp>
        <p:nvSpPr>
          <p:cNvPr id="126" name="RESULTS_GenerationBest"/>
          <p:cNvSpPr txBox="1"/>
          <p:nvPr/>
        </p:nvSpPr>
        <p:spPr>
          <a:xfrm>
            <a:off x="34482012" y="16228587"/>
            <a:ext cx="6537960" cy="1325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Best SID</a:t>
            </a:r>
          </a:p>
          <a:p>
            <a:pPr algn="l">
              <a:lnSpc>
                <a:spcPct val="105000"/>
              </a:lnSpc>
              <a:spcBef>
                <a:spcPts val="5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LogQ, L=2, C=256</a:t>
            </a:r>
          </a:p>
        </p:txBody>
      </p:sp>
      <p:cxnSp>
        <p:nvCxnSpPr>
          <p:cNvPr id="127" name="RESULTS_DCNv2Rule"/>
          <p:cNvCxnSpPr/>
          <p:nvPr/>
        </p:nvCxnSpPr>
        <p:spPr>
          <a:xfrm>
            <a:off x="28492692" y="17947659"/>
            <a:ext cx="12600432" cy="0"/>
          </a:xfrm>
          <a:prstGeom prst="line">
            <a:avLst/>
          </a:prstGeom>
          <a:ln w="2032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RESULTS_DCNv2Head"/>
          <p:cNvSpPr txBox="1"/>
          <p:nvPr/>
        </p:nvSpPr>
        <p:spPr>
          <a:xfrm>
            <a:off x="28492692" y="18130539"/>
            <a:ext cx="12600432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 — УЛУЧШЕНИЯ НЕТ · DCNv2 Pairwise Accuracy</a:t>
            </a:r>
          </a:p>
        </p:txBody>
      </p:sp>
      <p:sp>
        <p:nvSpPr>
          <p:cNvPr id="129" name="RESULTS_DCNv2Values"/>
          <p:cNvSpPr txBox="1"/>
          <p:nvPr/>
        </p:nvSpPr>
        <p:spPr>
          <a:xfrm>
            <a:off x="28492692" y="18715755"/>
            <a:ext cx="7452360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111116"/>
                </a:solidFill>
                <a:latin typeface="Arial"/>
              </a:rPr>
              <a:t>0.54914 → 0.53600</a:t>
            </a:r>
          </a:p>
        </p:txBody>
      </p:sp>
      <p:sp>
        <p:nvSpPr>
          <p:cNvPr id="130" name="RESULTS_DCNv2Delta"/>
          <p:cNvSpPr txBox="1"/>
          <p:nvPr/>
        </p:nvSpPr>
        <p:spPr>
          <a:xfrm>
            <a:off x="36082212" y="18660891"/>
            <a:ext cx="49377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6C57B7"/>
                </a:solidFill>
                <a:latin typeface="Arial"/>
              </a:rPr>
              <a:t>−2.4%</a:t>
            </a:r>
          </a:p>
        </p:txBody>
      </p:sp>
      <p:sp>
        <p:nvSpPr>
          <p:cNvPr id="131" name="RESULTS_DCNv2Models"/>
          <p:cNvSpPr txBox="1"/>
          <p:nvPr/>
        </p:nvSpPr>
        <p:spPr>
          <a:xfrm>
            <a:off x="28492692" y="19611867"/>
            <a:ext cx="12600432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Baseline: DCNv2 item-only   ·   Best SID: RQ-VAE (ECM), L=3, C=256</a:t>
            </a:r>
          </a:p>
        </p:txBody>
      </p:sp>
      <p:cxnSp>
        <p:nvCxnSpPr>
          <p:cNvPr id="132" name="RESULTS_TransActRule"/>
          <p:cNvCxnSpPr/>
          <p:nvPr/>
        </p:nvCxnSpPr>
        <p:spPr>
          <a:xfrm>
            <a:off x="28492692" y="20892027"/>
            <a:ext cx="12600432" cy="0"/>
          </a:xfrm>
          <a:prstGeom prst="line">
            <a:avLst/>
          </a:prstGeom>
          <a:ln w="2032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RESULTS_TransActHead"/>
          <p:cNvSpPr txBox="1"/>
          <p:nvPr/>
        </p:nvSpPr>
        <p:spPr>
          <a:xfrm>
            <a:off x="28492692" y="21074907"/>
            <a:ext cx="12600432" cy="420624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1" i="0">
                <a:solidFill>
                  <a:srgbClr val="524D61"/>
                </a:solidFill>
                <a:latin typeface="Arial"/>
              </a:rPr>
              <a:t>RANKING — УЛУЧШЕНИЯ НЕТ · TransAct Pairwise Accuracy</a:t>
            </a:r>
          </a:p>
        </p:txBody>
      </p:sp>
      <p:sp>
        <p:nvSpPr>
          <p:cNvPr id="134" name="RESULTS_TransActValues"/>
          <p:cNvSpPr txBox="1"/>
          <p:nvPr/>
        </p:nvSpPr>
        <p:spPr>
          <a:xfrm>
            <a:off x="28492692" y="21660123"/>
            <a:ext cx="7452360" cy="749808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111116"/>
                </a:solidFill>
                <a:latin typeface="Arial"/>
              </a:rPr>
              <a:t>0.76164 → 0.63811</a:t>
            </a:r>
          </a:p>
        </p:txBody>
      </p:sp>
      <p:sp>
        <p:nvSpPr>
          <p:cNvPr id="135" name="RESULTS_TransActDelta"/>
          <p:cNvSpPr txBox="1"/>
          <p:nvPr/>
        </p:nvSpPr>
        <p:spPr>
          <a:xfrm>
            <a:off x="36082212" y="21605259"/>
            <a:ext cx="4937760" cy="82296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no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4600" b="1" i="0">
                <a:solidFill>
                  <a:srgbClr val="6C57B7"/>
                </a:solidFill>
                <a:latin typeface="Arial"/>
              </a:rPr>
              <a:t>−16.2%</a:t>
            </a:r>
          </a:p>
        </p:txBody>
      </p:sp>
      <p:sp>
        <p:nvSpPr>
          <p:cNvPr id="136" name="RESULTS_TransActModels"/>
          <p:cNvSpPr txBox="1"/>
          <p:nvPr/>
        </p:nvSpPr>
        <p:spPr>
          <a:xfrm>
            <a:off x="28492692" y="22556235"/>
            <a:ext cx="12600432" cy="10058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Baseline: TransAct item-only   ·   Best SID: RQ-VAE, L=3, C=1024</a:t>
            </a:r>
          </a:p>
        </p:txBody>
      </p:sp>
      <p:sp>
        <p:nvSpPr>
          <p:cNvPr id="137" name="CONCLUSIONS_Thesis_1"/>
          <p:cNvSpPr txBox="1"/>
          <p:nvPr/>
        </p:nvSpPr>
        <p:spPr>
          <a:xfrm>
            <a:off x="1788830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SID ≠ downstream quality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Высокое внутреннее качество SID само по себе не гарантирует улучшение итоговой модели.</a:t>
            </a:r>
          </a:p>
        </p:txBody>
      </p:sp>
      <p:cxnSp>
        <p:nvCxnSpPr>
          <p:cNvPr id="138" name="CONCLUSIONS_Divider_1"/>
          <p:cNvCxnSpPr/>
          <p:nvPr/>
        </p:nvCxnSpPr>
        <p:spPr>
          <a:xfrm>
            <a:off x="11179717" y="2643031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CONCLUSIONS_Thesis_2"/>
          <p:cNvSpPr txBox="1"/>
          <p:nvPr/>
        </p:nvSpPr>
        <p:spPr>
          <a:xfrm>
            <a:off x="11545477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Ranking: улучшения нет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SID-конфигурации не превзошли item-only baseline в рассмотренных экспериментах.</a:t>
            </a:r>
          </a:p>
        </p:txBody>
      </p:sp>
      <p:cxnSp>
        <p:nvCxnSpPr>
          <p:cNvPr id="140" name="CONCLUSIONS_Divider_2"/>
          <p:cNvCxnSpPr/>
          <p:nvPr/>
        </p:nvCxnSpPr>
        <p:spPr>
          <a:xfrm>
            <a:off x="20936366" y="2643031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1" name="CONCLUSIONS_Thesis_3"/>
          <p:cNvSpPr txBox="1"/>
          <p:nvPr/>
        </p:nvSpPr>
        <p:spPr>
          <a:xfrm>
            <a:off x="21302126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Generation: +14.9%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RQ-VAE + item LogQ улучшил Recall@100 относительно baseline.</a:t>
            </a:r>
          </a:p>
        </p:txBody>
      </p:sp>
      <p:cxnSp>
        <p:nvCxnSpPr>
          <p:cNvPr id="142" name="CONCLUSIONS_Divider_3"/>
          <p:cNvCxnSpPr/>
          <p:nvPr/>
        </p:nvCxnSpPr>
        <p:spPr>
          <a:xfrm>
            <a:off x="30693013" y="26430310"/>
            <a:ext cx="0" cy="1901952"/>
          </a:xfrm>
          <a:prstGeom prst="line">
            <a:avLst/>
          </a:prstGeom>
          <a:ln w="19050">
            <a:solidFill>
              <a:srgbClr val="D5CD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3" name="CONCLUSIONS_Thesis_4"/>
          <p:cNvSpPr txBox="1"/>
          <p:nvPr/>
        </p:nvSpPr>
        <p:spPr>
          <a:xfrm>
            <a:off x="31058773" y="26357158"/>
            <a:ext cx="9006840" cy="19933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87C48"/>
                </a:solidFill>
                <a:latin typeface="Arial"/>
              </a:rPr>
              <a:t>Проверять нужно downstream</a:t>
            </a:r>
          </a:p>
          <a:p>
            <a:pPr algn="l">
              <a:lnSpc>
                <a:spcPct val="102000"/>
              </a:lnSpc>
              <a:spcBef>
                <a:spcPts val="700"/>
              </a:spcBef>
              <a:spcAft>
                <a:spcPts val="0"/>
              </a:spcAft>
            </a:pPr>
            <a:r>
              <a:rPr sz="3000" b="0" i="0">
                <a:solidFill>
                  <a:srgbClr val="111116"/>
                </a:solidFill>
                <a:latin typeface="Arial"/>
              </a:rPr>
              <a:t>Оценивайте SID внутренними метриками и непосредственно downstream-экспериментами.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ctr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61278" tIns="61278" rIns="61278" bIns="61278" numCol="1" spcCol="38100" rtlCol="0" anchor="t">
        <a:spAutoFit/>
      </a:bodyPr>
      <a:lstStyle>
        <a:defPPr marL="0" marR="0" indent="0" algn="l" defTabSz="1228069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514</Words>
  <Application>Microsoft Macintosh PowerPoint</Application>
  <PresentationFormat>Произвольный</PresentationFormat>
  <Paragraphs>109</Paragraphs>
  <Slides>1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Helvetica</vt:lpstr>
      <vt:lpstr>Office Theme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Влияние качества Semantic ID на финальные метрики</dc:title>
  <dc:subject>A0 scientific poster adapted to the ML-Академия template</dc:subject>
  <dc:creator>Константин Рядинский, Лев Клюев, Ростислав Головков, Глеб Шевченко</dc:creator>
  <dc:description>Hallmark · audit-only fixed-template scientific poster · technical/austere · pre-emit critique: P5 H5 E5 S5 R5 V4 · audit: 0 critical, 0 major, 0 minor · native Office Math: ICR fraction + LogQ loss</dc:description>
  <cp:lastModifiedBy>Konstantin Ryadinskiy</cp:lastModifiedBy>
  <cp:revision>7</cp:revision>
  <dcterms:modified xsi:type="dcterms:W3CDTF">2026-08-18T13:30:49Z</dcterms:modified>
</cp:coreProperties>
</file>