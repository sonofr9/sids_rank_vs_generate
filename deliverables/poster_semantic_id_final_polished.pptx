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3014900" cy="30480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881"/>
    <a:srgbClr val="B6A4FF"/>
    <a:srgbClr val="FF5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57"/>
    <p:restoredTop sz="94667"/>
  </p:normalViewPr>
  <p:slideViewPr>
    <p:cSldViewPr snapToGrid="0">
      <p:cViewPr varScale="1">
        <p:scale>
          <a:sx n="24" d="100"/>
          <a:sy n="24" d="100"/>
        </p:scale>
        <p:origin x="200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228069" latinLnBrk="0">
      <a:defRPr sz="1600">
        <a:latin typeface="+mj-lt"/>
        <a:ea typeface="+mj-ea"/>
        <a:cs typeface="+mj-cs"/>
        <a:sym typeface="Calibri"/>
      </a:defRPr>
    </a:lvl1pPr>
    <a:lvl2pPr indent="228600" defTabSz="1228069" latinLnBrk="0">
      <a:defRPr sz="1600">
        <a:latin typeface="+mj-lt"/>
        <a:ea typeface="+mj-ea"/>
        <a:cs typeface="+mj-cs"/>
        <a:sym typeface="Calibri"/>
      </a:defRPr>
    </a:lvl2pPr>
    <a:lvl3pPr indent="457200" defTabSz="1228069" latinLnBrk="0">
      <a:defRPr sz="1600">
        <a:latin typeface="+mj-lt"/>
        <a:ea typeface="+mj-ea"/>
        <a:cs typeface="+mj-cs"/>
        <a:sym typeface="Calibri"/>
      </a:defRPr>
    </a:lvl3pPr>
    <a:lvl4pPr indent="685800" defTabSz="1228069" latinLnBrk="0">
      <a:defRPr sz="1600">
        <a:latin typeface="+mj-lt"/>
        <a:ea typeface="+mj-ea"/>
        <a:cs typeface="+mj-cs"/>
        <a:sym typeface="Calibri"/>
      </a:defRPr>
    </a:lvl4pPr>
    <a:lvl5pPr indent="914400" defTabSz="1228069" latinLnBrk="0">
      <a:defRPr sz="1600">
        <a:latin typeface="+mj-lt"/>
        <a:ea typeface="+mj-ea"/>
        <a:cs typeface="+mj-cs"/>
        <a:sym typeface="Calibri"/>
      </a:defRPr>
    </a:lvl5pPr>
    <a:lvl6pPr indent="1143000" defTabSz="1228069" latinLnBrk="0">
      <a:defRPr sz="1600">
        <a:latin typeface="+mj-lt"/>
        <a:ea typeface="+mj-ea"/>
        <a:cs typeface="+mj-cs"/>
        <a:sym typeface="Calibri"/>
      </a:defRPr>
    </a:lvl6pPr>
    <a:lvl7pPr indent="1371600" defTabSz="1228069" latinLnBrk="0">
      <a:defRPr sz="1600">
        <a:latin typeface="+mj-lt"/>
        <a:ea typeface="+mj-ea"/>
        <a:cs typeface="+mj-cs"/>
        <a:sym typeface="Calibri"/>
      </a:defRPr>
    </a:lvl7pPr>
    <a:lvl8pPr indent="1600200" defTabSz="1228069" latinLnBrk="0">
      <a:defRPr sz="1600">
        <a:latin typeface="+mj-lt"/>
        <a:ea typeface="+mj-ea"/>
        <a:cs typeface="+mj-cs"/>
        <a:sym typeface="Calibri"/>
      </a:defRPr>
    </a:lvl8pPr>
    <a:lvl9pPr indent="1828800" defTabSz="1228069" latinLnBrk="0">
      <a:defRPr sz="16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 noRot="1" noChangeAspect="1"/>
          </p:cNvSpPr>
          <p:nvPr>
            <p:ph type="sldImg"/>
          </p:nvPr>
        </p:nvSpPr>
        <p:spPr>
          <a:xfrm>
            <a:off x="1009650" y="685800"/>
            <a:ext cx="48387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3" name="Shape 5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defRPr sz="1200"/>
            </a:lvl1pPr>
          </a:lstStyle>
          <a:p>
            <a:r>
              <a:rPr dirty="0" err="1"/>
              <a:t>Минимальный</a:t>
            </a:r>
            <a:r>
              <a:rPr dirty="0"/>
              <a:t> </a:t>
            </a:r>
            <a:r>
              <a:rPr dirty="0" err="1"/>
              <a:t>шрифт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использования</a:t>
            </a:r>
            <a:r>
              <a:rPr dirty="0"/>
              <a:t> - 30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444766" y="3445777"/>
            <a:ext cx="34411922" cy="7400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1278" tIns="61278" rIns="61278" bIns="61278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24009184" y="10846212"/>
            <a:ext cx="16847504" cy="19603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61278" tIns="61278" rIns="61278" bIns="61278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30486110" y="28058351"/>
            <a:ext cx="341236" cy="331711"/>
          </a:xfrm>
          <a:prstGeom prst="rect">
            <a:avLst/>
          </a:prstGeom>
          <a:ln w="12700">
            <a:miter lim="400000"/>
          </a:ln>
        </p:spPr>
        <p:txBody>
          <a:bodyPr wrap="none" lIns="61278" tIns="61278" rIns="61278" bIns="61278" anchor="ctr">
            <a:spAutoFit/>
          </a:bodyPr>
          <a:lstStyle>
            <a:lvl1pPr algn="r">
              <a:defRPr sz="16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450056" marR="0" indent="-450056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885824" marR="0" indent="-428624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–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314450" marR="0" indent="-40005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8516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–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3088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»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7660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2232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680458" marR="0" indent="-480058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137658" marR="0" indent="-480058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6A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E50391F-0664-C67A-EBA1-CC64D05A7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3407" y="26403251"/>
            <a:ext cx="22231493" cy="4076749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17B639A-DE9F-D45E-400F-B22DE1467731}"/>
              </a:ext>
            </a:extLst>
          </p:cNvPr>
          <p:cNvSpPr/>
          <p:nvPr/>
        </p:nvSpPr>
        <p:spPr>
          <a:xfrm>
            <a:off x="1685188" y="7665155"/>
            <a:ext cx="12444658" cy="17353984"/>
          </a:xfrm>
          <a:prstGeom prst="roundRect">
            <a:avLst>
              <a:gd name="adj" fmla="val 2889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7C7F30C-A8A2-E4FD-C149-1567DD560DF5}"/>
              </a:ext>
            </a:extLst>
          </p:cNvPr>
          <p:cNvSpPr/>
          <p:nvPr/>
        </p:nvSpPr>
        <p:spPr>
          <a:xfrm>
            <a:off x="28522749" y="7665155"/>
            <a:ext cx="13730928" cy="17353984"/>
          </a:xfrm>
          <a:prstGeom prst="roundRect">
            <a:avLst>
              <a:gd name="adj" fmla="val 2461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670C4D9-8716-E8CA-7716-33BCC5EBD599}"/>
              </a:ext>
            </a:extLst>
          </p:cNvPr>
          <p:cNvSpPr/>
          <p:nvPr/>
        </p:nvSpPr>
        <p:spPr>
          <a:xfrm>
            <a:off x="14385028" y="7684485"/>
            <a:ext cx="13882538" cy="17315324"/>
          </a:xfrm>
          <a:prstGeom prst="roundRect">
            <a:avLst>
              <a:gd name="adj" fmla="val 2477"/>
            </a:avLst>
          </a:prstGeom>
          <a:solidFill>
            <a:srgbClr val="FFFFFF"/>
          </a:solidFill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35" name="Text 0"/>
          <p:cNvSpPr txBox="1"/>
          <p:nvPr/>
        </p:nvSpPr>
        <p:spPr>
          <a:xfrm>
            <a:off x="1682496" y="2084831"/>
            <a:ext cx="31821119" cy="1325880"/>
          </a:xfrm>
          <a:prstGeom prst="rect">
            <a:avLst/>
          </a:prstGeom>
          <a:solidFill>
            <a:srgbClr val="2AE881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3600"/>
              </a:lnSpc>
              <a:defRPr sz="12200" spc="-298">
                <a:solidFill>
                  <a:srgbClr val="201B1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dirty="0">
                <a:solidFill>
                  <a:schemeClr val="tx1"/>
                </a:solidFill>
              </a:rPr>
              <a:t/>
            </a:r>
            <a:r>
              <a:rPr dirty="0" sz="7200" b="0" i="0">
                <a:solidFill>
                  <a:srgbClr val="111116"/>
                </a:solidFill>
                <a:latin typeface="Arial"/>
              </a:rPr>
              <a:t>ВЛИЯНИЕ КАЧЕСТВА SEMANTIC ID НА ФИНАЛЬНЫЕ МЕТРИКИ</a:t>
            </a:r>
          </a:p>
        </p:txBody>
      </p:sp>
      <p:sp>
        <p:nvSpPr>
          <p:cNvPr id="36" name="default_name"/>
          <p:cNvSpPr txBox="1"/>
          <p:nvPr/>
        </p:nvSpPr>
        <p:spPr>
          <a:xfrm>
            <a:off x="1682496" y="3822191"/>
            <a:ext cx="31821119" cy="1097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6800">
                <a:latin typeface="Arial"/>
                <a:ea typeface="Arial"/>
                <a:cs typeface="Arial"/>
                <a:sym typeface="Arial"/>
              </a:defRPr>
            </a:pPr>
            <a:r>
              <a:rPr sz="3600" b="0" i="0">
                <a:solidFill>
                  <a:srgbClr val="111116"/>
                </a:solidFill>
                <a:latin typeface="Arial"/>
              </a:rPr>
              <a:t>Константин Рядинский • Лев Клюев • Ростислав Головков • Глеб Шевченко • Ментор: Александр Новак</a:t>
            </a:r>
          </a:p>
        </p:txBody>
      </p:sp>
      <p:sp>
        <p:nvSpPr>
          <p:cNvPr id="37" name="default_name"/>
          <p:cNvSpPr txBox="1"/>
          <p:nvPr/>
        </p:nvSpPr>
        <p:spPr>
          <a:xfrm>
            <a:off x="1685189" y="5435652"/>
            <a:ext cx="17639104" cy="98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8300"/>
              </a:lnSpc>
              <a:defRPr sz="5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38" name="default_name"/>
          <p:cNvSpPr txBox="1"/>
          <p:nvPr/>
        </p:nvSpPr>
        <p:spPr>
          <a:xfrm>
            <a:off x="2331998" y="830823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ВВЕДЕНИЕ В ПРОЕКТ 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8F11946-1A10-6EAE-4921-3B62BED2D2A7}"/>
              </a:ext>
            </a:extLst>
          </p:cNvPr>
          <p:cNvSpPr/>
          <p:nvPr/>
        </p:nvSpPr>
        <p:spPr>
          <a:xfrm>
            <a:off x="1685188" y="25288824"/>
            <a:ext cx="40568489" cy="4076749"/>
          </a:xfrm>
          <a:prstGeom prst="roundRect">
            <a:avLst>
              <a:gd name="adj" fmla="val 7162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F2CD8D-DD11-3361-C160-36D6EC43D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1277" y="780599"/>
            <a:ext cx="7772400" cy="109851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684C4F-56ED-0150-5194-49342BC90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38146" y="2129278"/>
            <a:ext cx="7629443" cy="4292326"/>
          </a:xfrm>
          <a:prstGeom prst="rect">
            <a:avLst/>
          </a:prstGeom>
        </p:spPr>
      </p:pic>
      <p:sp>
        <p:nvSpPr>
          <p:cNvPr id="21" name="default_name">
            <a:extLst>
              <a:ext uri="{FF2B5EF4-FFF2-40B4-BE49-F238E27FC236}">
                <a16:creationId xmlns:a16="http://schemas.microsoft.com/office/drawing/2014/main" id="{8292C18D-869D-4BDC-B907-5F81C0235459}"/>
              </a:ext>
            </a:extLst>
          </p:cNvPr>
          <p:cNvSpPr txBox="1"/>
          <p:nvPr/>
        </p:nvSpPr>
        <p:spPr>
          <a:xfrm>
            <a:off x="14981198" y="830823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ВЫПОЛНЕНИЕ ЗАДАЧИ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24" name="default_name">
            <a:extLst>
              <a:ext uri="{FF2B5EF4-FFF2-40B4-BE49-F238E27FC236}">
                <a16:creationId xmlns:a16="http://schemas.microsoft.com/office/drawing/2014/main" id="{EE7D5751-A99A-206B-7A8E-D1B4F8A5637E}"/>
              </a:ext>
            </a:extLst>
          </p:cNvPr>
          <p:cNvSpPr txBox="1"/>
          <p:nvPr/>
        </p:nvSpPr>
        <p:spPr>
          <a:xfrm>
            <a:off x="29103598" y="830823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РЕЗУЛЬТАТЫ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25" name="default_name">
            <a:extLst>
              <a:ext uri="{FF2B5EF4-FFF2-40B4-BE49-F238E27FC236}">
                <a16:creationId xmlns:a16="http://schemas.microsoft.com/office/drawing/2014/main" id="{F4CD12C8-10F6-44D9-F7FC-8E1ABBD574F7}"/>
              </a:ext>
            </a:extLst>
          </p:cNvPr>
          <p:cNvSpPr txBox="1"/>
          <p:nvPr/>
        </p:nvSpPr>
        <p:spPr>
          <a:xfrm>
            <a:off x="2331998" y="2593583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ВЫВОДЫ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4" name="default_name">
            <a:extLst>
              <a:ext uri="{FF2B5EF4-FFF2-40B4-BE49-F238E27FC236}">
                <a16:creationId xmlns:a16="http://schemas.microsoft.com/office/drawing/2014/main" id="{26487D6C-A6AA-BA28-6B36-8DD763247E7E}"/>
              </a:ext>
            </a:extLst>
          </p:cNvPr>
          <p:cNvSpPr txBox="1"/>
          <p:nvPr/>
        </p:nvSpPr>
        <p:spPr>
          <a:xfrm>
            <a:off x="2082498" y="9406707"/>
            <a:ext cx="11358861" cy="3877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</a:p>
        </p:txBody>
      </p:sp>
      <p:sp>
        <p:nvSpPr>
          <p:cNvPr id="7" name="default_name">
            <a:extLst>
              <a:ext uri="{FF2B5EF4-FFF2-40B4-BE49-F238E27FC236}">
                <a16:creationId xmlns:a16="http://schemas.microsoft.com/office/drawing/2014/main" id="{779B4DCB-4E9F-32F4-71E4-0E0B66856854}"/>
              </a:ext>
            </a:extLst>
          </p:cNvPr>
          <p:cNvSpPr txBox="1"/>
          <p:nvPr/>
        </p:nvSpPr>
        <p:spPr>
          <a:xfrm>
            <a:off x="14828246" y="9504734"/>
            <a:ext cx="13006016" cy="4431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endParaRPr lang="ru-RU" sz="3600" dirty="0">
              <a:latin typeface="Arial" panose="020B0604020202020204" pitchFamily="34" charset="0"/>
            </a:endParaRPr>
          </a:p>
        </p:txBody>
      </p:sp>
      <p:sp>
        <p:nvSpPr>
          <p:cNvPr id="9" name="default_name">
            <a:extLst>
              <a:ext uri="{FF2B5EF4-FFF2-40B4-BE49-F238E27FC236}">
                <a16:creationId xmlns:a16="http://schemas.microsoft.com/office/drawing/2014/main" id="{A6DC43E7-88E6-DEEC-77C6-81373E33641C}"/>
              </a:ext>
            </a:extLst>
          </p:cNvPr>
          <p:cNvSpPr txBox="1"/>
          <p:nvPr/>
        </p:nvSpPr>
        <p:spPr>
          <a:xfrm>
            <a:off x="29109929" y="9406707"/>
            <a:ext cx="12219782" cy="1661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defTabSz="614034">
              <a:defRPr sz="4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</a:p>
        </p:txBody>
      </p:sp>
      <p:sp>
        <p:nvSpPr>
          <p:cNvPr id="10" name="default_name">
            <a:extLst>
              <a:ext uri="{FF2B5EF4-FFF2-40B4-BE49-F238E27FC236}">
                <a16:creationId xmlns:a16="http://schemas.microsoft.com/office/drawing/2014/main" id="{AF9E4EF9-39CB-4EAF-1EE7-774C43D6C944}"/>
              </a:ext>
            </a:extLst>
          </p:cNvPr>
          <p:cNvSpPr txBox="1"/>
          <p:nvPr/>
        </p:nvSpPr>
        <p:spPr>
          <a:xfrm>
            <a:off x="2331998" y="27128245"/>
            <a:ext cx="15237862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defTabSz="614034">
              <a:defRPr sz="4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 lang="ru-RU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INTRO_Subhead"/>
          <p:cNvSpPr txBox="1"/>
          <p:nvPr/>
        </p:nvSpPr>
        <p:spPr>
          <a:xfrm>
            <a:off x="2240280" y="9418320"/>
            <a:ext cx="112928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Semantic ID и исследовательский вопрос</a:t>
            </a:r>
          </a:p>
        </p:txBody>
      </p:sp>
      <p:sp>
        <p:nvSpPr>
          <p:cNvPr id="40" name="INTRO_Definition"/>
          <p:cNvSpPr txBox="1"/>
          <p:nvPr/>
        </p:nvSpPr>
        <p:spPr>
          <a:xfrm>
            <a:off x="2240280" y="9985248"/>
            <a:ext cx="11292840" cy="1600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Semantic IDs — дискретное представление объектов в рекомендательных системах. Но хорошее внутреннее качество SID не обязательно означает хорошее downstream-качество.</a:t>
            </a:r>
          </a:p>
        </p:txBody>
      </p:sp>
      <p:sp>
        <p:nvSpPr>
          <p:cNvPr id="41" name="INTRO_ResearchQuestion"/>
          <p:cNvSpPr txBox="1"/>
          <p:nvPr/>
        </p:nvSpPr>
        <p:spPr>
          <a:xfrm>
            <a:off x="2240280" y="11750040"/>
            <a:ext cx="11292840" cy="1874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11116"/>
                </a:solidFill>
                <a:latin typeface="Arial"/>
              </a:rPr>
              <a:t>Какие свойства Semantic ID действительно отражаются на downstream-метриках рекомендательной системы?</a:t>
            </a:r>
          </a:p>
        </p:txBody>
      </p:sp>
      <p:cxnSp>
        <p:nvCxnSpPr>
          <p:cNvPr id="42" name="INTRO_QuestionUnderline"/>
          <p:cNvCxnSpPr/>
          <p:nvPr/>
        </p:nvCxnSpPr>
        <p:spPr>
          <a:xfrm>
            <a:off x="2240280" y="13716000"/>
            <a:ext cx="6949440" cy="0"/>
          </a:xfrm>
          <a:prstGeom prst="line">
            <a:avLst/>
          </a:prstGeom>
          <a:ln w="50800">
            <a:solidFill>
              <a:srgbClr val="2AE8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INTRO_GoalHead"/>
          <p:cNvSpPr txBox="1"/>
          <p:nvPr/>
        </p:nvSpPr>
        <p:spPr>
          <a:xfrm>
            <a:off x="2240280" y="13990320"/>
            <a:ext cx="112928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Цель</a:t>
            </a:r>
          </a:p>
        </p:txBody>
      </p:sp>
      <p:sp>
        <p:nvSpPr>
          <p:cNvPr id="44" name="INTRO_GoalBody"/>
          <p:cNvSpPr txBox="1"/>
          <p:nvPr/>
        </p:nvSpPr>
        <p:spPr>
          <a:xfrm>
            <a:off x="2240280" y="14502384"/>
            <a:ext cx="11292840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• Сравнить способы построения SID.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• Проверить связь SID-метрик с downstream-качеством.</a:t>
            </a:r>
          </a:p>
        </p:txBody>
      </p:sp>
      <p:sp>
        <p:nvSpPr>
          <p:cNvPr id="45" name="INTRO_ContextHead"/>
          <p:cNvSpPr txBox="1"/>
          <p:nvPr/>
        </p:nvSpPr>
        <p:spPr>
          <a:xfrm>
            <a:off x="2240280" y="15819120"/>
            <a:ext cx="112928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Экспериментальный контекст</a:t>
            </a:r>
          </a:p>
        </p:txBody>
      </p:sp>
      <p:sp>
        <p:nvSpPr>
          <p:cNvPr id="46" name="INTRO_ContextLabel_0"/>
          <p:cNvSpPr txBox="1"/>
          <p:nvPr/>
        </p:nvSpPr>
        <p:spPr>
          <a:xfrm>
            <a:off x="2240280" y="16367759"/>
            <a:ext cx="30632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Dataset</a:t>
            </a:r>
          </a:p>
        </p:txBody>
      </p:sp>
      <p:sp>
        <p:nvSpPr>
          <p:cNvPr id="47" name="INTRO_ContextValue_0"/>
          <p:cNvSpPr txBox="1"/>
          <p:nvPr/>
        </p:nvSpPr>
        <p:spPr>
          <a:xfrm>
            <a:off x="5486400" y="16367759"/>
            <a:ext cx="804672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Yambda-50M, time split</a:t>
            </a:r>
          </a:p>
        </p:txBody>
      </p:sp>
      <p:cxnSp>
        <p:nvCxnSpPr>
          <p:cNvPr id="48" name="INTRO_ContextRule_0"/>
          <p:cNvCxnSpPr/>
          <p:nvPr/>
        </p:nvCxnSpPr>
        <p:spPr>
          <a:xfrm>
            <a:off x="2240280" y="16934688"/>
            <a:ext cx="11292840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NTRO_ContextLabel_1"/>
          <p:cNvSpPr txBox="1"/>
          <p:nvPr/>
        </p:nvSpPr>
        <p:spPr>
          <a:xfrm>
            <a:off x="2240280" y="16989552"/>
            <a:ext cx="30632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Generation</a:t>
            </a:r>
          </a:p>
        </p:txBody>
      </p:sp>
      <p:sp>
        <p:nvSpPr>
          <p:cNvPr id="50" name="INTRO_ContextValue_1"/>
          <p:cNvSpPr txBox="1"/>
          <p:nvPr/>
        </p:nvSpPr>
        <p:spPr>
          <a:xfrm>
            <a:off x="5486400" y="16989552"/>
            <a:ext cx="804672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TIGER vs SASRec</a:t>
            </a:r>
          </a:p>
        </p:txBody>
      </p:sp>
      <p:cxnSp>
        <p:nvCxnSpPr>
          <p:cNvPr id="51" name="INTRO_ContextRule_1"/>
          <p:cNvCxnSpPr/>
          <p:nvPr/>
        </p:nvCxnSpPr>
        <p:spPr>
          <a:xfrm>
            <a:off x="2240280" y="17556480"/>
            <a:ext cx="11292840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NTRO_ContextLabel_2"/>
          <p:cNvSpPr txBox="1"/>
          <p:nvPr/>
        </p:nvSpPr>
        <p:spPr>
          <a:xfrm>
            <a:off x="2240280" y="17611344"/>
            <a:ext cx="30632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Ranking</a:t>
            </a:r>
          </a:p>
        </p:txBody>
      </p:sp>
      <p:sp>
        <p:nvSpPr>
          <p:cNvPr id="53" name="INTRO_ContextValue_2"/>
          <p:cNvSpPr txBox="1"/>
          <p:nvPr/>
        </p:nvSpPr>
        <p:spPr>
          <a:xfrm>
            <a:off x="5486400" y="17611344"/>
            <a:ext cx="804672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DCNv2 / TransAct-like</a:t>
            </a:r>
          </a:p>
        </p:txBody>
      </p:sp>
      <p:cxnSp>
        <p:nvCxnSpPr>
          <p:cNvPr id="54" name="INTRO_ContextRule_2"/>
          <p:cNvCxnSpPr/>
          <p:nvPr/>
        </p:nvCxnSpPr>
        <p:spPr>
          <a:xfrm>
            <a:off x="2240280" y="18178272"/>
            <a:ext cx="11292840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INTRO_ContextLabel_3"/>
          <p:cNvSpPr txBox="1"/>
          <p:nvPr/>
        </p:nvSpPr>
        <p:spPr>
          <a:xfrm>
            <a:off x="2240280" y="18233135"/>
            <a:ext cx="30632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Gen. metric</a:t>
            </a:r>
          </a:p>
        </p:txBody>
      </p:sp>
      <p:sp>
        <p:nvSpPr>
          <p:cNvPr id="56" name="INTRO_ContextValue_3"/>
          <p:cNvSpPr txBox="1"/>
          <p:nvPr/>
        </p:nvSpPr>
        <p:spPr>
          <a:xfrm>
            <a:off x="5486400" y="18233135"/>
            <a:ext cx="804672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Recall@100</a:t>
            </a:r>
          </a:p>
        </p:txBody>
      </p:sp>
      <p:cxnSp>
        <p:nvCxnSpPr>
          <p:cNvPr id="57" name="INTRO_ContextRule_3"/>
          <p:cNvCxnSpPr/>
          <p:nvPr/>
        </p:nvCxnSpPr>
        <p:spPr>
          <a:xfrm>
            <a:off x="2240280" y="18800064"/>
            <a:ext cx="11292840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INTRO_ContextLabel_4"/>
          <p:cNvSpPr txBox="1"/>
          <p:nvPr/>
        </p:nvSpPr>
        <p:spPr>
          <a:xfrm>
            <a:off x="2240280" y="18854927"/>
            <a:ext cx="30632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Rank. metrics</a:t>
            </a:r>
          </a:p>
        </p:txBody>
      </p:sp>
      <p:sp>
        <p:nvSpPr>
          <p:cNvPr id="59" name="INTRO_ContextValue_4"/>
          <p:cNvSpPr txBox="1"/>
          <p:nvPr/>
        </p:nvSpPr>
        <p:spPr>
          <a:xfrm>
            <a:off x="5486400" y="18854927"/>
            <a:ext cx="804672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ROC-AUC · Pairwise Accuracy</a:t>
            </a:r>
          </a:p>
        </p:txBody>
      </p:sp>
      <p:sp>
        <p:nvSpPr>
          <p:cNvPr id="60" name="INTRO_MetricsHead"/>
          <p:cNvSpPr txBox="1"/>
          <p:nvPr/>
        </p:nvSpPr>
        <p:spPr>
          <a:xfrm>
            <a:off x="2240280" y="19677888"/>
            <a:ext cx="112928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Ключевые SID-метрики</a:t>
            </a:r>
          </a:p>
        </p:txBody>
      </p:sp>
      <p:sp>
        <p:nvSpPr>
          <p:cNvPr id="61" name="INTRO_ICR_Head"/>
          <p:cNvSpPr txBox="1"/>
          <p:nvPr/>
        </p:nvSpPr>
        <p:spPr>
          <a:xfrm>
            <a:off x="2240280" y="20208240"/>
            <a:ext cx="112928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087C48"/>
                </a:solidFill>
                <a:latin typeface="Arial"/>
              </a:rPr>
              <a:t>Independent Code Rate (ICR)</a:t>
            </a:r>
          </a:p>
        </p:txBody>
      </p:sp>
      <p:sp>
        <p:nvSpPr>
          <p:cNvPr id="62" name="INTRO_ICR_FormulaLabel"/>
          <p:cNvSpPr txBox="1"/>
          <p:nvPr/>
        </p:nvSpPr>
        <p:spPr>
          <a:xfrm>
            <a:off x="2240280" y="20830032"/>
            <a:ext cx="1874519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ICR =</a:t>
            </a:r>
          </a:p>
        </p:txBody>
      </p:sp>
      <p:sp>
        <p:nvSpPr>
          <p:cNvPr id="63" name="INTRO_ICR_Numerator"/>
          <p:cNvSpPr txBox="1"/>
          <p:nvPr/>
        </p:nvSpPr>
        <p:spPr>
          <a:xfrm>
            <a:off x="4233672" y="20610576"/>
            <a:ext cx="5166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unique used codes</a:t>
            </a:r>
          </a:p>
        </p:txBody>
      </p:sp>
      <p:cxnSp>
        <p:nvCxnSpPr>
          <p:cNvPr id="64" name="INTRO_ICR_FractionRule"/>
          <p:cNvCxnSpPr/>
          <p:nvPr/>
        </p:nvCxnSpPr>
        <p:spPr>
          <a:xfrm>
            <a:off x="4297680" y="21122640"/>
            <a:ext cx="5038344" cy="0"/>
          </a:xfrm>
          <a:prstGeom prst="line">
            <a:avLst/>
          </a:prstGeom>
          <a:ln w="20320">
            <a:solidFill>
              <a:srgbClr val="1111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INTRO_ICR_Denominator"/>
          <p:cNvSpPr txBox="1"/>
          <p:nvPr/>
        </p:nvSpPr>
        <p:spPr>
          <a:xfrm>
            <a:off x="4233672" y="21159216"/>
            <a:ext cx="5166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n_items</a:t>
            </a:r>
          </a:p>
        </p:txBody>
      </p:sp>
      <p:sp>
        <p:nvSpPr>
          <p:cNvPr id="66" name="INTRO_ICR_Note"/>
          <p:cNvSpPr txBox="1"/>
          <p:nvPr/>
        </p:nvSpPr>
        <p:spPr>
          <a:xfrm>
            <a:off x="2240280" y="21671280"/>
            <a:ext cx="112928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Чем ближе к 1, тем меньше объектов разделяют один SID.</a:t>
            </a:r>
          </a:p>
        </p:txBody>
      </p:sp>
      <p:sp>
        <p:nvSpPr>
          <p:cNvPr id="67" name="INTRO_IntraCode"/>
          <p:cNvSpPr txBox="1"/>
          <p:nvPr/>
        </p:nvSpPr>
        <p:spPr>
          <a:xfrm>
            <a:off x="2240280" y="22402800"/>
            <a:ext cx="11292840" cy="1691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87C48"/>
                </a:solidFill>
                <a:latin typeface="Arial"/>
              </a:rPr>
              <a:t>Intra-code Similarity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Средняя семантическая близость объектов внутри одного кода.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Чем выше значение, тем семантически однороднее группа.</a:t>
            </a:r>
          </a:p>
        </p:txBody>
      </p:sp>
      <p:sp>
        <p:nvSpPr>
          <p:cNvPr id="68" name="METHODS_LogicHead"/>
          <p:cNvSpPr txBox="1"/>
          <p:nvPr/>
        </p:nvSpPr>
        <p:spPr>
          <a:xfrm>
            <a:off x="14859000" y="9418320"/>
            <a:ext cx="12847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Логика эксперимента</a:t>
            </a:r>
          </a:p>
        </p:txBody>
      </p:sp>
      <p:sp>
        <p:nvSpPr>
          <p:cNvPr id="69" name="METHODS_LogicBand"/>
          <p:cNvSpPr/>
          <p:nvPr/>
        </p:nvSpPr>
        <p:spPr>
          <a:xfrm>
            <a:off x="14859000" y="9985248"/>
            <a:ext cx="12847320" cy="1078992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METHODS_LogicSID"/>
          <p:cNvSpPr txBox="1"/>
          <p:nvPr/>
        </p:nvSpPr>
        <p:spPr>
          <a:xfrm>
            <a:off x="15115032" y="10076688"/>
            <a:ext cx="3108960" cy="8961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Построение
Semantic ID</a:t>
            </a:r>
          </a:p>
        </p:txBody>
      </p:sp>
      <p:sp>
        <p:nvSpPr>
          <p:cNvPr id="71" name="METHODS_LogicArrow1"/>
          <p:cNvSpPr txBox="1"/>
          <p:nvPr/>
        </p:nvSpPr>
        <p:spPr>
          <a:xfrm>
            <a:off x="18315432" y="10268712"/>
            <a:ext cx="347472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72" name="METHODS_LogicModels"/>
          <p:cNvSpPr txBox="1"/>
          <p:nvPr/>
        </p:nvSpPr>
        <p:spPr>
          <a:xfrm>
            <a:off x="18745200" y="10076688"/>
            <a:ext cx="3886200" cy="8961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TIGER / DCNv2 /
TransAct-like</a:t>
            </a:r>
          </a:p>
        </p:txBody>
      </p:sp>
      <p:sp>
        <p:nvSpPr>
          <p:cNvPr id="73" name="METHODS_LogicArrow2"/>
          <p:cNvSpPr txBox="1"/>
          <p:nvPr/>
        </p:nvSpPr>
        <p:spPr>
          <a:xfrm>
            <a:off x="22741127" y="10268712"/>
            <a:ext cx="347472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74" name="METHODS_LogicMetrics"/>
          <p:cNvSpPr txBox="1"/>
          <p:nvPr/>
        </p:nvSpPr>
        <p:spPr>
          <a:xfrm>
            <a:off x="23161752" y="10076688"/>
            <a:ext cx="4279392" cy="8961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11116"/>
                </a:solidFill>
                <a:latin typeface="Arial"/>
              </a:rPr>
              <a:t>downstream-метрики</a:t>
            </a:r>
          </a:p>
        </p:txBody>
      </p:sp>
      <p:sp>
        <p:nvSpPr>
          <p:cNvPr id="75" name="METHODS_BalancedHead"/>
          <p:cNvSpPr txBox="1"/>
          <p:nvPr/>
        </p:nvSpPr>
        <p:spPr>
          <a:xfrm>
            <a:off x="14859000" y="11356848"/>
            <a:ext cx="12847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Balanced RQ-KMeans</a:t>
            </a:r>
          </a:p>
        </p:txBody>
      </p:sp>
      <p:sp>
        <p:nvSpPr>
          <p:cNvPr id="76" name="METHODS_BalancedConcept"/>
          <p:cNvSpPr txBox="1"/>
          <p:nvPr/>
        </p:nvSpPr>
        <p:spPr>
          <a:xfrm>
            <a:off x="14859000" y="11905488"/>
            <a:ext cx="4526280" cy="1298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Равноразмерные кластеры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capacity:  w = |V| / K</a:t>
            </a:r>
          </a:p>
        </p:txBody>
      </p:sp>
      <p:cxnSp>
        <p:nvCxnSpPr>
          <p:cNvPr id="77" name="METHODS_BalancedDivider"/>
          <p:cNvCxnSpPr/>
          <p:nvPr/>
        </p:nvCxnSpPr>
        <p:spPr>
          <a:xfrm>
            <a:off x="19586448" y="11932920"/>
            <a:ext cx="0" cy="1124712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METHODS_BalancedFlow"/>
          <p:cNvSpPr txBox="1"/>
          <p:nvPr/>
        </p:nvSpPr>
        <p:spPr>
          <a:xfrm>
            <a:off x="19869912" y="11932920"/>
            <a:ext cx="7699248" cy="11338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Назначаем ближайшие объекты → ограничиваем размер каждого кластера → обновляем центры до сходимости.</a:t>
            </a:r>
          </a:p>
        </p:txBody>
      </p:sp>
      <p:sp>
        <p:nvSpPr>
          <p:cNvPr id="79" name="METHODS_RQVAEHead"/>
          <p:cNvSpPr txBox="1"/>
          <p:nvPr/>
        </p:nvSpPr>
        <p:spPr>
          <a:xfrm>
            <a:off x="14859000" y="13386816"/>
            <a:ext cx="12847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11116"/>
                </a:solidFill>
                <a:latin typeface="Arial"/>
              </a:rPr>
              <a:t>RQ-VAE</a:t>
            </a:r>
          </a:p>
        </p:txBody>
      </p:sp>
      <p:sp>
        <p:nvSpPr>
          <p:cNvPr id="80" name="METHODS_RQVAEBand"/>
          <p:cNvSpPr/>
          <p:nvPr/>
        </p:nvSpPr>
        <p:spPr>
          <a:xfrm>
            <a:off x="14859000" y="13898880"/>
            <a:ext cx="12847320" cy="1481328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METHODS_RQVAEStage_1"/>
          <p:cNvSpPr txBox="1"/>
          <p:nvPr/>
        </p:nvSpPr>
        <p:spPr>
          <a:xfrm>
            <a:off x="14859000" y="14063472"/>
            <a:ext cx="2103120" cy="11155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11116"/>
                </a:solidFill>
                <a:latin typeface="Arial"/>
              </a:rPr>
              <a:t>Encoder</a:t>
            </a:r>
          </a:p>
        </p:txBody>
      </p:sp>
      <p:sp>
        <p:nvSpPr>
          <p:cNvPr id="82" name="METHODS_RQVAEArrow_1"/>
          <p:cNvSpPr txBox="1"/>
          <p:nvPr/>
        </p:nvSpPr>
        <p:spPr>
          <a:xfrm>
            <a:off x="16998696" y="14383512"/>
            <a:ext cx="310896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83" name="METHODS_RQVAEStage_2"/>
          <p:cNvSpPr txBox="1"/>
          <p:nvPr/>
        </p:nvSpPr>
        <p:spPr>
          <a:xfrm>
            <a:off x="17373600" y="14063472"/>
            <a:ext cx="3794760" cy="11155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11116"/>
                </a:solidFill>
                <a:latin typeface="Arial"/>
              </a:rPr>
              <a:t>Residual
codebooks 1…L</a:t>
            </a:r>
          </a:p>
        </p:txBody>
      </p:sp>
      <p:sp>
        <p:nvSpPr>
          <p:cNvPr id="84" name="METHODS_RQVAEArrow_2"/>
          <p:cNvSpPr txBox="1"/>
          <p:nvPr/>
        </p:nvSpPr>
        <p:spPr>
          <a:xfrm>
            <a:off x="21204935" y="14383512"/>
            <a:ext cx="310896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85" name="METHODS_RQVAEStage_3"/>
          <p:cNvSpPr txBox="1"/>
          <p:nvPr/>
        </p:nvSpPr>
        <p:spPr>
          <a:xfrm>
            <a:off x="21579840" y="14063472"/>
            <a:ext cx="3584448" cy="11155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11116"/>
                </a:solidFill>
                <a:latin typeface="Arial"/>
              </a:rPr>
              <a:t>Quantized
representation</a:t>
            </a:r>
          </a:p>
        </p:txBody>
      </p:sp>
      <p:sp>
        <p:nvSpPr>
          <p:cNvPr id="86" name="METHODS_RQVAEArrow_3"/>
          <p:cNvSpPr txBox="1"/>
          <p:nvPr/>
        </p:nvSpPr>
        <p:spPr>
          <a:xfrm>
            <a:off x="25200864" y="14383512"/>
            <a:ext cx="310896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87" name="METHODS_RQVAEStage_4"/>
          <p:cNvSpPr txBox="1"/>
          <p:nvPr/>
        </p:nvSpPr>
        <p:spPr>
          <a:xfrm>
            <a:off x="25575768" y="14063472"/>
            <a:ext cx="2084831" cy="11155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11116"/>
                </a:solidFill>
                <a:latin typeface="Arial"/>
              </a:rPr>
              <a:t>Decoder</a:t>
            </a:r>
          </a:p>
        </p:txBody>
      </p:sp>
      <p:sp>
        <p:nvSpPr>
          <p:cNvPr id="88" name="METHODS_RQVAENote"/>
          <p:cNvSpPr txBox="1"/>
          <p:nvPr/>
        </p:nvSpPr>
        <p:spPr>
          <a:xfrm>
            <a:off x="14859000" y="15489936"/>
            <a:ext cx="128473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524D61"/>
                </a:solidFill>
                <a:latin typeface="Arial"/>
              </a:rPr>
              <a:t>Остаток последовательно квантуется по codebooks → итоговый SID состоит из суммы уровней.</a:t>
            </a:r>
          </a:p>
        </p:txBody>
      </p:sp>
      <p:sp>
        <p:nvSpPr>
          <p:cNvPr id="89" name="METHODS_UserAwareHead"/>
          <p:cNvSpPr txBox="1"/>
          <p:nvPr/>
        </p:nvSpPr>
        <p:spPr>
          <a:xfrm>
            <a:off x="14859000" y="16322040"/>
            <a:ext cx="12847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111116"/>
                </a:solidFill>
                <a:latin typeface="Arial"/>
              </a:rPr>
              <a:t>User-aware</a:t>
            </a:r>
          </a:p>
        </p:txBody>
      </p:sp>
      <p:sp>
        <p:nvSpPr>
          <p:cNvPr id="90" name="METHODS_UserAwareBand"/>
          <p:cNvSpPr/>
          <p:nvPr/>
        </p:nvSpPr>
        <p:spPr>
          <a:xfrm>
            <a:off x="14859000" y="16834104"/>
            <a:ext cx="12847320" cy="1536192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METHODS_UserAwareStage_1"/>
          <p:cNvSpPr txBox="1"/>
          <p:nvPr/>
        </p:nvSpPr>
        <p:spPr>
          <a:xfrm>
            <a:off x="14859000" y="17026128"/>
            <a:ext cx="2788920" cy="11521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11116"/>
                </a:solidFill>
                <a:latin typeface="Arial"/>
              </a:rPr>
              <a:t>User + item
embedding</a:t>
            </a:r>
          </a:p>
        </p:txBody>
      </p:sp>
      <p:sp>
        <p:nvSpPr>
          <p:cNvPr id="92" name="METHODS_UserAwareArrow_1"/>
          <p:cNvSpPr txBox="1"/>
          <p:nvPr/>
        </p:nvSpPr>
        <p:spPr>
          <a:xfrm>
            <a:off x="17721072" y="17364456"/>
            <a:ext cx="347472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93" name="METHODS_UserAwareStage_2"/>
          <p:cNvSpPr txBox="1"/>
          <p:nvPr/>
        </p:nvSpPr>
        <p:spPr>
          <a:xfrm>
            <a:off x="18141696" y="17026128"/>
            <a:ext cx="2816352" cy="11521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11116"/>
                </a:solidFill>
                <a:latin typeface="Arial"/>
              </a:rPr>
              <a:t>User-aware
network</a:t>
            </a:r>
          </a:p>
        </p:txBody>
      </p:sp>
      <p:sp>
        <p:nvSpPr>
          <p:cNvPr id="94" name="METHODS_UserAwareArrow_2"/>
          <p:cNvSpPr txBox="1"/>
          <p:nvPr/>
        </p:nvSpPr>
        <p:spPr>
          <a:xfrm>
            <a:off x="21031200" y="17364456"/>
            <a:ext cx="347472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95" name="METHODS_UserAwareStage_3"/>
          <p:cNvSpPr txBox="1"/>
          <p:nvPr/>
        </p:nvSpPr>
        <p:spPr>
          <a:xfrm>
            <a:off x="21451824" y="17026128"/>
            <a:ext cx="2971800" cy="11521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11116"/>
                </a:solidFill>
                <a:latin typeface="Arial"/>
              </a:rPr>
              <a:t>User-aware SID</a:t>
            </a:r>
          </a:p>
        </p:txBody>
      </p:sp>
      <p:sp>
        <p:nvSpPr>
          <p:cNvPr id="96" name="METHODS_UserAwareArrow_3"/>
          <p:cNvSpPr txBox="1"/>
          <p:nvPr/>
        </p:nvSpPr>
        <p:spPr>
          <a:xfrm>
            <a:off x="24496776" y="17364456"/>
            <a:ext cx="347472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97" name="METHODS_UserAwareStage_4"/>
          <p:cNvSpPr txBox="1"/>
          <p:nvPr/>
        </p:nvSpPr>
        <p:spPr>
          <a:xfrm>
            <a:off x="24917400" y="17026128"/>
            <a:ext cx="2788920" cy="11521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11116"/>
                </a:solidFill>
                <a:latin typeface="Arial"/>
              </a:rPr>
              <a:t>Canonical
SID target</a:t>
            </a:r>
          </a:p>
        </p:txBody>
      </p:sp>
      <p:cxnSp>
        <p:nvCxnSpPr>
          <p:cNvPr id="98" name="METHODS_SummaryRule"/>
          <p:cNvCxnSpPr/>
          <p:nvPr/>
        </p:nvCxnSpPr>
        <p:spPr>
          <a:xfrm>
            <a:off x="14859000" y="18790920"/>
            <a:ext cx="12847320" cy="0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METHODS_Summary_1"/>
          <p:cNvSpPr txBox="1"/>
          <p:nvPr/>
        </p:nvSpPr>
        <p:spPr>
          <a:xfrm>
            <a:off x="14859000" y="19074384"/>
            <a:ext cx="62362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87C48"/>
                </a:solidFill>
                <a:latin typeface="Arial"/>
              </a:rPr>
              <a:t>PLUM-like</a:t>
            </a:r>
          </a:p>
          <a:p>
            <a:pPr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Кодов меньше с глубиной; случайный активный префикс. Полная глубина: p = 0.25.</a:t>
            </a:r>
          </a:p>
        </p:txBody>
      </p:sp>
      <p:sp>
        <p:nvSpPr>
          <p:cNvPr id="100" name="METHODS_Summary_2"/>
          <p:cNvSpPr txBox="1"/>
          <p:nvPr/>
        </p:nvSpPr>
        <p:spPr>
          <a:xfrm>
            <a:off x="21460968" y="19074384"/>
            <a:ext cx="62362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87C48"/>
                </a:solidFill>
                <a:latin typeface="Arial"/>
              </a:rPr>
              <a:t>R3-VAE</a:t>
            </a:r>
          </a:p>
          <a:p>
            <a:pPr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Опорный вектор задаёт якорь; скалярное произведение сохраняет градиент; SC/PD структурирует кластеры.</a:t>
            </a:r>
          </a:p>
        </p:txBody>
      </p:sp>
      <p:sp>
        <p:nvSpPr>
          <p:cNvPr id="101" name="METHODS_Summary_3"/>
          <p:cNvSpPr txBox="1"/>
          <p:nvPr/>
        </p:nvSpPr>
        <p:spPr>
          <a:xfrm>
            <a:off x="14859000" y="21534120"/>
            <a:ext cx="62362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87C48"/>
                </a:solidFill>
                <a:latin typeface="Arial"/>
              </a:rPr>
              <a:t>PSI</a:t>
            </a:r>
          </a:p>
          <a:p>
            <a:pPr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Коллизии устраняются без дополнительного токена. Сравниваются RRS и ECM.</a:t>
            </a:r>
          </a:p>
        </p:txBody>
      </p:sp>
      <p:sp>
        <p:nvSpPr>
          <p:cNvPr id="102" name="METHODS_Summary_4"/>
          <p:cNvSpPr txBox="1"/>
          <p:nvPr/>
        </p:nvSpPr>
        <p:spPr>
          <a:xfrm>
            <a:off x="21460968" y="21534120"/>
            <a:ext cx="6236208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87C48"/>
                </a:solidFill>
                <a:latin typeface="Arial"/>
              </a:rPr>
              <a:t>LogQ</a:t>
            </a:r>
          </a:p>
          <a:p>
            <a:pPr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Коррекция логитов по частоте SID-префиксов; item-level loss — по частоте объектов.</a:t>
            </a:r>
          </a:p>
        </p:txBody>
      </p:sp>
      <p:sp>
        <p:nvSpPr>
          <p:cNvPr id="103" name="RESULTS_HeatmapHead"/>
          <p:cNvSpPr txBox="1"/>
          <p:nvPr/>
        </p:nvSpPr>
        <p:spPr>
          <a:xfrm>
            <a:off x="29059632" y="9418320"/>
            <a:ext cx="1260043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Корреляция SID-метрик с downstream</a:t>
            </a:r>
          </a:p>
        </p:txBody>
      </p:sp>
      <p:sp>
        <p:nvSpPr>
          <p:cNvPr id="104" name="RESULTS_HeatmapSubhead"/>
          <p:cNvSpPr txBox="1"/>
          <p:nvPr/>
        </p:nvSpPr>
        <p:spPr>
          <a:xfrm>
            <a:off x="29059632" y="9912096"/>
            <a:ext cx="12600432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524D61"/>
                </a:solidFill>
                <a:latin typeface="Arial"/>
              </a:rPr>
              <a:t>Pearson r · две ключевые SID-метрики</a:t>
            </a:r>
          </a:p>
        </p:txBody>
      </p:sp>
      <p:sp>
        <p:nvSpPr>
          <p:cNvPr id="105" name="RESULTS_HeatmapHeader_1"/>
          <p:cNvSpPr txBox="1"/>
          <p:nvPr/>
        </p:nvSpPr>
        <p:spPr>
          <a:xfrm>
            <a:off x="31546800" y="10369296"/>
            <a:ext cx="2022652" cy="10607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Recall
@100</a:t>
            </a:r>
          </a:p>
        </p:txBody>
      </p:sp>
      <p:sp>
        <p:nvSpPr>
          <p:cNvPr id="106" name="RESULTS_HeatmapHeader_2"/>
          <p:cNvSpPr txBox="1"/>
          <p:nvPr/>
        </p:nvSpPr>
        <p:spPr>
          <a:xfrm>
            <a:off x="33569452" y="10369296"/>
            <a:ext cx="2022652" cy="10607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DCNv2
Pairwise</a:t>
            </a:r>
          </a:p>
        </p:txBody>
      </p:sp>
      <p:sp>
        <p:nvSpPr>
          <p:cNvPr id="107" name="RESULTS_HeatmapHeader_3"/>
          <p:cNvSpPr txBox="1"/>
          <p:nvPr/>
        </p:nvSpPr>
        <p:spPr>
          <a:xfrm>
            <a:off x="35592105" y="10369296"/>
            <a:ext cx="2022652" cy="10607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DCNv2
ROC-AUC</a:t>
            </a:r>
          </a:p>
        </p:txBody>
      </p:sp>
      <p:sp>
        <p:nvSpPr>
          <p:cNvPr id="108" name="RESULTS_HeatmapHeader_4"/>
          <p:cNvSpPr txBox="1"/>
          <p:nvPr/>
        </p:nvSpPr>
        <p:spPr>
          <a:xfrm>
            <a:off x="37614758" y="10369296"/>
            <a:ext cx="2022652" cy="10607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TransAct
Pairwise</a:t>
            </a:r>
          </a:p>
        </p:txBody>
      </p:sp>
      <p:sp>
        <p:nvSpPr>
          <p:cNvPr id="109" name="RESULTS_HeatmapHeader_5"/>
          <p:cNvSpPr txBox="1"/>
          <p:nvPr/>
        </p:nvSpPr>
        <p:spPr>
          <a:xfrm>
            <a:off x="39637411" y="10369296"/>
            <a:ext cx="2022652" cy="10607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TransAct
ROC-AUC</a:t>
            </a:r>
          </a:p>
        </p:txBody>
      </p:sp>
      <p:sp>
        <p:nvSpPr>
          <p:cNvPr id="110" name="RESULTS_HeatmapRow_1"/>
          <p:cNvSpPr txBox="1"/>
          <p:nvPr/>
        </p:nvSpPr>
        <p:spPr>
          <a:xfrm>
            <a:off x="29059632" y="11466576"/>
            <a:ext cx="2414016" cy="1024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ICR</a:t>
            </a:r>
          </a:p>
        </p:txBody>
      </p:sp>
      <p:sp>
        <p:nvSpPr>
          <p:cNvPr id="111" name="RESULTS_HeatmapCell_1_1"/>
          <p:cNvSpPr/>
          <p:nvPr/>
        </p:nvSpPr>
        <p:spPr>
          <a:xfrm>
            <a:off x="31546800" y="11466576"/>
            <a:ext cx="2022652" cy="1024128"/>
          </a:xfrm>
          <a:prstGeom prst="rect">
            <a:avLst/>
          </a:prstGeom>
          <a:solidFill>
            <a:srgbClr val="F18D7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11116"/>
                </a:solidFill>
                <a:latin typeface="Arial"/>
              </a:rPr>
              <a:t>0.55</a:t>
            </a:r>
          </a:p>
        </p:txBody>
      </p:sp>
      <p:sp>
        <p:nvSpPr>
          <p:cNvPr id="112" name="RESULTS_HeatmapCell_1_2"/>
          <p:cNvSpPr/>
          <p:nvPr/>
        </p:nvSpPr>
        <p:spPr>
          <a:xfrm>
            <a:off x="33569452" y="11466576"/>
            <a:ext cx="2022652" cy="1024128"/>
          </a:xfrm>
          <a:prstGeom prst="rect">
            <a:avLst/>
          </a:prstGeom>
          <a:solidFill>
            <a:srgbClr val="F4B69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11116"/>
                </a:solidFill>
                <a:latin typeface="Arial"/>
              </a:rPr>
              <a:t>0.47</a:t>
            </a:r>
          </a:p>
        </p:txBody>
      </p:sp>
      <p:sp>
        <p:nvSpPr>
          <p:cNvPr id="113" name="RESULTS_HeatmapCell_1_3"/>
          <p:cNvSpPr/>
          <p:nvPr/>
        </p:nvSpPr>
        <p:spPr>
          <a:xfrm>
            <a:off x="35592105" y="11466576"/>
            <a:ext cx="2022652" cy="1024128"/>
          </a:xfrm>
          <a:prstGeom prst="rect">
            <a:avLst/>
          </a:prstGeom>
          <a:solidFill>
            <a:srgbClr val="E5EC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200" b="0" i="0">
                <a:solidFill>
                  <a:srgbClr val="111116"/>
                </a:solidFill>
                <a:latin typeface="Arial"/>
              </a:rPr>
              <a:t>−0.05</a:t>
            </a:r>
          </a:p>
        </p:txBody>
      </p:sp>
      <p:sp>
        <p:nvSpPr>
          <p:cNvPr id="114" name="RESULTS_HeatmapCell_1_4"/>
          <p:cNvSpPr/>
          <p:nvPr/>
        </p:nvSpPr>
        <p:spPr>
          <a:xfrm>
            <a:off x="37614758" y="11466576"/>
            <a:ext cx="2022652" cy="1024128"/>
          </a:xfrm>
          <a:prstGeom prst="rect">
            <a:avLst/>
          </a:prstGeom>
          <a:solidFill>
            <a:srgbClr val="E5EC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200" b="0" i="0">
                <a:solidFill>
                  <a:srgbClr val="111116"/>
                </a:solidFill>
                <a:latin typeface="Arial"/>
              </a:rPr>
              <a:t>−0.08</a:t>
            </a:r>
          </a:p>
        </p:txBody>
      </p:sp>
      <p:sp>
        <p:nvSpPr>
          <p:cNvPr id="115" name="RESULTS_HeatmapCell_1_5"/>
          <p:cNvSpPr/>
          <p:nvPr/>
        </p:nvSpPr>
        <p:spPr>
          <a:xfrm>
            <a:off x="39637411" y="11466576"/>
            <a:ext cx="2022652" cy="1024128"/>
          </a:xfrm>
          <a:prstGeom prst="rect">
            <a:avLst/>
          </a:prstGeom>
          <a:solidFill>
            <a:srgbClr val="F9E5D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200" b="0" i="0">
                <a:solidFill>
                  <a:srgbClr val="111116"/>
                </a:solidFill>
                <a:latin typeface="Arial"/>
              </a:rPr>
              <a:t>0.11</a:t>
            </a:r>
          </a:p>
        </p:txBody>
      </p:sp>
      <p:sp>
        <p:nvSpPr>
          <p:cNvPr id="116" name="RESULTS_HeatmapRow_2"/>
          <p:cNvSpPr txBox="1"/>
          <p:nvPr/>
        </p:nvSpPr>
        <p:spPr>
          <a:xfrm>
            <a:off x="29059632" y="12563855"/>
            <a:ext cx="2414016" cy="1024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Intra-code
Similarity</a:t>
            </a:r>
          </a:p>
        </p:txBody>
      </p:sp>
      <p:sp>
        <p:nvSpPr>
          <p:cNvPr id="117" name="RESULTS_HeatmapCell_2_1"/>
          <p:cNvSpPr/>
          <p:nvPr/>
        </p:nvSpPr>
        <p:spPr>
          <a:xfrm>
            <a:off x="31546800" y="12563855"/>
            <a:ext cx="2022652" cy="1024128"/>
          </a:xfrm>
          <a:prstGeom prst="rect">
            <a:avLst/>
          </a:prstGeom>
          <a:solidFill>
            <a:srgbClr val="F7D3C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200" b="0" i="0">
                <a:solidFill>
                  <a:srgbClr val="111116"/>
                </a:solidFill>
                <a:latin typeface="Arial"/>
              </a:rPr>
              <a:t>0.32</a:t>
            </a:r>
          </a:p>
        </p:txBody>
      </p:sp>
      <p:sp>
        <p:nvSpPr>
          <p:cNvPr id="118" name="RESULTS_HeatmapCell_2_2"/>
          <p:cNvSpPr/>
          <p:nvPr/>
        </p:nvSpPr>
        <p:spPr>
          <a:xfrm>
            <a:off x="33569452" y="12563855"/>
            <a:ext cx="2022652" cy="1024128"/>
          </a:xfrm>
          <a:prstGeom prst="rect">
            <a:avLst/>
          </a:prstGeom>
          <a:solidFill>
            <a:srgbClr val="F7D3C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200" b="0" i="0">
                <a:solidFill>
                  <a:srgbClr val="111116"/>
                </a:solidFill>
                <a:latin typeface="Arial"/>
              </a:rPr>
              <a:t>0.37</a:t>
            </a:r>
          </a:p>
        </p:txBody>
      </p:sp>
      <p:sp>
        <p:nvSpPr>
          <p:cNvPr id="119" name="RESULTS_HeatmapCell_2_3"/>
          <p:cNvSpPr/>
          <p:nvPr/>
        </p:nvSpPr>
        <p:spPr>
          <a:xfrm>
            <a:off x="35592105" y="12563855"/>
            <a:ext cx="2022652" cy="1024128"/>
          </a:xfrm>
          <a:prstGeom prst="rect">
            <a:avLst/>
          </a:prstGeom>
          <a:solidFill>
            <a:srgbClr val="F9E5D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200" b="0" i="0">
                <a:solidFill>
                  <a:srgbClr val="111116"/>
                </a:solidFill>
                <a:latin typeface="Arial"/>
              </a:rPr>
              <a:t>0.18</a:t>
            </a:r>
          </a:p>
        </p:txBody>
      </p:sp>
      <p:sp>
        <p:nvSpPr>
          <p:cNvPr id="120" name="RESULTS_HeatmapCell_2_4"/>
          <p:cNvSpPr/>
          <p:nvPr/>
        </p:nvSpPr>
        <p:spPr>
          <a:xfrm>
            <a:off x="37614758" y="12563855"/>
            <a:ext cx="2022652" cy="1024128"/>
          </a:xfrm>
          <a:prstGeom prst="rect">
            <a:avLst/>
          </a:prstGeom>
          <a:solidFill>
            <a:srgbClr val="D8E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200" b="0" i="0">
                <a:solidFill>
                  <a:srgbClr val="111116"/>
                </a:solidFill>
                <a:latin typeface="Arial"/>
              </a:rPr>
              <a:t>−0.13</a:t>
            </a:r>
          </a:p>
        </p:txBody>
      </p:sp>
      <p:sp>
        <p:nvSpPr>
          <p:cNvPr id="121" name="RESULTS_HeatmapCell_2_5"/>
          <p:cNvSpPr/>
          <p:nvPr/>
        </p:nvSpPr>
        <p:spPr>
          <a:xfrm>
            <a:off x="39637411" y="12563855"/>
            <a:ext cx="2022652" cy="1024128"/>
          </a:xfrm>
          <a:prstGeom prst="rect">
            <a:avLst/>
          </a:prstGeom>
          <a:solidFill>
            <a:srgbClr val="E5EC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200" b="0" i="0">
                <a:solidFill>
                  <a:srgbClr val="111116"/>
                </a:solidFill>
                <a:latin typeface="Arial"/>
              </a:rPr>
              <a:t>−0.05</a:t>
            </a:r>
          </a:p>
        </p:txBody>
      </p:sp>
      <p:sp>
        <p:nvSpPr>
          <p:cNvPr id="122" name="RESULTS_HeatmapNote"/>
          <p:cNvSpPr txBox="1"/>
          <p:nvPr/>
        </p:nvSpPr>
        <p:spPr>
          <a:xfrm>
            <a:off x="29059632" y="13661136"/>
            <a:ext cx="12600432" cy="9509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524D61"/>
                </a:solidFill>
                <a:latin typeface="Arial"/>
              </a:rPr>
              <a:t>Наиболее выраженные корреляции — с Recall@100 и DCNv2 Pairwise. Корреляция не означает причинность.</a:t>
            </a:r>
          </a:p>
        </p:txBody>
      </p:sp>
      <p:cxnSp>
        <p:nvCxnSpPr>
          <p:cNvPr id="123" name="RESULTS_GenerationRule"/>
          <p:cNvCxnSpPr/>
          <p:nvPr/>
        </p:nvCxnSpPr>
        <p:spPr>
          <a:xfrm>
            <a:off x="29059632" y="14703551"/>
            <a:ext cx="12600432" cy="0"/>
          </a:xfrm>
          <a:prstGeom prst="line">
            <a:avLst/>
          </a:prstGeom>
          <a:ln w="38100">
            <a:solidFill>
              <a:srgbClr val="2AE8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SULTS_GenerationHead"/>
          <p:cNvSpPr txBox="1"/>
          <p:nvPr/>
        </p:nvSpPr>
        <p:spPr>
          <a:xfrm>
            <a:off x="29059632" y="14831567"/>
            <a:ext cx="1260043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GENERATION УЛУЧШИЛСЯ · Recall@100</a:t>
            </a:r>
          </a:p>
        </p:txBody>
      </p:sp>
      <p:sp>
        <p:nvSpPr>
          <p:cNvPr id="125" name="RESULTS_GenerationValues"/>
          <p:cNvSpPr txBox="1"/>
          <p:nvPr/>
        </p:nvSpPr>
        <p:spPr>
          <a:xfrm>
            <a:off x="29059632" y="15435072"/>
            <a:ext cx="740664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400" b="1" i="0">
                <a:solidFill>
                  <a:srgbClr val="111116"/>
                </a:solidFill>
                <a:latin typeface="Arial"/>
              </a:rPr>
              <a:t>0.12303 → 0.14138</a:t>
            </a:r>
          </a:p>
        </p:txBody>
      </p:sp>
      <p:sp>
        <p:nvSpPr>
          <p:cNvPr id="126" name="RESULTS_GenerationDelta"/>
          <p:cNvSpPr txBox="1"/>
          <p:nvPr/>
        </p:nvSpPr>
        <p:spPr>
          <a:xfrm>
            <a:off x="36539424" y="15288767"/>
            <a:ext cx="5047488" cy="1024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6600" b="1" i="0">
                <a:solidFill>
                  <a:srgbClr val="087C48"/>
                </a:solidFill>
                <a:latin typeface="Arial"/>
              </a:rPr>
              <a:t>+14.9%</a:t>
            </a:r>
          </a:p>
        </p:txBody>
      </p:sp>
      <p:sp>
        <p:nvSpPr>
          <p:cNvPr id="127" name="RESULTS_GenerationBaseline"/>
          <p:cNvSpPr txBox="1"/>
          <p:nvPr/>
        </p:nvSpPr>
        <p:spPr>
          <a:xfrm>
            <a:off x="29059632" y="16477488"/>
            <a:ext cx="566928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Baseline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SASRec-Audio-Uniform</a:t>
            </a:r>
          </a:p>
        </p:txBody>
      </p:sp>
      <p:sp>
        <p:nvSpPr>
          <p:cNvPr id="128" name="RESULTS_GenerationBest"/>
          <p:cNvSpPr txBox="1"/>
          <p:nvPr/>
        </p:nvSpPr>
        <p:spPr>
          <a:xfrm>
            <a:off x="35048952" y="16477488"/>
            <a:ext cx="653796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Best SID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RQ-VAE + item LogQ, L=2, C=256</a:t>
            </a:r>
          </a:p>
        </p:txBody>
      </p:sp>
      <p:cxnSp>
        <p:nvCxnSpPr>
          <p:cNvPr id="129" name="RESULTS_DCNv2Rule"/>
          <p:cNvCxnSpPr/>
          <p:nvPr/>
        </p:nvCxnSpPr>
        <p:spPr>
          <a:xfrm>
            <a:off x="29059632" y="18196560"/>
            <a:ext cx="12600432" cy="0"/>
          </a:xfrm>
          <a:prstGeom prst="line">
            <a:avLst/>
          </a:prstGeom>
          <a:ln w="2032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SULTS_DCNv2Head"/>
          <p:cNvSpPr txBox="1"/>
          <p:nvPr/>
        </p:nvSpPr>
        <p:spPr>
          <a:xfrm>
            <a:off x="29059632" y="18379440"/>
            <a:ext cx="12600432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RANKING — УЛУЧШЕНИЯ НЕТ · DCNv2 Pairwise Accuracy</a:t>
            </a:r>
          </a:p>
        </p:txBody>
      </p:sp>
      <p:sp>
        <p:nvSpPr>
          <p:cNvPr id="131" name="RESULTS_DCNv2Values"/>
          <p:cNvSpPr txBox="1"/>
          <p:nvPr/>
        </p:nvSpPr>
        <p:spPr>
          <a:xfrm>
            <a:off x="29059632" y="18964656"/>
            <a:ext cx="74523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111116"/>
                </a:solidFill>
                <a:latin typeface="Arial"/>
              </a:rPr>
              <a:t>0.54914 → 0.53600</a:t>
            </a:r>
          </a:p>
        </p:txBody>
      </p:sp>
      <p:sp>
        <p:nvSpPr>
          <p:cNvPr id="132" name="RESULTS_DCNv2Delta"/>
          <p:cNvSpPr txBox="1"/>
          <p:nvPr/>
        </p:nvSpPr>
        <p:spPr>
          <a:xfrm>
            <a:off x="36649152" y="18909792"/>
            <a:ext cx="493776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4600" b="1" i="0">
                <a:solidFill>
                  <a:srgbClr val="6C57B7"/>
                </a:solidFill>
                <a:latin typeface="Arial"/>
              </a:rPr>
              <a:t>−2.4%</a:t>
            </a:r>
          </a:p>
        </p:txBody>
      </p:sp>
      <p:sp>
        <p:nvSpPr>
          <p:cNvPr id="133" name="RESULTS_DCNv2Models"/>
          <p:cNvSpPr txBox="1"/>
          <p:nvPr/>
        </p:nvSpPr>
        <p:spPr>
          <a:xfrm>
            <a:off x="29059632" y="19860768"/>
            <a:ext cx="12600432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Baseline: DCNv2 item-only   ·   Best SID: RQ-VAE (ECM), L=3, C=256</a:t>
            </a:r>
          </a:p>
        </p:txBody>
      </p:sp>
      <p:cxnSp>
        <p:nvCxnSpPr>
          <p:cNvPr id="134" name="RESULTS_TransActRule"/>
          <p:cNvCxnSpPr/>
          <p:nvPr/>
        </p:nvCxnSpPr>
        <p:spPr>
          <a:xfrm>
            <a:off x="29059632" y="21140928"/>
            <a:ext cx="12600432" cy="0"/>
          </a:xfrm>
          <a:prstGeom prst="line">
            <a:avLst/>
          </a:prstGeom>
          <a:ln w="2032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ESULTS_TransActHead"/>
          <p:cNvSpPr txBox="1"/>
          <p:nvPr/>
        </p:nvSpPr>
        <p:spPr>
          <a:xfrm>
            <a:off x="29059632" y="21323808"/>
            <a:ext cx="12600432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RANKING — УЛУЧШЕНИЯ НЕТ · TransAct Pairwise Accuracy</a:t>
            </a:r>
          </a:p>
        </p:txBody>
      </p:sp>
      <p:sp>
        <p:nvSpPr>
          <p:cNvPr id="136" name="RESULTS_TransActValues"/>
          <p:cNvSpPr txBox="1"/>
          <p:nvPr/>
        </p:nvSpPr>
        <p:spPr>
          <a:xfrm>
            <a:off x="29059632" y="21909024"/>
            <a:ext cx="745236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111116"/>
                </a:solidFill>
                <a:latin typeface="Arial"/>
              </a:rPr>
              <a:t>0.76164 → 0.63811</a:t>
            </a:r>
          </a:p>
        </p:txBody>
      </p:sp>
      <p:sp>
        <p:nvSpPr>
          <p:cNvPr id="137" name="RESULTS_TransActDelta"/>
          <p:cNvSpPr txBox="1"/>
          <p:nvPr/>
        </p:nvSpPr>
        <p:spPr>
          <a:xfrm>
            <a:off x="36649152" y="21854160"/>
            <a:ext cx="493776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4600" b="1" i="0">
                <a:solidFill>
                  <a:srgbClr val="6C57B7"/>
                </a:solidFill>
                <a:latin typeface="Arial"/>
              </a:rPr>
              <a:t>−16.2%</a:t>
            </a:r>
          </a:p>
        </p:txBody>
      </p:sp>
      <p:sp>
        <p:nvSpPr>
          <p:cNvPr id="138" name="RESULTS_TransActModels"/>
          <p:cNvSpPr txBox="1"/>
          <p:nvPr/>
        </p:nvSpPr>
        <p:spPr>
          <a:xfrm>
            <a:off x="29059632" y="22805136"/>
            <a:ext cx="12600432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Baseline: TransAct item-only   ·   Best SID: RQ-VAE, L=3, C=1024</a:t>
            </a:r>
          </a:p>
        </p:txBody>
      </p:sp>
      <p:sp>
        <p:nvSpPr>
          <p:cNvPr id="139" name="CONCLUSIONS_Thesis_1"/>
          <p:cNvSpPr txBox="1"/>
          <p:nvPr/>
        </p:nvSpPr>
        <p:spPr>
          <a:xfrm>
            <a:off x="2331720" y="27084528"/>
            <a:ext cx="9006840" cy="1993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SID ≠ downstream quality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Высокое внутреннее качество SID само по себе не гарантирует улучшение итоговой модели.</a:t>
            </a:r>
          </a:p>
        </p:txBody>
      </p:sp>
      <p:cxnSp>
        <p:nvCxnSpPr>
          <p:cNvPr id="140" name="CONCLUSIONS_Divider_1"/>
          <p:cNvCxnSpPr/>
          <p:nvPr/>
        </p:nvCxnSpPr>
        <p:spPr>
          <a:xfrm>
            <a:off x="11722607" y="27157680"/>
            <a:ext cx="0" cy="1901952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CONCLUSIONS_Thesis_2"/>
          <p:cNvSpPr txBox="1"/>
          <p:nvPr/>
        </p:nvSpPr>
        <p:spPr>
          <a:xfrm>
            <a:off x="12088367" y="27084528"/>
            <a:ext cx="9006840" cy="1993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Ranking: улучшения нет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SID-конфигурации не превзошли item-only baseline в рассмотренных экспериментах.</a:t>
            </a:r>
          </a:p>
        </p:txBody>
      </p:sp>
      <p:cxnSp>
        <p:nvCxnSpPr>
          <p:cNvPr id="142" name="CONCLUSIONS_Divider_2"/>
          <p:cNvCxnSpPr/>
          <p:nvPr/>
        </p:nvCxnSpPr>
        <p:spPr>
          <a:xfrm>
            <a:off x="21479256" y="27157680"/>
            <a:ext cx="0" cy="1901952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CONCLUSIONS_Thesis_3"/>
          <p:cNvSpPr txBox="1"/>
          <p:nvPr/>
        </p:nvSpPr>
        <p:spPr>
          <a:xfrm>
            <a:off x="21845016" y="27084528"/>
            <a:ext cx="9006840" cy="1993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Generation: +14.9%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RQ-VAE + item LogQ улучшил Recall@100 относительно baseline.</a:t>
            </a:r>
          </a:p>
        </p:txBody>
      </p:sp>
      <p:cxnSp>
        <p:nvCxnSpPr>
          <p:cNvPr id="144" name="CONCLUSIONS_Divider_3"/>
          <p:cNvCxnSpPr/>
          <p:nvPr/>
        </p:nvCxnSpPr>
        <p:spPr>
          <a:xfrm>
            <a:off x="31235903" y="27157680"/>
            <a:ext cx="0" cy="1901952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CONCLUSIONS_Thesis_4"/>
          <p:cNvSpPr txBox="1"/>
          <p:nvPr/>
        </p:nvSpPr>
        <p:spPr>
          <a:xfrm>
            <a:off x="31601663" y="27084528"/>
            <a:ext cx="9006840" cy="1993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Проверять нужно downstream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Оценивайте SID внутренними метриками и непосредственно downstream-экспериментами.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ctr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t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ctr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t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127</Words>
  <Application>Microsoft Macintosh PowerPoint</Application>
  <PresentationFormat>Произвольный</PresentationFormat>
  <Paragraphs>21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Alina Murashova</cp:lastModifiedBy>
  <cp:revision>6</cp:revision>
  <dcterms:modified xsi:type="dcterms:W3CDTF">2026-08-17T15:43:34Z</dcterms:modified>
  <dc:title>Влияние качества Semantic ID на финальные метрики</dc:title>
  <dc:subject>A0 scientific poster adapted to the ML-Академия template</dc:subject>
  <dc:creator>Константин Рядинский, Лев Клюев, Ростислав Головков, Глеб Шевченко</dc:creator>
  <dc:description>Hallmark · audit-only fixed-template scientific poster · technical/austere · pre-emit critique: P5 H5 E5 S5 R5 V4 · audit: 0 critical, 0 major, 0 minor</dc:description>
</cp:coreProperties>
</file>