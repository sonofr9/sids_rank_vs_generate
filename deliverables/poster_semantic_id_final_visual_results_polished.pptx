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43"/>
  </p:normalViewPr>
  <p:slideViewPr>
    <p:cSldViewPr snapToGrid="0">
      <p:cViewPr varScale="1">
        <p:scale>
          <a:sx n="25" d="100"/>
          <a:sy n="25" d="100"/>
        </p:scale>
        <p:origin x="18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0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285356" y="877736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0" name="RESULTS_Heatmap_Full" descr="Pearson correlation heatmap: all supplied SID metrics versus downstream metrics, including title, subtitle, cell values, and Pearson r colorbar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9636" y="10944269"/>
            <a:ext cx="12984480" cy="4956048"/>
          </a:xfrm>
          <a:prstGeom prst="rect">
            <a:avLst/>
          </a:prstGeom>
        </p:spPr>
      </p:pic>
      <p:pic>
        <p:nvPicPr>
          <p:cNvPr id="151" name="RESULTS_Recall_vs_ICR_SVG" descr="Recall@100 versus raw independent code rate (ICR), with panels for varying number of codebooks and varying codebook size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545107" y="16678119"/>
            <a:ext cx="12600432" cy="6442290"/>
          </a:xfrm>
          <a:prstGeom prst="rect">
            <a:avLst/>
          </a:prstGeom>
        </p:spPr>
      </p:pic>
      <p:sp>
        <p:nvSpPr>
          <p:cNvPr id="153" name="INTRO_Definition"/>
          <p:cNvSpPr txBox="1"/>
          <p:nvPr/>
        </p:nvSpPr>
        <p:spPr>
          <a:xfrm>
            <a:off x="1737360" y="11019488"/>
            <a:ext cx="11695176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Semantic IDs —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дискретные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коды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рекомендациях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
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не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гарантирует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154" name="INTRO_ResearchQuestion"/>
          <p:cNvSpPr txBox="1"/>
          <p:nvPr/>
        </p:nvSpPr>
        <p:spPr>
          <a:xfrm>
            <a:off x="1737360" y="8743885"/>
            <a:ext cx="11695176" cy="2359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200" b="1" i="0" dirty="0">
                <a:solidFill>
                  <a:srgbClr val="111116"/>
                </a:solidFill>
                <a:latin typeface="Arial"/>
              </a:rPr>
              <a:t>Какие свойства </a:t>
            </a:r>
            <a:r>
              <a:rPr lang="en" sz="4200" b="1" i="0" dirty="0">
                <a:solidFill>
                  <a:srgbClr val="111116"/>
                </a:solidFill>
                <a:latin typeface="Arial"/>
              </a:rPr>
              <a:t>Semantic ID </a:t>
            </a:r>
            <a:r>
              <a:rPr lang="ru-RU" sz="4200" b="1" i="0" dirty="0">
                <a:solidFill>
                  <a:srgbClr val="111116"/>
                </a:solidFill>
                <a:latin typeface="Arial"/>
              </a:rPr>
              <a:t>действительно отражаются на </a:t>
            </a:r>
            <a:r>
              <a:rPr lang="en" sz="4200" b="1" i="0" dirty="0">
                <a:solidFill>
                  <a:srgbClr val="111116"/>
                </a:solidFill>
                <a:latin typeface="Arial"/>
              </a:rPr>
              <a:t>downstream-</a:t>
            </a:r>
            <a:r>
              <a:rPr lang="ru-RU" sz="4200" b="1" i="0" dirty="0">
                <a:solidFill>
                  <a:srgbClr val="111116"/>
                </a:solidFill>
                <a:latin typeface="Arial"/>
              </a:rPr>
              <a:t>метриках рекомендательной системы?</a:t>
            </a:r>
          </a:p>
        </p:txBody>
      </p:sp>
      <p:cxnSp>
        <p:nvCxnSpPr>
          <p:cNvPr id="155" name="INTRO_QuestionUnderline"/>
          <p:cNvCxnSpPr/>
          <p:nvPr/>
        </p:nvCxnSpPr>
        <p:spPr>
          <a:xfrm>
            <a:off x="1682496" y="12710160"/>
            <a:ext cx="694944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INTRO_GoalHead"/>
          <p:cNvSpPr txBox="1"/>
          <p:nvPr/>
        </p:nvSpPr>
        <p:spPr>
          <a:xfrm>
            <a:off x="1682496" y="12894007"/>
            <a:ext cx="11695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 err="1">
                <a:solidFill>
                  <a:srgbClr val="111116"/>
                </a:solidFill>
                <a:latin typeface="Arial"/>
              </a:rPr>
              <a:t>Цель</a:t>
            </a: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157" name="INTRO_GoalBody"/>
          <p:cNvSpPr txBox="1"/>
          <p:nvPr/>
        </p:nvSpPr>
        <p:spPr>
          <a:xfrm>
            <a:off x="1700784" y="13624560"/>
            <a:ext cx="11695176" cy="1207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Сравнить способы построения SID.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Проверить связь SID-метрик с downstream-качеством.</a:t>
            </a:r>
          </a:p>
        </p:txBody>
      </p:sp>
      <p:sp>
        <p:nvSpPr>
          <p:cNvPr id="158" name="INTRO_ContextHead"/>
          <p:cNvSpPr txBox="1"/>
          <p:nvPr/>
        </p:nvSpPr>
        <p:spPr>
          <a:xfrm>
            <a:off x="1700784" y="14784164"/>
            <a:ext cx="11695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 err="1">
                <a:solidFill>
                  <a:srgbClr val="111116"/>
                </a:solidFill>
                <a:latin typeface="Arial"/>
              </a:rPr>
              <a:t>Экспериментальный</a:t>
            </a:r>
            <a:r>
              <a:rPr sz="34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111116"/>
                </a:solidFill>
                <a:latin typeface="Arial"/>
              </a:rPr>
              <a:t>контекст</a:t>
            </a: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159" name="INTRO_ContextLabel_0"/>
          <p:cNvSpPr txBox="1"/>
          <p:nvPr/>
        </p:nvSpPr>
        <p:spPr>
          <a:xfrm>
            <a:off x="1700784" y="15471648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Dataset</a:t>
            </a:r>
          </a:p>
        </p:txBody>
      </p:sp>
      <p:sp>
        <p:nvSpPr>
          <p:cNvPr id="160" name="INTRO_ContextValue_0"/>
          <p:cNvSpPr txBox="1"/>
          <p:nvPr/>
        </p:nvSpPr>
        <p:spPr>
          <a:xfrm>
            <a:off x="4946904" y="15471648"/>
            <a:ext cx="8449055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Yambda-50M, time split</a:t>
            </a:r>
          </a:p>
        </p:txBody>
      </p:sp>
      <p:cxnSp>
        <p:nvCxnSpPr>
          <p:cNvPr id="161" name="INTRO_ContextRule_0"/>
          <p:cNvCxnSpPr/>
          <p:nvPr/>
        </p:nvCxnSpPr>
        <p:spPr>
          <a:xfrm>
            <a:off x="1700784" y="16038576"/>
            <a:ext cx="11695175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INTRO_ContextLabel_1"/>
          <p:cNvSpPr txBox="1"/>
          <p:nvPr/>
        </p:nvSpPr>
        <p:spPr>
          <a:xfrm>
            <a:off x="1700784" y="16093440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Generation</a:t>
            </a:r>
          </a:p>
        </p:txBody>
      </p:sp>
      <p:sp>
        <p:nvSpPr>
          <p:cNvPr id="163" name="INTRO_ContextValue_1"/>
          <p:cNvSpPr txBox="1"/>
          <p:nvPr/>
        </p:nvSpPr>
        <p:spPr>
          <a:xfrm>
            <a:off x="4946904" y="16093440"/>
            <a:ext cx="8449055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TIGER vs SASRec</a:t>
            </a:r>
          </a:p>
        </p:txBody>
      </p:sp>
      <p:cxnSp>
        <p:nvCxnSpPr>
          <p:cNvPr id="164" name="INTRO_ContextRule_1"/>
          <p:cNvCxnSpPr/>
          <p:nvPr/>
        </p:nvCxnSpPr>
        <p:spPr>
          <a:xfrm>
            <a:off x="1700784" y="16660368"/>
            <a:ext cx="11695175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INTRO_ContextLabel_2"/>
          <p:cNvSpPr txBox="1"/>
          <p:nvPr/>
        </p:nvSpPr>
        <p:spPr>
          <a:xfrm>
            <a:off x="1700784" y="16715232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</a:t>
            </a:r>
          </a:p>
        </p:txBody>
      </p:sp>
      <p:sp>
        <p:nvSpPr>
          <p:cNvPr id="166" name="INTRO_ContextValue_2"/>
          <p:cNvSpPr txBox="1"/>
          <p:nvPr/>
        </p:nvSpPr>
        <p:spPr>
          <a:xfrm>
            <a:off x="4946904" y="16715232"/>
            <a:ext cx="8449055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DCNv2 / TransAct-like</a:t>
            </a:r>
          </a:p>
        </p:txBody>
      </p:sp>
      <p:cxnSp>
        <p:nvCxnSpPr>
          <p:cNvPr id="167" name="INTRO_ContextRule_2"/>
          <p:cNvCxnSpPr/>
          <p:nvPr/>
        </p:nvCxnSpPr>
        <p:spPr>
          <a:xfrm>
            <a:off x="1700784" y="17282160"/>
            <a:ext cx="11695175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INTRO_ContextLabel_3"/>
          <p:cNvSpPr txBox="1"/>
          <p:nvPr/>
        </p:nvSpPr>
        <p:spPr>
          <a:xfrm>
            <a:off x="1700784" y="17337024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Metrics</a:t>
            </a:r>
          </a:p>
        </p:txBody>
      </p:sp>
      <p:sp>
        <p:nvSpPr>
          <p:cNvPr id="169" name="INTRO_ContextValue_3"/>
          <p:cNvSpPr txBox="1"/>
          <p:nvPr/>
        </p:nvSpPr>
        <p:spPr>
          <a:xfrm>
            <a:off x="4946904" y="17337024"/>
            <a:ext cx="8449055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Recall@100 · ROC-AUC · Pairwise Accuracy</a:t>
            </a:r>
          </a:p>
        </p:txBody>
      </p:sp>
      <p:sp>
        <p:nvSpPr>
          <p:cNvPr id="170" name="INTRO_MetricsHead"/>
          <p:cNvSpPr txBox="1"/>
          <p:nvPr/>
        </p:nvSpPr>
        <p:spPr>
          <a:xfrm>
            <a:off x="1682496" y="18218217"/>
            <a:ext cx="11695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 err="1">
                <a:solidFill>
                  <a:srgbClr val="111116"/>
                </a:solidFill>
                <a:latin typeface="Arial"/>
              </a:rPr>
              <a:t>Ключевые</a:t>
            </a:r>
            <a:r>
              <a:rPr sz="3400" b="1" i="0" dirty="0">
                <a:solidFill>
                  <a:srgbClr val="111116"/>
                </a:solidFill>
                <a:latin typeface="Arial"/>
              </a:rPr>
              <a:t> SID-</a:t>
            </a:r>
            <a:r>
              <a:rPr sz="3400" b="1" i="0" dirty="0" err="1">
                <a:solidFill>
                  <a:srgbClr val="111116"/>
                </a:solidFill>
                <a:latin typeface="Arial"/>
              </a:rPr>
              <a:t>метрики</a:t>
            </a: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171" name="INTRO_ICR_Head"/>
          <p:cNvSpPr txBox="1"/>
          <p:nvPr/>
        </p:nvSpPr>
        <p:spPr>
          <a:xfrm>
            <a:off x="1682496" y="18956989"/>
            <a:ext cx="116951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Independent Code Rate (ICR)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INTRO_ICR_OfficeMath"/>
              <p:cNvSpPr txBox="1"/>
              <p:nvPr/>
            </p:nvSpPr>
            <p:spPr>
              <a:xfrm>
                <a:off x="-641108" y="19683198"/>
                <a:ext cx="9601200" cy="987552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3600" i="0">
                          <a:solidFill>
                            <a:srgbClr val="111116"/>
                          </a:solidFill>
                          <a:latin typeface="Cambria Math"/>
                        </a:rPr>
                        <m:t>ICR = </m:t>
                      </m:r>
                      <m:f>
                        <m:fPr>
                          <m:ctrlPr>
                            <a:rPr lang="en-US" sz="36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36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unique used codes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3600" i="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  <m:t>items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2" name="INTRO_ICR_OfficeMat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41108" y="19683198"/>
                <a:ext cx="9601200" cy="987552"/>
              </a:xfrm>
              <a:prstGeom prst="rect">
                <a:avLst/>
              </a:prstGeom>
              <a:blipFill>
                <a:blip r:embed="rId8"/>
                <a:stretch>
                  <a:fillRect t="-16456" b="-25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INTRO_ICR_Note"/>
          <p:cNvSpPr txBox="1"/>
          <p:nvPr/>
        </p:nvSpPr>
        <p:spPr>
          <a:xfrm>
            <a:off x="1682496" y="20958048"/>
            <a:ext cx="11695176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Чем ближе к 1, тем меньше объектов разделяют один SID.</a:t>
            </a:r>
          </a:p>
        </p:txBody>
      </p:sp>
      <p:sp>
        <p:nvSpPr>
          <p:cNvPr id="174" name="INTRO_IntraCode"/>
          <p:cNvSpPr txBox="1"/>
          <p:nvPr/>
        </p:nvSpPr>
        <p:spPr>
          <a:xfrm>
            <a:off x="1682496" y="21726144"/>
            <a:ext cx="11695176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Intra-code Similarity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Чем выше значение, тем семантически однороднее объекты внутри кода.</a:t>
            </a:r>
          </a:p>
        </p:txBody>
      </p:sp>
      <p:sp>
        <p:nvSpPr>
          <p:cNvPr id="177" name="METHODS_LogicSID"/>
          <p:cNvSpPr txBox="1"/>
          <p:nvPr/>
        </p:nvSpPr>
        <p:spPr>
          <a:xfrm>
            <a:off x="14593824" y="9345168"/>
            <a:ext cx="2999232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endParaRPr sz="30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178" name="METHODS_LogicArrow1"/>
          <p:cNvSpPr txBox="1"/>
          <p:nvPr/>
        </p:nvSpPr>
        <p:spPr>
          <a:xfrm>
            <a:off x="17629632" y="9537192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180" name="METHODS_LogicArrow2"/>
          <p:cNvSpPr txBox="1"/>
          <p:nvPr/>
        </p:nvSpPr>
        <p:spPr>
          <a:xfrm>
            <a:off x="21909024" y="9537192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181" name="METHODS_LogicMetrics"/>
          <p:cNvSpPr txBox="1"/>
          <p:nvPr/>
        </p:nvSpPr>
        <p:spPr>
          <a:xfrm>
            <a:off x="22311360" y="9345168"/>
            <a:ext cx="4498848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endParaRPr sz="32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182" name="METHODS_BalancedHead"/>
          <p:cNvSpPr txBox="1"/>
          <p:nvPr/>
        </p:nvSpPr>
        <p:spPr>
          <a:xfrm>
            <a:off x="14401800" y="8682640"/>
            <a:ext cx="12600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111116"/>
                </a:solidFill>
                <a:latin typeface="Arial"/>
              </a:rPr>
              <a:t>Balanced RQ-</a:t>
            </a:r>
            <a:r>
              <a:rPr sz="3400" b="1" i="0" dirty="0" err="1">
                <a:solidFill>
                  <a:srgbClr val="111116"/>
                </a:solidFill>
                <a:latin typeface="Arial"/>
              </a:rPr>
              <a:t>KMeans</a:t>
            </a: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METHODS_BalancedFormula"/>
              <p:cNvSpPr txBox="1"/>
              <p:nvPr/>
            </p:nvSpPr>
            <p:spPr>
              <a:xfrm>
                <a:off x="13839178" y="9552703"/>
                <a:ext cx="3108960" cy="987552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3800">
                          <a:solidFill>
                            <a:srgbClr val="111116"/>
                          </a:solidFill>
                          <a:latin typeface="Cambria Math"/>
                        </a:rPr>
                        <m:t>𝑤</m:t>
                      </m:r>
                      <m:r>
                        <m:rPr>
                          <m:nor/>
                        </m:rPr>
                        <a:rPr lang="en-US" sz="3800" i="0">
                          <a:solidFill>
                            <a:srgbClr val="111116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38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8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a:rPr lang="en-US" sz="38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𝑉</m:t>
                          </m:r>
                          <m:r>
                            <a:rPr lang="en-US" sz="38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|</m:t>
                          </m:r>
                        </m:num>
                        <m:den>
                          <m:r>
                            <a:rPr lang="en-US" sz="38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83" name="METHODS_Balanced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178" y="9552703"/>
                <a:ext cx="3108960" cy="987552"/>
              </a:xfrm>
              <a:prstGeom prst="rect">
                <a:avLst/>
              </a:prstGeom>
              <a:blipFill>
                <a:blip r:embed="rId9"/>
                <a:stretch>
                  <a:fillRect t="-10256" b="-23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METHODS_BalancedDivider"/>
          <p:cNvCxnSpPr/>
          <p:nvPr/>
        </p:nvCxnSpPr>
        <p:spPr>
          <a:xfrm>
            <a:off x="16742664" y="9660610"/>
            <a:ext cx="0" cy="85039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METHODS_BalancedNote"/>
          <p:cNvSpPr txBox="1"/>
          <p:nvPr/>
        </p:nvSpPr>
        <p:spPr>
          <a:xfrm>
            <a:off x="17050780" y="9644143"/>
            <a:ext cx="9015984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Capacity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задаёт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лимит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на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кластер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189" name="METHODS_RQVAEArrow_1"/>
          <p:cNvSpPr txBox="1"/>
          <p:nvPr/>
        </p:nvSpPr>
        <p:spPr>
          <a:xfrm>
            <a:off x="16450056" y="13661136"/>
            <a:ext cx="292608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195" name="METHODS_RQVAENote"/>
          <p:cNvSpPr txBox="1"/>
          <p:nvPr/>
        </p:nvSpPr>
        <p:spPr>
          <a:xfrm>
            <a:off x="14429232" y="14694408"/>
            <a:ext cx="12600432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3000" b="0" i="0" dirty="0">
              <a:solidFill>
                <a:srgbClr val="524D61"/>
              </a:solidFill>
              <a:latin typeface="Arial"/>
            </a:endParaRPr>
          </a:p>
        </p:txBody>
      </p:sp>
      <p:sp>
        <p:nvSpPr>
          <p:cNvPr id="196" name="METHODS_UserAwareHead"/>
          <p:cNvSpPr txBox="1"/>
          <p:nvPr/>
        </p:nvSpPr>
        <p:spPr>
          <a:xfrm>
            <a:off x="14538960" y="16655640"/>
            <a:ext cx="12600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dirty="0">
                <a:solidFill>
                  <a:srgbClr val="111116"/>
                </a:solidFill>
                <a:latin typeface="Arial"/>
              </a:rPr>
              <a:t>User-aware</a:t>
            </a:r>
          </a:p>
        </p:txBody>
      </p:sp>
      <p:sp>
        <p:nvSpPr>
          <p:cNvPr id="197" name="METHODS_UserAwareBand"/>
          <p:cNvSpPr/>
          <p:nvPr/>
        </p:nvSpPr>
        <p:spPr>
          <a:xfrm>
            <a:off x="14566392" y="17350583"/>
            <a:ext cx="12600432" cy="1499616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METHODS_UserAwareStage_1"/>
          <p:cNvSpPr txBox="1"/>
          <p:nvPr/>
        </p:nvSpPr>
        <p:spPr>
          <a:xfrm>
            <a:off x="14566392" y="17524320"/>
            <a:ext cx="2670048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User + item
embedding</a:t>
            </a:r>
          </a:p>
        </p:txBody>
      </p:sp>
      <p:sp>
        <p:nvSpPr>
          <p:cNvPr id="199" name="METHODS_UserAwareArrow_1"/>
          <p:cNvSpPr txBox="1"/>
          <p:nvPr/>
        </p:nvSpPr>
        <p:spPr>
          <a:xfrm>
            <a:off x="17291304" y="17862648"/>
            <a:ext cx="32918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200" name="METHODS_UserAwareStage_2"/>
          <p:cNvSpPr txBox="1"/>
          <p:nvPr/>
        </p:nvSpPr>
        <p:spPr>
          <a:xfrm>
            <a:off x="17693640" y="17524320"/>
            <a:ext cx="2688336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User-aware
network</a:t>
            </a:r>
          </a:p>
        </p:txBody>
      </p:sp>
      <p:sp>
        <p:nvSpPr>
          <p:cNvPr id="201" name="METHODS_UserAwareArrow_2"/>
          <p:cNvSpPr txBox="1"/>
          <p:nvPr/>
        </p:nvSpPr>
        <p:spPr>
          <a:xfrm>
            <a:off x="20436840" y="17862648"/>
            <a:ext cx="32918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202" name="METHODS_UserAwareStage_3"/>
          <p:cNvSpPr txBox="1"/>
          <p:nvPr/>
        </p:nvSpPr>
        <p:spPr>
          <a:xfrm>
            <a:off x="20839176" y="17524320"/>
            <a:ext cx="2834640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User-aware SID</a:t>
            </a:r>
          </a:p>
        </p:txBody>
      </p:sp>
      <p:sp>
        <p:nvSpPr>
          <p:cNvPr id="203" name="METHODS_UserAwareArrow_3"/>
          <p:cNvSpPr txBox="1"/>
          <p:nvPr/>
        </p:nvSpPr>
        <p:spPr>
          <a:xfrm>
            <a:off x="23728680" y="17862648"/>
            <a:ext cx="32918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204" name="METHODS_UserAwareStage_4"/>
          <p:cNvSpPr txBox="1"/>
          <p:nvPr/>
        </p:nvSpPr>
        <p:spPr>
          <a:xfrm>
            <a:off x="24131016" y="17524320"/>
            <a:ext cx="2670048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Canonical
SID target</a:t>
            </a:r>
          </a:p>
        </p:txBody>
      </p:sp>
      <p:cxnSp>
        <p:nvCxnSpPr>
          <p:cNvPr id="205" name="METHODS_SummaryRule"/>
          <p:cNvCxnSpPr/>
          <p:nvPr/>
        </p:nvCxnSpPr>
        <p:spPr>
          <a:xfrm>
            <a:off x="14593824" y="19176445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METHODS_Summary_1"/>
          <p:cNvSpPr txBox="1"/>
          <p:nvPr/>
        </p:nvSpPr>
        <p:spPr>
          <a:xfrm>
            <a:off x="14566392" y="19600008"/>
            <a:ext cx="6126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PLUM-like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Кодов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меньше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префикс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случаен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207" name="METHODS_Summary_2"/>
          <p:cNvSpPr txBox="1"/>
          <p:nvPr/>
        </p:nvSpPr>
        <p:spPr>
          <a:xfrm>
            <a:off x="21040344" y="19600008"/>
            <a:ext cx="6126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R3-VAE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lang="ru-RU" sz="3000" b="0" i="0" dirty="0">
                <a:solidFill>
                  <a:srgbClr val="111116"/>
                </a:solidFill>
                <a:latin typeface="Arial"/>
              </a:rPr>
              <a:t>Опорный вектор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+ SC/PD-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регуляризация</a:t>
            </a:r>
            <a:r>
              <a:rPr lang="ru-RU" sz="3000" b="0" i="0" dirty="0">
                <a:solidFill>
                  <a:srgbClr val="111116"/>
                </a:solidFill>
                <a:latin typeface="Arial"/>
              </a:rPr>
              <a:t>.</a:t>
            </a:r>
            <a:endParaRPr sz="3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208" name="METHODS_Summary_3"/>
          <p:cNvSpPr txBox="1"/>
          <p:nvPr/>
        </p:nvSpPr>
        <p:spPr>
          <a:xfrm>
            <a:off x="14566392" y="21703128"/>
            <a:ext cx="6126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PSI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Коллизии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без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нового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токена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209" name="METHODS_Summary_4"/>
          <p:cNvSpPr txBox="1"/>
          <p:nvPr/>
        </p:nvSpPr>
        <p:spPr>
          <a:xfrm>
            <a:off x="21040344" y="21703128"/>
            <a:ext cx="6126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 err="1">
                <a:solidFill>
                  <a:srgbClr val="087C48"/>
                </a:solidFill>
                <a:latin typeface="Arial"/>
              </a:rPr>
              <a:t>LogQ</a:t>
            </a:r>
            <a:endParaRPr sz="3200" b="1" i="0" dirty="0">
              <a:solidFill>
                <a:srgbClr val="087C48"/>
              </a:solidFill>
              <a:latin typeface="Arial"/>
            </a:endParaRP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Частотная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коррекция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SID.</a:t>
            </a:r>
          </a:p>
        </p:txBody>
      </p:sp>
      <p:cxnSp>
        <p:nvCxnSpPr>
          <p:cNvPr id="210" name="RESULTS_GenerationRule"/>
          <p:cNvCxnSpPr/>
          <p:nvPr/>
        </p:nvCxnSpPr>
        <p:spPr>
          <a:xfrm>
            <a:off x="28520136" y="8659368"/>
            <a:ext cx="12600432" cy="0"/>
          </a:xfrm>
          <a:prstGeom prst="line">
            <a:avLst/>
          </a:prstGeom>
          <a:ln w="381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SULTS_GenerationHead"/>
          <p:cNvSpPr txBox="1"/>
          <p:nvPr/>
        </p:nvSpPr>
        <p:spPr>
          <a:xfrm>
            <a:off x="28520136" y="8723376"/>
            <a:ext cx="1260043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GENERATION УЛУЧШИЛСЯ · Recall@100</a:t>
            </a:r>
          </a:p>
        </p:txBody>
      </p:sp>
      <p:sp>
        <p:nvSpPr>
          <p:cNvPr id="212" name="RESULTS_GenerationValues"/>
          <p:cNvSpPr txBox="1"/>
          <p:nvPr/>
        </p:nvSpPr>
        <p:spPr>
          <a:xfrm>
            <a:off x="37060641" y="8686800"/>
            <a:ext cx="7452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 dirty="0">
                <a:solidFill>
                  <a:srgbClr val="111116"/>
                </a:solidFill>
                <a:latin typeface="Arial"/>
              </a:rPr>
              <a:t>0.12303 → 0.14138</a:t>
            </a:r>
          </a:p>
        </p:txBody>
      </p:sp>
      <p:sp>
        <p:nvSpPr>
          <p:cNvPr id="213" name="RESULTS_GenerationDelta"/>
          <p:cNvSpPr txBox="1"/>
          <p:nvPr/>
        </p:nvSpPr>
        <p:spPr>
          <a:xfrm>
            <a:off x="34845323" y="9321633"/>
            <a:ext cx="5001768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0" b="1" i="0" dirty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sp>
        <p:nvSpPr>
          <p:cNvPr id="214" name="RESULTS_GenerationBaseline"/>
          <p:cNvSpPr txBox="1"/>
          <p:nvPr/>
        </p:nvSpPr>
        <p:spPr>
          <a:xfrm>
            <a:off x="28521660" y="9530269"/>
            <a:ext cx="12600432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524D61"/>
                </a:solidFill>
                <a:latin typeface="Arial"/>
              </a:rPr>
              <a:t>Baseline ·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SASRec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-Audio-Uniform</a:t>
            </a:r>
          </a:p>
        </p:txBody>
      </p:sp>
      <p:sp>
        <p:nvSpPr>
          <p:cNvPr id="215" name="RESULTS_GenerationBest"/>
          <p:cNvSpPr txBox="1"/>
          <p:nvPr/>
        </p:nvSpPr>
        <p:spPr>
          <a:xfrm>
            <a:off x="28521660" y="10117810"/>
            <a:ext cx="12600432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524D61"/>
                </a:solidFill>
                <a:latin typeface="Arial"/>
              </a:rPr>
              <a:t>Best SID · 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RQ-VAE + item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LogQ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, L=2, C=256</a:t>
            </a:r>
          </a:p>
        </p:txBody>
      </p:sp>
      <p:sp>
        <p:nvSpPr>
          <p:cNvPr id="216" name="CONCLUSIONS_Thesis_1"/>
          <p:cNvSpPr txBox="1"/>
          <p:nvPr/>
        </p:nvSpPr>
        <p:spPr>
          <a:xfrm>
            <a:off x="1792224" y="2635300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Хорошие внутренние метрики SID не гарантируют улучшение итоговой модели.</a:t>
            </a:r>
          </a:p>
        </p:txBody>
      </p:sp>
      <p:cxnSp>
        <p:nvCxnSpPr>
          <p:cNvPr id="217" name="CONCLUSIONS_Divider_1"/>
          <p:cNvCxnSpPr/>
          <p:nvPr/>
        </p:nvCxnSpPr>
        <p:spPr>
          <a:xfrm>
            <a:off x="11183111" y="2642616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CONCLUSIONS_Thesis_2"/>
          <p:cNvSpPr txBox="1"/>
          <p:nvPr/>
        </p:nvSpPr>
        <p:spPr>
          <a:xfrm>
            <a:off x="11548872" y="2635300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Ranking: улучшения нет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 в ranking-задачах.</a:t>
            </a:r>
          </a:p>
        </p:txBody>
      </p:sp>
      <p:cxnSp>
        <p:nvCxnSpPr>
          <p:cNvPr id="219" name="CONCLUSIONS_Divider_2"/>
          <p:cNvCxnSpPr/>
          <p:nvPr/>
        </p:nvCxnSpPr>
        <p:spPr>
          <a:xfrm>
            <a:off x="20939760" y="2642616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CONCLUSIONS_Thesis_3"/>
          <p:cNvSpPr txBox="1"/>
          <p:nvPr/>
        </p:nvSpPr>
        <p:spPr>
          <a:xfrm>
            <a:off x="21305520" y="2635300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Generation: +14.9%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 улучшил Recall@100 относительно baseline.</a:t>
            </a:r>
          </a:p>
        </p:txBody>
      </p:sp>
      <p:cxnSp>
        <p:nvCxnSpPr>
          <p:cNvPr id="221" name="CONCLUSIONS_Divider_3"/>
          <p:cNvCxnSpPr/>
          <p:nvPr/>
        </p:nvCxnSpPr>
        <p:spPr>
          <a:xfrm>
            <a:off x="30696408" y="2642616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CONCLUSIONS_Thesis_4"/>
          <p:cNvSpPr txBox="1"/>
          <p:nvPr/>
        </p:nvSpPr>
        <p:spPr>
          <a:xfrm>
            <a:off x="31062168" y="2635300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 нужно оценивать не только внутренними метриками, но и downstream-экспериментами.</a:t>
            </a:r>
          </a:p>
        </p:txBody>
      </p:sp>
      <p:pic>
        <p:nvPicPr>
          <p:cNvPr id="5" name="Рисунок 4" descr="Better Generalization with Semantic IDs: A Case Study in Ranking for  Recommendations">
            <a:extLst>
              <a:ext uri="{FF2B5EF4-FFF2-40B4-BE49-F238E27FC236}">
                <a16:creationId xmlns:a16="http://schemas.microsoft.com/office/drawing/2014/main" id="{B11749C3-E503-998E-5565-303EED156C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19667" y="11554850"/>
            <a:ext cx="11272089" cy="5060110"/>
          </a:xfrm>
          <a:prstGeom prst="rect">
            <a:avLst/>
          </a:prstGeom>
        </p:spPr>
      </p:pic>
      <p:sp>
        <p:nvSpPr>
          <p:cNvPr id="186" name="METHODS_RQVAEHead"/>
          <p:cNvSpPr txBox="1"/>
          <p:nvPr/>
        </p:nvSpPr>
        <p:spPr>
          <a:xfrm>
            <a:off x="14465808" y="10775353"/>
            <a:ext cx="12600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dirty="0">
                <a:solidFill>
                  <a:srgbClr val="111116"/>
                </a:solidFill>
                <a:latin typeface="Arial"/>
              </a:rPr>
              <a:t>RQ-VAE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282</Words>
  <Application>Microsoft Macintosh PowerPoint</Application>
  <PresentationFormat>Произвольный</PresentationFormat>
  <Paragraphs>60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constrained fixed-template audit · technical/austere · content density reduced; scientific values preserved; no macrostructure redesign</dc:description>
  <cp:lastModifiedBy>Konstantin Ryadinskiy</cp:lastModifiedBy>
  <cp:revision>10</cp:revision>
  <dcterms:modified xsi:type="dcterms:W3CDTF">2026-08-18T16:06:40Z</dcterms:modified>
</cp:coreProperties>
</file>