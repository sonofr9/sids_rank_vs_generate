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8"/>
    <p:restoredTop sz="94658"/>
  </p:normalViewPr>
  <p:slideViewPr>
    <p:cSldViewPr snapToGrid="0">
      <p:cViewPr>
        <p:scale>
          <a:sx n="29" d="100"/>
          <a:sy n="29" d="100"/>
        </p:scale>
        <p:origin x="308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0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INTRO_Subhead"/>
          <p:cNvSpPr txBox="1"/>
          <p:nvPr/>
        </p:nvSpPr>
        <p:spPr>
          <a:xfrm>
            <a:off x="1697390" y="8690950"/>
            <a:ext cx="11292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Semantic ID и исследовательский вопрос</a:t>
            </a:r>
          </a:p>
        </p:txBody>
      </p:sp>
      <p:sp>
        <p:nvSpPr>
          <p:cNvPr id="40" name="INTRO_Definition"/>
          <p:cNvSpPr txBox="1"/>
          <p:nvPr/>
        </p:nvSpPr>
        <p:spPr>
          <a:xfrm>
            <a:off x="1697390" y="9332211"/>
            <a:ext cx="11694754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Semantic IDs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дискретное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представление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рекомендательных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системах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хорошее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внутреннее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обязательно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означает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хорошее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41" name="INTRO_ResearchQuestion"/>
          <p:cNvSpPr txBox="1"/>
          <p:nvPr/>
        </p:nvSpPr>
        <p:spPr>
          <a:xfrm>
            <a:off x="1697390" y="11022407"/>
            <a:ext cx="11292840" cy="1874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dirty="0" err="1">
                <a:solidFill>
                  <a:srgbClr val="111116"/>
                </a:solidFill>
                <a:latin typeface="Arial"/>
              </a:rPr>
              <a:t>Какие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свойства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Semantic ID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действительно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отражаются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на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метриках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рекомендательной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системы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?</a:t>
            </a:r>
          </a:p>
        </p:txBody>
      </p:sp>
      <p:cxnSp>
        <p:nvCxnSpPr>
          <p:cNvPr id="42" name="INTRO_QuestionUnderline"/>
          <p:cNvCxnSpPr/>
          <p:nvPr/>
        </p:nvCxnSpPr>
        <p:spPr>
          <a:xfrm>
            <a:off x="1789108" y="13116646"/>
            <a:ext cx="694944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NTRO_GoalHead"/>
          <p:cNvSpPr txBox="1"/>
          <p:nvPr/>
        </p:nvSpPr>
        <p:spPr>
          <a:xfrm>
            <a:off x="1697390" y="13262950"/>
            <a:ext cx="11292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Цель</a:t>
            </a:r>
          </a:p>
        </p:txBody>
      </p:sp>
      <p:sp>
        <p:nvSpPr>
          <p:cNvPr id="44" name="INTRO_GoalBody"/>
          <p:cNvSpPr txBox="1"/>
          <p:nvPr/>
        </p:nvSpPr>
        <p:spPr>
          <a:xfrm>
            <a:off x="1697390" y="13915748"/>
            <a:ext cx="1129284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• Сравнить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способы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построения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• Проверить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связь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метрик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45" name="INTRO_ContextHead"/>
          <p:cNvSpPr txBox="1"/>
          <p:nvPr/>
        </p:nvSpPr>
        <p:spPr>
          <a:xfrm>
            <a:off x="1697390" y="15091750"/>
            <a:ext cx="11292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Экспериментальный контекст</a:t>
            </a:r>
          </a:p>
        </p:txBody>
      </p:sp>
      <p:sp>
        <p:nvSpPr>
          <p:cNvPr id="46" name="INTRO_ContextLabel_0"/>
          <p:cNvSpPr txBox="1"/>
          <p:nvPr/>
        </p:nvSpPr>
        <p:spPr>
          <a:xfrm>
            <a:off x="1697390" y="15640389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Dataset</a:t>
            </a:r>
          </a:p>
        </p:txBody>
      </p:sp>
      <p:sp>
        <p:nvSpPr>
          <p:cNvPr id="47" name="INTRO_ContextValue_0"/>
          <p:cNvSpPr txBox="1"/>
          <p:nvPr/>
        </p:nvSpPr>
        <p:spPr>
          <a:xfrm>
            <a:off x="4943510" y="15640389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Yambda-50M, time split</a:t>
            </a:r>
          </a:p>
        </p:txBody>
      </p:sp>
      <p:cxnSp>
        <p:nvCxnSpPr>
          <p:cNvPr id="48" name="INTRO_ContextRule_0"/>
          <p:cNvCxnSpPr/>
          <p:nvPr/>
        </p:nvCxnSpPr>
        <p:spPr>
          <a:xfrm>
            <a:off x="1697390" y="16207318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TRO_ContextLabel_1"/>
          <p:cNvSpPr txBox="1"/>
          <p:nvPr/>
        </p:nvSpPr>
        <p:spPr>
          <a:xfrm>
            <a:off x="1697390" y="16262182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Generation</a:t>
            </a:r>
          </a:p>
        </p:txBody>
      </p:sp>
      <p:sp>
        <p:nvSpPr>
          <p:cNvPr id="50" name="INTRO_ContextValue_1"/>
          <p:cNvSpPr txBox="1"/>
          <p:nvPr/>
        </p:nvSpPr>
        <p:spPr>
          <a:xfrm>
            <a:off x="4943510" y="16262182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TIGER vs SASRec</a:t>
            </a:r>
          </a:p>
        </p:txBody>
      </p:sp>
      <p:cxnSp>
        <p:nvCxnSpPr>
          <p:cNvPr id="51" name="INTRO_ContextRule_1"/>
          <p:cNvCxnSpPr/>
          <p:nvPr/>
        </p:nvCxnSpPr>
        <p:spPr>
          <a:xfrm>
            <a:off x="1697390" y="16829110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NTRO_ContextLabel_2"/>
          <p:cNvSpPr txBox="1"/>
          <p:nvPr/>
        </p:nvSpPr>
        <p:spPr>
          <a:xfrm>
            <a:off x="1697390" y="16883974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</p:txBody>
      </p:sp>
      <p:sp>
        <p:nvSpPr>
          <p:cNvPr id="53" name="INTRO_ContextValue_2"/>
          <p:cNvSpPr txBox="1"/>
          <p:nvPr/>
        </p:nvSpPr>
        <p:spPr>
          <a:xfrm>
            <a:off x="4943510" y="16883974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DCNv2 / TransAct-like</a:t>
            </a:r>
          </a:p>
        </p:txBody>
      </p:sp>
      <p:cxnSp>
        <p:nvCxnSpPr>
          <p:cNvPr id="54" name="INTRO_ContextRule_2"/>
          <p:cNvCxnSpPr/>
          <p:nvPr/>
        </p:nvCxnSpPr>
        <p:spPr>
          <a:xfrm>
            <a:off x="1697390" y="17450902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NTRO_ContextLabel_3"/>
          <p:cNvSpPr txBox="1"/>
          <p:nvPr/>
        </p:nvSpPr>
        <p:spPr>
          <a:xfrm>
            <a:off x="1697390" y="17505765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Gen. metric</a:t>
            </a:r>
          </a:p>
        </p:txBody>
      </p:sp>
      <p:sp>
        <p:nvSpPr>
          <p:cNvPr id="56" name="INTRO_ContextValue_3"/>
          <p:cNvSpPr txBox="1"/>
          <p:nvPr/>
        </p:nvSpPr>
        <p:spPr>
          <a:xfrm>
            <a:off x="4943510" y="17505765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Recall@100</a:t>
            </a:r>
          </a:p>
        </p:txBody>
      </p:sp>
      <p:cxnSp>
        <p:nvCxnSpPr>
          <p:cNvPr id="57" name="INTRO_ContextRule_3"/>
          <p:cNvCxnSpPr/>
          <p:nvPr/>
        </p:nvCxnSpPr>
        <p:spPr>
          <a:xfrm>
            <a:off x="1697390" y="18072694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NTRO_ContextLabel_4"/>
          <p:cNvSpPr txBox="1"/>
          <p:nvPr/>
        </p:nvSpPr>
        <p:spPr>
          <a:xfrm>
            <a:off x="1697390" y="18127557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Rank. metrics</a:t>
            </a:r>
          </a:p>
        </p:txBody>
      </p:sp>
      <p:sp>
        <p:nvSpPr>
          <p:cNvPr id="59" name="INTRO_ContextValue_4"/>
          <p:cNvSpPr txBox="1"/>
          <p:nvPr/>
        </p:nvSpPr>
        <p:spPr>
          <a:xfrm>
            <a:off x="4943510" y="18127557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ROC-AUC · Pairwise Accuracy</a:t>
            </a:r>
          </a:p>
        </p:txBody>
      </p:sp>
      <p:sp>
        <p:nvSpPr>
          <p:cNvPr id="60" name="INTRO_MetricsHead"/>
          <p:cNvSpPr txBox="1"/>
          <p:nvPr/>
        </p:nvSpPr>
        <p:spPr>
          <a:xfrm>
            <a:off x="1697390" y="18794498"/>
            <a:ext cx="11292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 err="1">
                <a:solidFill>
                  <a:srgbClr val="111116"/>
                </a:solidFill>
                <a:latin typeface="Arial"/>
              </a:rPr>
              <a:t>Ключевые</a:t>
            </a:r>
            <a:r>
              <a:rPr sz="3400" b="1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400" b="1" i="0" dirty="0" err="1">
                <a:solidFill>
                  <a:srgbClr val="111116"/>
                </a:solidFill>
                <a:latin typeface="Arial"/>
              </a:rPr>
              <a:t>метрики</a:t>
            </a: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61" name="INTRO_ICR_Head"/>
          <p:cNvSpPr txBox="1"/>
          <p:nvPr/>
        </p:nvSpPr>
        <p:spPr>
          <a:xfrm>
            <a:off x="1697390" y="19734391"/>
            <a:ext cx="112928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Independent Code Rate (ICR)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INTRO_ICR_OfficeMath"/>
              <p:cNvSpPr txBox="1"/>
              <p:nvPr/>
            </p:nvSpPr>
            <p:spPr>
              <a:xfrm>
                <a:off x="6269390" y="19488546"/>
                <a:ext cx="8046720" cy="1051560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3600" i="0">
                          <a:solidFill>
                            <a:srgbClr val="111116"/>
                          </a:solidFill>
                          <a:latin typeface="Cambria Math"/>
                        </a:rPr>
                        <m:t>ICR = </m:t>
                      </m:r>
                      <m:f>
                        <m:fPr>
                          <m:ctrlPr>
                            <a:rPr lang="en-US" sz="36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36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unique used codes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3600" i="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  <m:t>items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2" name="INTRO_ICR_OfficeMat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390" y="19488546"/>
                <a:ext cx="8046720" cy="1051560"/>
              </a:xfrm>
              <a:prstGeom prst="rect">
                <a:avLst/>
              </a:prstGeom>
              <a:blipFill>
                <a:blip r:embed="rId6"/>
                <a:stretch>
                  <a:fillRect t="-13095" b="-202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INTRO_ICR_Note"/>
          <p:cNvSpPr txBox="1"/>
          <p:nvPr/>
        </p:nvSpPr>
        <p:spPr>
          <a:xfrm>
            <a:off x="1697390" y="20827954"/>
            <a:ext cx="112928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Чем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ближе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1,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меньше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разделяют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один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</p:txBody>
      </p:sp>
      <p:sp>
        <p:nvSpPr>
          <p:cNvPr id="64" name="INTRO_IntraCode"/>
          <p:cNvSpPr txBox="1"/>
          <p:nvPr/>
        </p:nvSpPr>
        <p:spPr>
          <a:xfrm>
            <a:off x="1697390" y="21533770"/>
            <a:ext cx="11292840" cy="1691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Intra-code Similarity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Средняя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семантическая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близость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внутри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одного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кода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Чем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выше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значение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,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семантически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однороднее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группа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65" name="METHODS_LogicHead"/>
          <p:cNvSpPr txBox="1"/>
          <p:nvPr/>
        </p:nvSpPr>
        <p:spPr>
          <a:xfrm>
            <a:off x="14316110" y="8690950"/>
            <a:ext cx="12847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Логика эксперимента</a:t>
            </a:r>
          </a:p>
        </p:txBody>
      </p:sp>
      <p:sp>
        <p:nvSpPr>
          <p:cNvPr id="66" name="METHODS_LogicBand"/>
          <p:cNvSpPr/>
          <p:nvPr/>
        </p:nvSpPr>
        <p:spPr>
          <a:xfrm>
            <a:off x="14316110" y="9257878"/>
            <a:ext cx="12847320" cy="10789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ETHODS_LogicSID"/>
          <p:cNvSpPr txBox="1"/>
          <p:nvPr/>
        </p:nvSpPr>
        <p:spPr>
          <a:xfrm>
            <a:off x="14572142" y="9349318"/>
            <a:ext cx="3108960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Построение
Semantic ID</a:t>
            </a:r>
          </a:p>
        </p:txBody>
      </p:sp>
      <p:sp>
        <p:nvSpPr>
          <p:cNvPr id="68" name="METHODS_LogicArrow1"/>
          <p:cNvSpPr txBox="1"/>
          <p:nvPr/>
        </p:nvSpPr>
        <p:spPr>
          <a:xfrm>
            <a:off x="17772542" y="954134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69" name="METHODS_LogicModels"/>
          <p:cNvSpPr txBox="1"/>
          <p:nvPr/>
        </p:nvSpPr>
        <p:spPr>
          <a:xfrm>
            <a:off x="18202310" y="9349318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/ DCNv2 /
TransAct-like</a:t>
            </a:r>
          </a:p>
        </p:txBody>
      </p:sp>
      <p:sp>
        <p:nvSpPr>
          <p:cNvPr id="70" name="METHODS_LogicArrow2"/>
          <p:cNvSpPr txBox="1"/>
          <p:nvPr/>
        </p:nvSpPr>
        <p:spPr>
          <a:xfrm>
            <a:off x="22198237" y="954134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1" name="METHODS_LogicMetrics"/>
          <p:cNvSpPr txBox="1"/>
          <p:nvPr/>
        </p:nvSpPr>
        <p:spPr>
          <a:xfrm>
            <a:off x="22618862" y="9349318"/>
            <a:ext cx="4279392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downstream-метрики</a:t>
            </a:r>
          </a:p>
        </p:txBody>
      </p:sp>
      <p:sp>
        <p:nvSpPr>
          <p:cNvPr id="72" name="METHODS_BalancedHead"/>
          <p:cNvSpPr txBox="1"/>
          <p:nvPr/>
        </p:nvSpPr>
        <p:spPr>
          <a:xfrm>
            <a:off x="14316110" y="10629478"/>
            <a:ext cx="1284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Balanced RQ-KMeans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METHODS_BalancedConcept"/>
              <p:cNvSpPr txBox="1"/>
              <p:nvPr/>
            </p:nvSpPr>
            <p:spPr>
              <a:xfrm>
                <a:off x="14316110" y="11226514"/>
                <a:ext cx="4526280" cy="129844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noAutofit/>
              </a:bodyPr>
              <a:lstStyle/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ru-RU" sz="3000" b="1" i="0" dirty="0" err="1">
                    <a:solidFill>
                      <a:srgbClr val="111116"/>
                    </a:solidFill>
                    <a:latin typeface="Arial"/>
                  </a:rPr>
                  <a:t>Равноразмерные</a:t>
                </a:r>
                <a:r>
                  <a:rPr lang="ru-RU" sz="3000" b="1" i="0" dirty="0">
                    <a:solidFill>
                      <a:srgbClr val="111116"/>
                    </a:solidFill>
                    <a:latin typeface="Arial"/>
                  </a:rPr>
                  <a:t> кластеры</a:t>
                </a:r>
                <a:r>
                  <a:rPr lang="en-US" sz="3000" b="1" dirty="0">
                    <a:solidFill>
                      <a:srgbClr val="111116"/>
                    </a:solidFill>
                    <a:latin typeface="Arial"/>
                  </a:rPr>
                  <a:t> </a:t>
                </a:r>
                <a:r>
                  <a:rPr lang="en" sz="3000" b="1" i="0" dirty="0">
                    <a:solidFill>
                      <a:srgbClr val="087C48"/>
                    </a:solidFill>
                    <a:latin typeface="Arial"/>
                  </a:rPr>
                  <a:t>Capacity</a:t>
                </a:r>
                <a:r>
                  <a:rPr lang="en" sz="3000" b="1" dirty="0">
                    <a:solidFill>
                      <a:srgbClr val="087C48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den>
                    </m:f>
                  </m:oMath>
                </a14:m>
                <a:endParaRPr sz="4000" b="1" i="0" dirty="0">
                  <a:solidFill>
                    <a:srgbClr val="087C48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3" name="METHODS_BalancedConcep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110" y="11226514"/>
                <a:ext cx="4526280" cy="1298448"/>
              </a:xfrm>
              <a:prstGeom prst="rect">
                <a:avLst/>
              </a:prstGeom>
              <a:blipFill>
                <a:blip r:embed="rId7"/>
                <a:stretch>
                  <a:fillRect l="-4482" t="-7767" b="-2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METHODS_BalancedDivider"/>
          <p:cNvCxnSpPr/>
          <p:nvPr/>
        </p:nvCxnSpPr>
        <p:spPr>
          <a:xfrm>
            <a:off x="19043558" y="11205550"/>
            <a:ext cx="0" cy="11247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METHODS_BalancedFlow"/>
          <p:cNvSpPr txBox="1"/>
          <p:nvPr/>
        </p:nvSpPr>
        <p:spPr>
          <a:xfrm>
            <a:off x="19327022" y="11205550"/>
            <a:ext cx="7699248" cy="11338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Назначаем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ближайшие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→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ограничиваем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размер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каждого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кластера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→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обновляем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центры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сходимости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76" name="METHODS_RQVAEHead"/>
          <p:cNvSpPr txBox="1"/>
          <p:nvPr/>
        </p:nvSpPr>
        <p:spPr>
          <a:xfrm>
            <a:off x="14316110" y="12659446"/>
            <a:ext cx="1284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RQ-VAE</a:t>
            </a:r>
          </a:p>
        </p:txBody>
      </p:sp>
      <p:sp>
        <p:nvSpPr>
          <p:cNvPr id="77" name="METHODS_RQVAEBand"/>
          <p:cNvSpPr/>
          <p:nvPr/>
        </p:nvSpPr>
        <p:spPr>
          <a:xfrm>
            <a:off x="14316110" y="13297653"/>
            <a:ext cx="12847320" cy="148132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METHODS_RQVAEStage_1"/>
          <p:cNvSpPr txBox="1"/>
          <p:nvPr/>
        </p:nvSpPr>
        <p:spPr>
          <a:xfrm>
            <a:off x="14316110" y="13462245"/>
            <a:ext cx="2103120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Encoder</a:t>
            </a:r>
          </a:p>
        </p:txBody>
      </p:sp>
      <p:sp>
        <p:nvSpPr>
          <p:cNvPr id="79" name="METHODS_RQVAEArrow_1"/>
          <p:cNvSpPr txBox="1"/>
          <p:nvPr/>
        </p:nvSpPr>
        <p:spPr>
          <a:xfrm>
            <a:off x="16455806" y="13782285"/>
            <a:ext cx="3108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0" name="METHODS_RQVAEStage_2"/>
          <p:cNvSpPr txBox="1"/>
          <p:nvPr/>
        </p:nvSpPr>
        <p:spPr>
          <a:xfrm>
            <a:off x="16830710" y="13462245"/>
            <a:ext cx="3794760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Residual
codebooks 1…L</a:t>
            </a:r>
          </a:p>
        </p:txBody>
      </p:sp>
      <p:sp>
        <p:nvSpPr>
          <p:cNvPr id="81" name="METHODS_RQVAEArrow_2"/>
          <p:cNvSpPr txBox="1"/>
          <p:nvPr/>
        </p:nvSpPr>
        <p:spPr>
          <a:xfrm>
            <a:off x="20662045" y="13782285"/>
            <a:ext cx="3108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2" name="METHODS_RQVAEStage_3"/>
          <p:cNvSpPr txBox="1"/>
          <p:nvPr/>
        </p:nvSpPr>
        <p:spPr>
          <a:xfrm>
            <a:off x="21036950" y="13462245"/>
            <a:ext cx="3584448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Quantized
representation</a:t>
            </a:r>
          </a:p>
        </p:txBody>
      </p:sp>
      <p:sp>
        <p:nvSpPr>
          <p:cNvPr id="83" name="METHODS_RQVAEArrow_3"/>
          <p:cNvSpPr txBox="1"/>
          <p:nvPr/>
        </p:nvSpPr>
        <p:spPr>
          <a:xfrm>
            <a:off x="24657974" y="13782285"/>
            <a:ext cx="3108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4" name="METHODS_RQVAEStage_4"/>
          <p:cNvSpPr txBox="1"/>
          <p:nvPr/>
        </p:nvSpPr>
        <p:spPr>
          <a:xfrm>
            <a:off x="25032878" y="13462245"/>
            <a:ext cx="2084831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Decoder</a:t>
            </a:r>
          </a:p>
        </p:txBody>
      </p:sp>
      <p:sp>
        <p:nvSpPr>
          <p:cNvPr id="85" name="METHODS_RQVAENote"/>
          <p:cNvSpPr txBox="1"/>
          <p:nvPr/>
        </p:nvSpPr>
        <p:spPr>
          <a:xfrm>
            <a:off x="14316110" y="14762566"/>
            <a:ext cx="12847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524D61"/>
                </a:solidFill>
                <a:latin typeface="Arial"/>
              </a:rPr>
              <a:t>Остаток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последовательно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квантуется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по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codebooks →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итоговый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SID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состоит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из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суммы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уровней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.</a:t>
            </a:r>
          </a:p>
        </p:txBody>
      </p:sp>
      <p:sp>
        <p:nvSpPr>
          <p:cNvPr id="86" name="METHODS_UserAwareHead"/>
          <p:cNvSpPr txBox="1"/>
          <p:nvPr/>
        </p:nvSpPr>
        <p:spPr>
          <a:xfrm>
            <a:off x="14316110" y="15720812"/>
            <a:ext cx="1284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User-aware</a:t>
            </a:r>
          </a:p>
        </p:txBody>
      </p:sp>
      <p:sp>
        <p:nvSpPr>
          <p:cNvPr id="87" name="METHODS_UserAwareBand"/>
          <p:cNvSpPr/>
          <p:nvPr/>
        </p:nvSpPr>
        <p:spPr>
          <a:xfrm>
            <a:off x="14285356" y="16421982"/>
            <a:ext cx="12847320" cy="15361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METHODS_UserAwareStage_1"/>
          <p:cNvSpPr txBox="1"/>
          <p:nvPr/>
        </p:nvSpPr>
        <p:spPr>
          <a:xfrm>
            <a:off x="14285356" y="16614006"/>
            <a:ext cx="278892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89" name="METHODS_UserAwareArrow_1"/>
          <p:cNvSpPr txBox="1"/>
          <p:nvPr/>
        </p:nvSpPr>
        <p:spPr>
          <a:xfrm>
            <a:off x="17147428" y="1695233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0" name="METHODS_UserAwareStage_2"/>
          <p:cNvSpPr txBox="1"/>
          <p:nvPr/>
        </p:nvSpPr>
        <p:spPr>
          <a:xfrm>
            <a:off x="17568052" y="16614006"/>
            <a:ext cx="2816352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User-aware
network</a:t>
            </a:r>
          </a:p>
        </p:txBody>
      </p:sp>
      <p:sp>
        <p:nvSpPr>
          <p:cNvPr id="91" name="METHODS_UserAwareArrow_2"/>
          <p:cNvSpPr txBox="1"/>
          <p:nvPr/>
        </p:nvSpPr>
        <p:spPr>
          <a:xfrm>
            <a:off x="20457556" y="1695233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2" name="METHODS_UserAwareStage_3"/>
          <p:cNvSpPr txBox="1"/>
          <p:nvPr/>
        </p:nvSpPr>
        <p:spPr>
          <a:xfrm>
            <a:off x="20878180" y="16614006"/>
            <a:ext cx="297180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User-aware SID</a:t>
            </a:r>
          </a:p>
        </p:txBody>
      </p:sp>
      <p:sp>
        <p:nvSpPr>
          <p:cNvPr id="93" name="METHODS_UserAwareArrow_3"/>
          <p:cNvSpPr txBox="1"/>
          <p:nvPr/>
        </p:nvSpPr>
        <p:spPr>
          <a:xfrm>
            <a:off x="23923132" y="1695233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4" name="METHODS_UserAwareStage_4"/>
          <p:cNvSpPr txBox="1"/>
          <p:nvPr/>
        </p:nvSpPr>
        <p:spPr>
          <a:xfrm>
            <a:off x="24343756" y="16614006"/>
            <a:ext cx="278892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Canonical
SID target</a:t>
            </a:r>
          </a:p>
        </p:txBody>
      </p:sp>
      <p:cxnSp>
        <p:nvCxnSpPr>
          <p:cNvPr id="95" name="METHODS_SummaryRule"/>
          <p:cNvCxnSpPr/>
          <p:nvPr/>
        </p:nvCxnSpPr>
        <p:spPr>
          <a:xfrm>
            <a:off x="14316110" y="18063550"/>
            <a:ext cx="12847320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METHODS_Summary_1"/>
          <p:cNvSpPr txBox="1"/>
          <p:nvPr/>
        </p:nvSpPr>
        <p:spPr>
          <a:xfrm>
            <a:off x="14425837" y="18488526"/>
            <a:ext cx="623620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PLUM-like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Кодов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меньше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глубиной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случайный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активный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префикс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Полная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глубина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: p = 0.25.</a:t>
            </a:r>
          </a:p>
        </p:txBody>
      </p:sp>
      <p:sp>
        <p:nvSpPr>
          <p:cNvPr id="97" name="METHODS_Summary_2"/>
          <p:cNvSpPr txBox="1"/>
          <p:nvPr/>
        </p:nvSpPr>
        <p:spPr>
          <a:xfrm>
            <a:off x="21027805" y="18488526"/>
            <a:ext cx="623620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R3-VAE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Опорный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вектор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задаёт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якорь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скалярное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произведение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сохраняет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градиент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SC/PD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структурирует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кластеры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98" name="METHODS_Summary_3"/>
          <p:cNvSpPr txBox="1"/>
          <p:nvPr/>
        </p:nvSpPr>
        <p:spPr>
          <a:xfrm>
            <a:off x="14425837" y="20948262"/>
            <a:ext cx="623620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PSI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Коллизии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устраняются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без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дополнительного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токена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Сравниваются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RRS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ECM.</a:t>
            </a:r>
          </a:p>
        </p:txBody>
      </p:sp>
      <p:sp>
        <p:nvSpPr>
          <p:cNvPr id="99" name="METHODS_Summary_4"/>
          <p:cNvSpPr txBox="1"/>
          <p:nvPr/>
        </p:nvSpPr>
        <p:spPr>
          <a:xfrm>
            <a:off x="21027805" y="20948262"/>
            <a:ext cx="6236208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 err="1">
                <a:solidFill>
                  <a:srgbClr val="087C48"/>
                </a:solidFill>
                <a:latin typeface="Arial"/>
              </a:rPr>
              <a:t>LogQ</a:t>
            </a:r>
            <a:endParaRPr sz="3200" b="1" i="0" dirty="0">
              <a:solidFill>
                <a:srgbClr val="087C48"/>
              </a:solidFill>
              <a:latin typeface="Arial"/>
            </a:endParaRP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Логиты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префиксам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
item loss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объектам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METHODS_LogQ_OfficeMath"/>
              <p:cNvSpPr txBox="1"/>
              <p:nvPr/>
            </p:nvSpPr>
            <p:spPr>
              <a:xfrm>
                <a:off x="20168269" y="22535838"/>
                <a:ext cx="6236208" cy="65836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0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total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i="0">
                          <a:solidFill>
                            <a:srgbClr val="111116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0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SID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i="0">
                          <a:solidFill>
                            <a:srgbClr val="111116"/>
                          </a:solidFill>
                          <a:latin typeface="Cambria Math"/>
                        </a:rPr>
                        <m:t> + 0.1 </m:t>
                      </m:r>
                      <m:sSub>
                        <m:sSubPr>
                          <m:ctrlP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0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item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0" name="METHODS_LogQ_OfficeMat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8269" y="22535838"/>
                <a:ext cx="6236208" cy="658368"/>
              </a:xfrm>
              <a:prstGeom prst="rect">
                <a:avLst/>
              </a:prstGeom>
              <a:blipFill>
                <a:blip r:embed="rId8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CONCLUSIONS_Thesis_1"/>
          <p:cNvSpPr txBox="1"/>
          <p:nvPr/>
        </p:nvSpPr>
        <p:spPr>
          <a:xfrm>
            <a:off x="1788830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Высокое внутреннее качество SID само по себе не гарантирует улучшение итоговой модели.</a:t>
            </a:r>
          </a:p>
        </p:txBody>
      </p:sp>
      <p:cxnSp>
        <p:nvCxnSpPr>
          <p:cNvPr id="138" name="CONCLUSIONS_Divider_1"/>
          <p:cNvCxnSpPr/>
          <p:nvPr/>
        </p:nvCxnSpPr>
        <p:spPr>
          <a:xfrm>
            <a:off x="11179717" y="2643031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ONCLUSIONS_Thesis_2"/>
          <p:cNvSpPr txBox="1"/>
          <p:nvPr/>
        </p:nvSpPr>
        <p:spPr>
          <a:xfrm>
            <a:off x="11545477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Ranking: улучшения нет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 в рассмотренных экспериментах.</a:t>
            </a:r>
          </a:p>
        </p:txBody>
      </p:sp>
      <p:cxnSp>
        <p:nvCxnSpPr>
          <p:cNvPr id="140" name="CONCLUSIONS_Divider_2"/>
          <p:cNvCxnSpPr/>
          <p:nvPr/>
        </p:nvCxnSpPr>
        <p:spPr>
          <a:xfrm>
            <a:off x="20936366" y="2643031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CONCLUSIONS_Thesis_3"/>
          <p:cNvSpPr txBox="1"/>
          <p:nvPr/>
        </p:nvSpPr>
        <p:spPr>
          <a:xfrm>
            <a:off x="21302126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улучшил Recall@100 относительно baseline.</a:t>
            </a:r>
          </a:p>
        </p:txBody>
      </p:sp>
      <p:cxnSp>
        <p:nvCxnSpPr>
          <p:cNvPr id="142" name="CONCLUSIONS_Divider_3"/>
          <p:cNvCxnSpPr/>
          <p:nvPr/>
        </p:nvCxnSpPr>
        <p:spPr>
          <a:xfrm>
            <a:off x="30693013" y="2643031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CONCLUSIONS_Thesis_4"/>
          <p:cNvSpPr txBox="1"/>
          <p:nvPr/>
        </p:nvSpPr>
        <p:spPr>
          <a:xfrm>
            <a:off x="31058773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Оценивайте SID внутренними метриками и непосредственно downstream-экспериментами.</a:t>
            </a:r>
          </a:p>
        </p:txBody>
      </p:sp>
      <p:cxnSp>
        <p:nvCxnSpPr>
          <p:cNvPr id="144" name="RESULTS_GenerationRule"/>
          <p:cNvCxnSpPr/>
          <p:nvPr/>
        </p:nvCxnSpPr>
        <p:spPr>
          <a:xfrm>
            <a:off x="28520136" y="8659368"/>
            <a:ext cx="12600432" cy="0"/>
          </a:xfrm>
          <a:prstGeom prst="line">
            <a:avLst/>
          </a:prstGeom>
          <a:ln w="381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SULTS_GenerationHead"/>
          <p:cNvSpPr txBox="1"/>
          <p:nvPr/>
        </p:nvSpPr>
        <p:spPr>
          <a:xfrm>
            <a:off x="28520136" y="8723376"/>
            <a:ext cx="126004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GENERATION УЛУЧШИЛСЯ · Recall@100</a:t>
            </a:r>
          </a:p>
        </p:txBody>
      </p:sp>
      <p:sp>
        <p:nvSpPr>
          <p:cNvPr id="146" name="RESULTS_GenerationValues"/>
          <p:cNvSpPr txBox="1"/>
          <p:nvPr/>
        </p:nvSpPr>
        <p:spPr>
          <a:xfrm>
            <a:off x="37103026" y="8711137"/>
            <a:ext cx="6725828" cy="51705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0.12303 → 0.14138</a:t>
            </a:r>
          </a:p>
        </p:txBody>
      </p:sp>
      <p:sp>
        <p:nvSpPr>
          <p:cNvPr id="147" name="RESULTS_GenerationDelta"/>
          <p:cNvSpPr txBox="1"/>
          <p:nvPr/>
        </p:nvSpPr>
        <p:spPr>
          <a:xfrm>
            <a:off x="36247036" y="9406980"/>
            <a:ext cx="5001768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0" b="1" i="0" dirty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sp>
        <p:nvSpPr>
          <p:cNvPr id="148" name="RESULTS_GenerationBaseline"/>
          <p:cNvSpPr txBox="1"/>
          <p:nvPr/>
        </p:nvSpPr>
        <p:spPr>
          <a:xfrm>
            <a:off x="28545107" y="9577918"/>
            <a:ext cx="12600432" cy="4297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524D61"/>
                </a:solidFill>
                <a:latin typeface="Arial"/>
              </a:rPr>
              <a:t>Baseline ·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SASRec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-Audio-Uniform</a:t>
            </a:r>
          </a:p>
        </p:txBody>
      </p:sp>
      <p:sp>
        <p:nvSpPr>
          <p:cNvPr id="149" name="RESULTS_GenerationBest"/>
          <p:cNvSpPr txBox="1"/>
          <p:nvPr/>
        </p:nvSpPr>
        <p:spPr>
          <a:xfrm>
            <a:off x="28545107" y="10104345"/>
            <a:ext cx="12600432" cy="4297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524D61"/>
                </a:solidFill>
                <a:latin typeface="Arial"/>
              </a:rPr>
              <a:t>Best SID · 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RQ-VAE + item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LogQ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, L=2, C=256</a:t>
            </a: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7091" y="10828772"/>
            <a:ext cx="12600432" cy="4807189"/>
          </a:xfrm>
          <a:prstGeom prst="rect">
            <a:avLst/>
          </a:prstGeom>
        </p:spPr>
      </p:pic>
      <p:pic>
        <p:nvPicPr>
          <p:cNvPr id="151" name="RESULTS_Recall_vs_ICR_SVG" descr="Recall@100 versus raw independent code rate (ICR), with panels for varying number of codebooks and varying codebook size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849134" y="15640389"/>
            <a:ext cx="9856346" cy="4224612"/>
          </a:xfrm>
          <a:prstGeom prst="rect">
            <a:avLst/>
          </a:prstGeom>
        </p:spPr>
      </p:pic>
      <p:pic>
        <p:nvPicPr>
          <p:cNvPr id="152" name="RESULTS_TransAct_vs_IntraCode_SVG" descr="TransAct pairwise accuracy versus intra-code similarity, with panels for varying number of codebooks and varying codebook size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849134" y="19956357"/>
            <a:ext cx="9856346" cy="422461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391</Words>
  <Application>Microsoft Macintosh PowerPoint</Application>
  <PresentationFormat>Произвольный</PresentationFormat>
  <Paragraphs>79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constrained fixed-template poster update · technical/austere · generation result first · supplied full heatmap · native SVG charts with PNG fallbacks · pre-emit critique: P5 H5 E5 S5 R5 V4</dc:description>
  <cp:lastModifiedBy>Konstantin Ryadinskiy</cp:lastModifiedBy>
  <cp:revision>8</cp:revision>
  <dcterms:modified xsi:type="dcterms:W3CDTF">2026-08-18T14:24:10Z</dcterms:modified>
</cp:coreProperties>
</file>