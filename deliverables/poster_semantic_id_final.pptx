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3014900" cy="30480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881"/>
    <a:srgbClr val="B6A4FF"/>
    <a:srgbClr val="FF5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57"/>
    <p:restoredTop sz="94667"/>
  </p:normalViewPr>
  <p:slideViewPr>
    <p:cSldViewPr snapToGrid="0">
      <p:cViewPr varScale="1">
        <p:scale>
          <a:sx n="24" d="100"/>
          <a:sy n="24" d="100"/>
        </p:scale>
        <p:origin x="200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228069" latinLnBrk="0">
      <a:defRPr sz="1600">
        <a:latin typeface="+mj-lt"/>
        <a:ea typeface="+mj-ea"/>
        <a:cs typeface="+mj-cs"/>
        <a:sym typeface="Calibri"/>
      </a:defRPr>
    </a:lvl1pPr>
    <a:lvl2pPr indent="228600" defTabSz="1228069" latinLnBrk="0">
      <a:defRPr sz="1600">
        <a:latin typeface="+mj-lt"/>
        <a:ea typeface="+mj-ea"/>
        <a:cs typeface="+mj-cs"/>
        <a:sym typeface="Calibri"/>
      </a:defRPr>
    </a:lvl2pPr>
    <a:lvl3pPr indent="457200" defTabSz="1228069" latinLnBrk="0">
      <a:defRPr sz="1600">
        <a:latin typeface="+mj-lt"/>
        <a:ea typeface="+mj-ea"/>
        <a:cs typeface="+mj-cs"/>
        <a:sym typeface="Calibri"/>
      </a:defRPr>
    </a:lvl3pPr>
    <a:lvl4pPr indent="685800" defTabSz="1228069" latinLnBrk="0">
      <a:defRPr sz="1600">
        <a:latin typeface="+mj-lt"/>
        <a:ea typeface="+mj-ea"/>
        <a:cs typeface="+mj-cs"/>
        <a:sym typeface="Calibri"/>
      </a:defRPr>
    </a:lvl4pPr>
    <a:lvl5pPr indent="914400" defTabSz="1228069" latinLnBrk="0">
      <a:defRPr sz="1600">
        <a:latin typeface="+mj-lt"/>
        <a:ea typeface="+mj-ea"/>
        <a:cs typeface="+mj-cs"/>
        <a:sym typeface="Calibri"/>
      </a:defRPr>
    </a:lvl5pPr>
    <a:lvl6pPr indent="1143000" defTabSz="1228069" latinLnBrk="0">
      <a:defRPr sz="1600">
        <a:latin typeface="+mj-lt"/>
        <a:ea typeface="+mj-ea"/>
        <a:cs typeface="+mj-cs"/>
        <a:sym typeface="Calibri"/>
      </a:defRPr>
    </a:lvl6pPr>
    <a:lvl7pPr indent="1371600" defTabSz="1228069" latinLnBrk="0">
      <a:defRPr sz="1600">
        <a:latin typeface="+mj-lt"/>
        <a:ea typeface="+mj-ea"/>
        <a:cs typeface="+mj-cs"/>
        <a:sym typeface="Calibri"/>
      </a:defRPr>
    </a:lvl7pPr>
    <a:lvl8pPr indent="1600200" defTabSz="1228069" latinLnBrk="0">
      <a:defRPr sz="1600">
        <a:latin typeface="+mj-lt"/>
        <a:ea typeface="+mj-ea"/>
        <a:cs typeface="+mj-cs"/>
        <a:sym typeface="Calibri"/>
      </a:defRPr>
    </a:lvl8pPr>
    <a:lvl9pPr indent="1828800" defTabSz="1228069" latinLnBrk="0">
      <a:defRPr sz="16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 noRot="1" noChangeAspect="1"/>
          </p:cNvSpPr>
          <p:nvPr>
            <p:ph type="sldImg"/>
          </p:nvPr>
        </p:nvSpPr>
        <p:spPr>
          <a:xfrm>
            <a:off x="1009650" y="685800"/>
            <a:ext cx="48387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" name="Shape 5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defRPr sz="1200"/>
            </a:lvl1pPr>
          </a:lstStyle>
          <a:p>
            <a:r>
              <a:rPr dirty="0" err="1"/>
              <a:t>Минимальный</a:t>
            </a:r>
            <a:r>
              <a:rPr dirty="0"/>
              <a:t> </a:t>
            </a:r>
            <a:r>
              <a:rPr dirty="0" err="1"/>
              <a:t>шрифт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 - 30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444766" y="3445777"/>
            <a:ext cx="34411922" cy="7400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1278" tIns="61278" rIns="61278" bIns="61278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24009184" y="10846212"/>
            <a:ext cx="16847504" cy="19603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1278" tIns="61278" rIns="61278" bIns="61278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30486110" y="28058351"/>
            <a:ext cx="341236" cy="331711"/>
          </a:xfrm>
          <a:prstGeom prst="rect">
            <a:avLst/>
          </a:prstGeom>
          <a:ln w="12700">
            <a:miter lim="400000"/>
          </a:ln>
        </p:spPr>
        <p:txBody>
          <a:bodyPr wrap="none" lIns="61278" tIns="61278" rIns="61278" bIns="61278" anchor="ctr">
            <a:spAutoFit/>
          </a:bodyPr>
          <a:lstStyle>
            <a:lvl1pPr algn="r">
              <a:defRPr sz="16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450056" marR="0" indent="-450056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885824" marR="0" indent="-428624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–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314450" marR="0" indent="-40005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8516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–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3088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»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7660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2232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680458" marR="0" indent="-480058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137658" marR="0" indent="-480058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A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E50391F-0664-C67A-EBA1-CC64D05A7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3407" y="26403251"/>
            <a:ext cx="22231493" cy="4076749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17B639A-DE9F-D45E-400F-B22DE1467731}"/>
              </a:ext>
            </a:extLst>
          </p:cNvPr>
          <p:cNvSpPr/>
          <p:nvPr/>
        </p:nvSpPr>
        <p:spPr>
          <a:xfrm>
            <a:off x="1685188" y="7665155"/>
            <a:ext cx="12444658" cy="17353984"/>
          </a:xfrm>
          <a:prstGeom prst="roundRect">
            <a:avLst>
              <a:gd name="adj" fmla="val 2889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7C7F30C-A8A2-E4FD-C149-1567DD560DF5}"/>
              </a:ext>
            </a:extLst>
          </p:cNvPr>
          <p:cNvSpPr/>
          <p:nvPr/>
        </p:nvSpPr>
        <p:spPr>
          <a:xfrm>
            <a:off x="28522749" y="7665155"/>
            <a:ext cx="13730928" cy="17353984"/>
          </a:xfrm>
          <a:prstGeom prst="roundRect">
            <a:avLst>
              <a:gd name="adj" fmla="val 2461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670C4D9-8716-E8CA-7716-33BCC5EBD599}"/>
              </a:ext>
            </a:extLst>
          </p:cNvPr>
          <p:cNvSpPr/>
          <p:nvPr/>
        </p:nvSpPr>
        <p:spPr>
          <a:xfrm>
            <a:off x="14385028" y="7684485"/>
            <a:ext cx="13882538" cy="17315324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35" name="Text 0"/>
          <p:cNvSpPr txBox="1"/>
          <p:nvPr/>
        </p:nvSpPr>
        <p:spPr>
          <a:xfrm>
            <a:off x="1682496" y="2084831"/>
            <a:ext cx="31821119" cy="1325880"/>
          </a:xfrm>
          <a:prstGeom prst="rect">
            <a:avLst/>
          </a:prstGeom>
          <a:solidFill>
            <a:srgbClr val="2AE881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3600"/>
              </a:lnSpc>
              <a:defRPr sz="12200" spc="-298">
                <a:solidFill>
                  <a:srgbClr val="201B1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/>
            </a:r>
            <a:r>
              <a:rPr dirty="0" sz="7200" b="0" i="0">
                <a:solidFill>
                  <a:srgbClr val="111116"/>
                </a:solidFill>
                <a:latin typeface="Arial"/>
              </a:rPr>
              <a:t>ВЛИЯНИЕ КАЧЕСТВА SEMANTIC ID НА ФИНАЛЬНЫЕ МЕТРИКИ</a:t>
            </a:r>
          </a:p>
        </p:txBody>
      </p:sp>
      <p:sp>
        <p:nvSpPr>
          <p:cNvPr id="36" name="default_name"/>
          <p:cNvSpPr txBox="1"/>
          <p:nvPr/>
        </p:nvSpPr>
        <p:spPr>
          <a:xfrm>
            <a:off x="1682496" y="3822191"/>
            <a:ext cx="31821119" cy="1097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6800">
                <a:latin typeface="Arial"/>
                <a:ea typeface="Arial"/>
                <a:cs typeface="Arial"/>
                <a:sym typeface="Arial"/>
              </a:defRPr>
            </a:pPr>
            <a:r>
              <a:rPr sz="3600" b="0" i="0">
                <a:solidFill>
                  <a:srgbClr val="111116"/>
                </a:solidFill>
                <a:latin typeface="Arial"/>
              </a:rPr>
              <a:t>Константин Рядинский • Лев Клюев • Ростислав Головков • Глеб Шевченко • Ментор: Александр Новак</a:t>
            </a:r>
          </a:p>
        </p:txBody>
      </p:sp>
      <p:sp>
        <p:nvSpPr>
          <p:cNvPr id="37" name="default_name"/>
          <p:cNvSpPr txBox="1"/>
          <p:nvPr/>
        </p:nvSpPr>
        <p:spPr>
          <a:xfrm>
            <a:off x="1685189" y="5435652"/>
            <a:ext cx="17639104" cy="98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8300"/>
              </a:lnSpc>
              <a:defRPr sz="5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38" name="default_name"/>
          <p:cNvSpPr txBox="1"/>
          <p:nvPr/>
        </p:nvSpPr>
        <p:spPr>
          <a:xfrm>
            <a:off x="2331998" y="830823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ВВЕДЕНИЕ В ПРОЕКТ 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8F11946-1A10-6EAE-4921-3B62BED2D2A7}"/>
              </a:ext>
            </a:extLst>
          </p:cNvPr>
          <p:cNvSpPr/>
          <p:nvPr/>
        </p:nvSpPr>
        <p:spPr>
          <a:xfrm>
            <a:off x="1685188" y="25288824"/>
            <a:ext cx="40568489" cy="4076749"/>
          </a:xfrm>
          <a:prstGeom prst="roundRect">
            <a:avLst>
              <a:gd name="adj" fmla="val 7162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F2CD8D-DD11-3361-C160-36D6EC43D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1277" y="780599"/>
            <a:ext cx="7772400" cy="109851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684C4F-56ED-0150-5194-49342BC90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38146" y="2129278"/>
            <a:ext cx="7629443" cy="4292326"/>
          </a:xfrm>
          <a:prstGeom prst="rect">
            <a:avLst/>
          </a:prstGeom>
        </p:spPr>
      </p:pic>
      <p:sp>
        <p:nvSpPr>
          <p:cNvPr id="21" name="default_name">
            <a:extLst>
              <a:ext uri="{FF2B5EF4-FFF2-40B4-BE49-F238E27FC236}">
                <a16:creationId xmlns:a16="http://schemas.microsoft.com/office/drawing/2014/main" id="{8292C18D-869D-4BDC-B907-5F81C0235459}"/>
              </a:ext>
            </a:extLst>
          </p:cNvPr>
          <p:cNvSpPr txBox="1"/>
          <p:nvPr/>
        </p:nvSpPr>
        <p:spPr>
          <a:xfrm>
            <a:off x="14981198" y="830823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ВЫПОЛНЕНИЕ ЗАДАЧИ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24" name="default_name">
            <a:extLst>
              <a:ext uri="{FF2B5EF4-FFF2-40B4-BE49-F238E27FC236}">
                <a16:creationId xmlns:a16="http://schemas.microsoft.com/office/drawing/2014/main" id="{EE7D5751-A99A-206B-7A8E-D1B4F8A5637E}"/>
              </a:ext>
            </a:extLst>
          </p:cNvPr>
          <p:cNvSpPr txBox="1"/>
          <p:nvPr/>
        </p:nvSpPr>
        <p:spPr>
          <a:xfrm>
            <a:off x="29103598" y="830823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РЕЗУЛЬТАТЫ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25" name="default_name">
            <a:extLst>
              <a:ext uri="{FF2B5EF4-FFF2-40B4-BE49-F238E27FC236}">
                <a16:creationId xmlns:a16="http://schemas.microsoft.com/office/drawing/2014/main" id="{F4CD12C8-10F6-44D9-F7FC-8E1ABBD574F7}"/>
              </a:ext>
            </a:extLst>
          </p:cNvPr>
          <p:cNvSpPr txBox="1"/>
          <p:nvPr/>
        </p:nvSpPr>
        <p:spPr>
          <a:xfrm>
            <a:off x="2331998" y="2593583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ВЫВОДЫ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4" name="default_name">
            <a:extLst>
              <a:ext uri="{FF2B5EF4-FFF2-40B4-BE49-F238E27FC236}">
                <a16:creationId xmlns:a16="http://schemas.microsoft.com/office/drawing/2014/main" id="{26487D6C-A6AA-BA28-6B36-8DD763247E7E}"/>
              </a:ext>
            </a:extLst>
          </p:cNvPr>
          <p:cNvSpPr txBox="1"/>
          <p:nvPr/>
        </p:nvSpPr>
        <p:spPr>
          <a:xfrm>
            <a:off x="2082498" y="9406707"/>
            <a:ext cx="11358861" cy="3877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</a:p>
        </p:txBody>
      </p:sp>
      <p:sp>
        <p:nvSpPr>
          <p:cNvPr id="7" name="default_name">
            <a:extLst>
              <a:ext uri="{FF2B5EF4-FFF2-40B4-BE49-F238E27FC236}">
                <a16:creationId xmlns:a16="http://schemas.microsoft.com/office/drawing/2014/main" id="{779B4DCB-4E9F-32F4-71E4-0E0B66856854}"/>
              </a:ext>
            </a:extLst>
          </p:cNvPr>
          <p:cNvSpPr txBox="1"/>
          <p:nvPr/>
        </p:nvSpPr>
        <p:spPr>
          <a:xfrm>
            <a:off x="14828246" y="9504734"/>
            <a:ext cx="13006016" cy="4431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ru-RU" sz="3600" dirty="0">
              <a:latin typeface="Arial" panose="020B0604020202020204" pitchFamily="34" charset="0"/>
            </a:endParaRPr>
          </a:p>
        </p:txBody>
      </p:sp>
      <p:sp>
        <p:nvSpPr>
          <p:cNvPr id="9" name="default_name">
            <a:extLst>
              <a:ext uri="{FF2B5EF4-FFF2-40B4-BE49-F238E27FC236}">
                <a16:creationId xmlns:a16="http://schemas.microsoft.com/office/drawing/2014/main" id="{A6DC43E7-88E6-DEEC-77C6-81373E33641C}"/>
              </a:ext>
            </a:extLst>
          </p:cNvPr>
          <p:cNvSpPr txBox="1"/>
          <p:nvPr/>
        </p:nvSpPr>
        <p:spPr>
          <a:xfrm>
            <a:off x="29109929" y="9406707"/>
            <a:ext cx="12219782" cy="1661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614034">
              <a:defRPr sz="4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</a:p>
        </p:txBody>
      </p:sp>
      <p:sp>
        <p:nvSpPr>
          <p:cNvPr id="10" name="default_name">
            <a:extLst>
              <a:ext uri="{FF2B5EF4-FFF2-40B4-BE49-F238E27FC236}">
                <a16:creationId xmlns:a16="http://schemas.microsoft.com/office/drawing/2014/main" id="{AF9E4EF9-39CB-4EAF-1EE7-774C43D6C944}"/>
              </a:ext>
            </a:extLst>
          </p:cNvPr>
          <p:cNvSpPr txBox="1"/>
          <p:nvPr/>
        </p:nvSpPr>
        <p:spPr>
          <a:xfrm>
            <a:off x="2331998" y="27128245"/>
            <a:ext cx="15237862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614034">
              <a:defRPr sz="4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 lang="ru-RU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INTRO_Subhead"/>
          <p:cNvSpPr txBox="1"/>
          <p:nvPr/>
        </p:nvSpPr>
        <p:spPr>
          <a:xfrm>
            <a:off x="2240280" y="9418320"/>
            <a:ext cx="112928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Semantic ID и исследовательский вопрос</a:t>
            </a:r>
          </a:p>
        </p:txBody>
      </p:sp>
      <p:sp>
        <p:nvSpPr>
          <p:cNvPr id="40" name="INTRO_Definition"/>
          <p:cNvSpPr txBox="1"/>
          <p:nvPr/>
        </p:nvSpPr>
        <p:spPr>
          <a:xfrm>
            <a:off x="2240280" y="9985248"/>
            <a:ext cx="11292840" cy="1600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Semantic IDs — дискретное представление объектов в генеративных рекомендательных системах.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Внутреннее качество SID не обязательно связано с качеством итоговой модели.</a:t>
            </a:r>
          </a:p>
        </p:txBody>
      </p:sp>
      <p:sp>
        <p:nvSpPr>
          <p:cNvPr id="41" name="INTRO_ResearchQuestion"/>
          <p:cNvSpPr txBox="1"/>
          <p:nvPr/>
        </p:nvSpPr>
        <p:spPr>
          <a:xfrm>
            <a:off x="2240280" y="11750040"/>
            <a:ext cx="11292840" cy="1965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11116"/>
                </a:solidFill>
                <a:latin typeface="Arial"/>
              </a:rPr>
              <a:t>Какие свойства Semantic ID действительно отражаются на downstream-метриках рекомендательной системы?</a:t>
            </a:r>
          </a:p>
        </p:txBody>
      </p:sp>
      <p:cxnSp>
        <p:nvCxnSpPr>
          <p:cNvPr id="42" name="INTRO_QuestionUnderline"/>
          <p:cNvCxnSpPr/>
          <p:nvPr/>
        </p:nvCxnSpPr>
        <p:spPr>
          <a:xfrm>
            <a:off x="2240280" y="13670280"/>
            <a:ext cx="6949440" cy="0"/>
          </a:xfrm>
          <a:prstGeom prst="line">
            <a:avLst/>
          </a:prstGeom>
          <a:ln w="50800">
            <a:solidFill>
              <a:srgbClr val="2AE8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INTRO_GoalHead"/>
          <p:cNvSpPr txBox="1"/>
          <p:nvPr/>
        </p:nvSpPr>
        <p:spPr>
          <a:xfrm>
            <a:off x="2240280" y="13990320"/>
            <a:ext cx="112928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Цель</a:t>
            </a:r>
          </a:p>
        </p:txBody>
      </p:sp>
      <p:sp>
        <p:nvSpPr>
          <p:cNvPr id="44" name="INTRO_GoalBody"/>
          <p:cNvSpPr txBox="1"/>
          <p:nvPr/>
        </p:nvSpPr>
        <p:spPr>
          <a:xfrm>
            <a:off x="2240280" y="14502384"/>
            <a:ext cx="1129284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• Сравнить способы построения SID.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• Проверить связь SID-метрик с downstream-качеством.</a:t>
            </a:r>
          </a:p>
        </p:txBody>
      </p:sp>
      <p:sp>
        <p:nvSpPr>
          <p:cNvPr id="45" name="INTRO_ContextHead"/>
          <p:cNvSpPr txBox="1"/>
          <p:nvPr/>
        </p:nvSpPr>
        <p:spPr>
          <a:xfrm>
            <a:off x="2240280" y="15819120"/>
            <a:ext cx="112928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Экспериментальный контекст</a:t>
            </a:r>
          </a:p>
        </p:txBody>
      </p:sp>
      <p:sp>
        <p:nvSpPr>
          <p:cNvPr id="46" name="INTRO_ContextLabel_0"/>
          <p:cNvSpPr txBox="1"/>
          <p:nvPr/>
        </p:nvSpPr>
        <p:spPr>
          <a:xfrm>
            <a:off x="2240280" y="16367759"/>
            <a:ext cx="30632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Dataset</a:t>
            </a:r>
          </a:p>
        </p:txBody>
      </p:sp>
      <p:sp>
        <p:nvSpPr>
          <p:cNvPr id="47" name="INTRO_ContextValue_0"/>
          <p:cNvSpPr txBox="1"/>
          <p:nvPr/>
        </p:nvSpPr>
        <p:spPr>
          <a:xfrm>
            <a:off x="5486400" y="16367759"/>
            <a:ext cx="804672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Yambda-50M, time split</a:t>
            </a:r>
          </a:p>
        </p:txBody>
      </p:sp>
      <p:cxnSp>
        <p:nvCxnSpPr>
          <p:cNvPr id="48" name="INTRO_ContextRule_0"/>
          <p:cNvCxnSpPr/>
          <p:nvPr/>
        </p:nvCxnSpPr>
        <p:spPr>
          <a:xfrm>
            <a:off x="2240280" y="16934688"/>
            <a:ext cx="11292840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NTRO_ContextLabel_1"/>
          <p:cNvSpPr txBox="1"/>
          <p:nvPr/>
        </p:nvSpPr>
        <p:spPr>
          <a:xfrm>
            <a:off x="2240280" y="16989552"/>
            <a:ext cx="30632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Generation</a:t>
            </a:r>
          </a:p>
        </p:txBody>
      </p:sp>
      <p:sp>
        <p:nvSpPr>
          <p:cNvPr id="50" name="INTRO_ContextValue_1"/>
          <p:cNvSpPr txBox="1"/>
          <p:nvPr/>
        </p:nvSpPr>
        <p:spPr>
          <a:xfrm>
            <a:off x="5486400" y="16989552"/>
            <a:ext cx="804672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TIGER vs SASRec</a:t>
            </a:r>
          </a:p>
        </p:txBody>
      </p:sp>
      <p:cxnSp>
        <p:nvCxnSpPr>
          <p:cNvPr id="51" name="INTRO_ContextRule_1"/>
          <p:cNvCxnSpPr/>
          <p:nvPr/>
        </p:nvCxnSpPr>
        <p:spPr>
          <a:xfrm>
            <a:off x="2240280" y="17556480"/>
            <a:ext cx="11292840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NTRO_ContextLabel_2"/>
          <p:cNvSpPr txBox="1"/>
          <p:nvPr/>
        </p:nvSpPr>
        <p:spPr>
          <a:xfrm>
            <a:off x="2240280" y="17611344"/>
            <a:ext cx="30632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Ranking</a:t>
            </a:r>
          </a:p>
        </p:txBody>
      </p:sp>
      <p:sp>
        <p:nvSpPr>
          <p:cNvPr id="53" name="INTRO_ContextValue_2"/>
          <p:cNvSpPr txBox="1"/>
          <p:nvPr/>
        </p:nvSpPr>
        <p:spPr>
          <a:xfrm>
            <a:off x="5486400" y="17611344"/>
            <a:ext cx="804672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DCNv2 / TransAct-like</a:t>
            </a:r>
          </a:p>
        </p:txBody>
      </p:sp>
      <p:cxnSp>
        <p:nvCxnSpPr>
          <p:cNvPr id="54" name="INTRO_ContextRule_2"/>
          <p:cNvCxnSpPr/>
          <p:nvPr/>
        </p:nvCxnSpPr>
        <p:spPr>
          <a:xfrm>
            <a:off x="2240280" y="18178272"/>
            <a:ext cx="11292840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NTRO_ContextLabel_3"/>
          <p:cNvSpPr txBox="1"/>
          <p:nvPr/>
        </p:nvSpPr>
        <p:spPr>
          <a:xfrm>
            <a:off x="2240280" y="18233135"/>
            <a:ext cx="30632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Gen. metric</a:t>
            </a:r>
          </a:p>
        </p:txBody>
      </p:sp>
      <p:sp>
        <p:nvSpPr>
          <p:cNvPr id="56" name="INTRO_ContextValue_3"/>
          <p:cNvSpPr txBox="1"/>
          <p:nvPr/>
        </p:nvSpPr>
        <p:spPr>
          <a:xfrm>
            <a:off x="5486400" y="18233135"/>
            <a:ext cx="804672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Recall@100</a:t>
            </a:r>
          </a:p>
        </p:txBody>
      </p:sp>
      <p:cxnSp>
        <p:nvCxnSpPr>
          <p:cNvPr id="57" name="INTRO_ContextRule_3"/>
          <p:cNvCxnSpPr/>
          <p:nvPr/>
        </p:nvCxnSpPr>
        <p:spPr>
          <a:xfrm>
            <a:off x="2240280" y="18800064"/>
            <a:ext cx="11292840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INTRO_ContextLabel_4"/>
          <p:cNvSpPr txBox="1"/>
          <p:nvPr/>
        </p:nvSpPr>
        <p:spPr>
          <a:xfrm>
            <a:off x="2240280" y="18854927"/>
            <a:ext cx="30632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Rank. metrics</a:t>
            </a:r>
          </a:p>
        </p:txBody>
      </p:sp>
      <p:sp>
        <p:nvSpPr>
          <p:cNvPr id="59" name="INTRO_ContextValue_4"/>
          <p:cNvSpPr txBox="1"/>
          <p:nvPr/>
        </p:nvSpPr>
        <p:spPr>
          <a:xfrm>
            <a:off x="5486400" y="18854927"/>
            <a:ext cx="804672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ROC-AUC · Pairwise Accuracy</a:t>
            </a:r>
          </a:p>
        </p:txBody>
      </p:sp>
      <p:sp>
        <p:nvSpPr>
          <p:cNvPr id="60" name="INTRO_MetricsHead"/>
          <p:cNvSpPr txBox="1"/>
          <p:nvPr/>
        </p:nvSpPr>
        <p:spPr>
          <a:xfrm>
            <a:off x="2240280" y="19677888"/>
            <a:ext cx="112928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Ключевые SID-метрики</a:t>
            </a:r>
          </a:p>
        </p:txBody>
      </p:sp>
      <p:sp>
        <p:nvSpPr>
          <p:cNvPr id="61" name="INTRO_ICR"/>
          <p:cNvSpPr txBox="1"/>
          <p:nvPr/>
        </p:nvSpPr>
        <p:spPr>
          <a:xfrm>
            <a:off x="2240280" y="20208240"/>
            <a:ext cx="11292840" cy="1691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87C48"/>
                </a:solidFill>
                <a:latin typeface="Arial"/>
              </a:rPr>
              <a:t>Independent Code Rate (ICR)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ICR = unique used codes / n_items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Чем ближе к 1, тем меньше объектов разделяют один SID.</a:t>
            </a:r>
          </a:p>
        </p:txBody>
      </p:sp>
      <p:sp>
        <p:nvSpPr>
          <p:cNvPr id="62" name="INTRO_IntraCode"/>
          <p:cNvSpPr txBox="1"/>
          <p:nvPr/>
        </p:nvSpPr>
        <p:spPr>
          <a:xfrm>
            <a:off x="2240280" y="22146768"/>
            <a:ext cx="11292840" cy="1920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87C48"/>
                </a:solidFill>
                <a:latin typeface="Arial"/>
              </a:rPr>
              <a:t>Intra-code Similarity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Средняя семантическая близость объектов внутри одного кода.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Чем выше значение, тем семантически однороднее группа.</a:t>
            </a:r>
          </a:p>
        </p:txBody>
      </p:sp>
      <p:sp>
        <p:nvSpPr>
          <p:cNvPr id="63" name="METHODS_LogicHead"/>
          <p:cNvSpPr txBox="1"/>
          <p:nvPr/>
        </p:nvSpPr>
        <p:spPr>
          <a:xfrm>
            <a:off x="14859000" y="9418320"/>
            <a:ext cx="12847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Логика эксперимента</a:t>
            </a:r>
          </a:p>
        </p:txBody>
      </p:sp>
      <p:sp>
        <p:nvSpPr>
          <p:cNvPr id="64" name="METHODS_LogicSID"/>
          <p:cNvSpPr/>
          <p:nvPr/>
        </p:nvSpPr>
        <p:spPr>
          <a:xfrm>
            <a:off x="14859000" y="9985248"/>
            <a:ext cx="3474720" cy="1188720"/>
          </a:xfrm>
          <a:prstGeom prst="rect">
            <a:avLst/>
          </a:prstGeom>
          <a:solidFill>
            <a:srgbClr val="F2EFFF"/>
          </a:solidFill>
          <a:ln w="19050">
            <a:solidFill>
              <a:srgbClr val="D5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Построение
Semantic ID</a:t>
            </a:r>
          </a:p>
        </p:txBody>
      </p:sp>
      <p:sp>
        <p:nvSpPr>
          <p:cNvPr id="65" name="METHODS_LogicArrow1"/>
          <p:cNvSpPr txBox="1"/>
          <p:nvPr/>
        </p:nvSpPr>
        <p:spPr>
          <a:xfrm>
            <a:off x="18452592" y="10305288"/>
            <a:ext cx="347472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66" name="METHODS_LogicModels"/>
          <p:cNvSpPr/>
          <p:nvPr/>
        </p:nvSpPr>
        <p:spPr>
          <a:xfrm>
            <a:off x="18790920" y="9985248"/>
            <a:ext cx="36576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5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TIGER / DCNv2 /
TransAct-like</a:t>
            </a:r>
          </a:p>
        </p:txBody>
      </p:sp>
      <p:sp>
        <p:nvSpPr>
          <p:cNvPr id="67" name="METHODS_LogicArrow2"/>
          <p:cNvSpPr txBox="1"/>
          <p:nvPr/>
        </p:nvSpPr>
        <p:spPr>
          <a:xfrm>
            <a:off x="22567392" y="10305288"/>
            <a:ext cx="347472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68" name="METHODS_LogicMetrics"/>
          <p:cNvSpPr/>
          <p:nvPr/>
        </p:nvSpPr>
        <p:spPr>
          <a:xfrm>
            <a:off x="22924008" y="9985248"/>
            <a:ext cx="4736592" cy="1188720"/>
          </a:xfrm>
          <a:prstGeom prst="rect">
            <a:avLst/>
          </a:prstGeom>
          <a:solidFill>
            <a:srgbClr val="F2EFFF"/>
          </a:solidFill>
          <a:ln w="19050">
            <a:solidFill>
              <a:srgbClr val="D5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Recall@100 · ROC-AUC
Pairwise Accuracy</a:t>
            </a:r>
          </a:p>
        </p:txBody>
      </p:sp>
      <p:sp>
        <p:nvSpPr>
          <p:cNvPr id="69" name="METHODS_BalancedHead"/>
          <p:cNvSpPr txBox="1"/>
          <p:nvPr/>
        </p:nvSpPr>
        <p:spPr>
          <a:xfrm>
            <a:off x="14859000" y="11475720"/>
            <a:ext cx="12847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Balanced RQ-KMeans</a:t>
            </a:r>
          </a:p>
        </p:txBody>
      </p:sp>
      <p:sp>
        <p:nvSpPr>
          <p:cNvPr id="70" name="METHODS_BalancedStep_1"/>
          <p:cNvSpPr/>
          <p:nvPr/>
        </p:nvSpPr>
        <p:spPr>
          <a:xfrm>
            <a:off x="14859000" y="11996928"/>
            <a:ext cx="2907792" cy="1901952"/>
          </a:xfrm>
          <a:prstGeom prst="rect">
            <a:avLst/>
          </a:prstGeom>
          <a:solidFill>
            <a:srgbClr val="F2EFFF"/>
          </a:solidFill>
          <a:ln w="19050">
            <a:solidFill>
              <a:srgbClr val="D5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1
K кластеров
w = ⌊|V| / K⌋</a:t>
            </a:r>
          </a:p>
        </p:txBody>
      </p:sp>
      <p:sp>
        <p:nvSpPr>
          <p:cNvPr id="71" name="METHODS_BalancedArrow_1"/>
          <p:cNvSpPr txBox="1"/>
          <p:nvPr/>
        </p:nvSpPr>
        <p:spPr>
          <a:xfrm>
            <a:off x="17812512" y="12682728"/>
            <a:ext cx="283464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72" name="METHODS_BalancedStep_2"/>
          <p:cNvSpPr/>
          <p:nvPr/>
        </p:nvSpPr>
        <p:spPr>
          <a:xfrm>
            <a:off x="18123408" y="11996928"/>
            <a:ext cx="2907792" cy="1901952"/>
          </a:xfrm>
          <a:prstGeom prst="rect">
            <a:avLst/>
          </a:prstGeom>
          <a:solidFill>
            <a:srgbClr val="FFFFFF"/>
          </a:solidFill>
          <a:ln w="19050">
            <a:solidFill>
              <a:srgbClr val="D5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2
Назначить
ближайшие w</a:t>
            </a:r>
          </a:p>
        </p:txBody>
      </p:sp>
      <p:sp>
        <p:nvSpPr>
          <p:cNvPr id="73" name="METHODS_BalancedArrow_2"/>
          <p:cNvSpPr txBox="1"/>
          <p:nvPr/>
        </p:nvSpPr>
        <p:spPr>
          <a:xfrm>
            <a:off x="21076920" y="12682728"/>
            <a:ext cx="283464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74" name="METHODS_BalancedStep_3"/>
          <p:cNvSpPr/>
          <p:nvPr/>
        </p:nvSpPr>
        <p:spPr>
          <a:xfrm>
            <a:off x="21387816" y="11996928"/>
            <a:ext cx="2907792" cy="1901952"/>
          </a:xfrm>
          <a:prstGeom prst="rect">
            <a:avLst/>
          </a:prstGeom>
          <a:solidFill>
            <a:srgbClr val="F2EFFF"/>
          </a:solidFill>
          <a:ln w="19050">
            <a:solidFill>
              <a:srgbClr val="D5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3
Удалить;
обновить центр</a:t>
            </a:r>
          </a:p>
        </p:txBody>
      </p:sp>
      <p:sp>
        <p:nvSpPr>
          <p:cNvPr id="75" name="METHODS_BalancedArrow_3"/>
          <p:cNvSpPr txBox="1"/>
          <p:nvPr/>
        </p:nvSpPr>
        <p:spPr>
          <a:xfrm>
            <a:off x="24341328" y="12682728"/>
            <a:ext cx="283464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76" name="METHODS_BalancedStep_4"/>
          <p:cNvSpPr/>
          <p:nvPr/>
        </p:nvSpPr>
        <p:spPr>
          <a:xfrm>
            <a:off x="24652224" y="11996928"/>
            <a:ext cx="2907792" cy="1901952"/>
          </a:xfrm>
          <a:prstGeom prst="rect">
            <a:avLst/>
          </a:prstGeom>
          <a:solidFill>
            <a:srgbClr val="FFFFFF"/>
          </a:solidFill>
          <a:ln w="19050">
            <a:solidFill>
              <a:srgbClr val="D5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4
Повторить до
сходимости</a:t>
            </a:r>
          </a:p>
        </p:txBody>
      </p:sp>
      <p:sp>
        <p:nvSpPr>
          <p:cNvPr id="77" name="METHODS_RQVAEHead"/>
          <p:cNvSpPr txBox="1"/>
          <p:nvPr/>
        </p:nvSpPr>
        <p:spPr>
          <a:xfrm>
            <a:off x="14859000" y="14154912"/>
            <a:ext cx="12847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RQ-VAE</a:t>
            </a:r>
          </a:p>
        </p:txBody>
      </p:sp>
      <p:sp>
        <p:nvSpPr>
          <p:cNvPr id="78" name="METHODS_RQVAEBox_1"/>
          <p:cNvSpPr/>
          <p:nvPr/>
        </p:nvSpPr>
        <p:spPr>
          <a:xfrm>
            <a:off x="14859000" y="14685263"/>
            <a:ext cx="214884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5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Encoder</a:t>
            </a:r>
          </a:p>
        </p:txBody>
      </p:sp>
      <p:sp>
        <p:nvSpPr>
          <p:cNvPr id="79" name="METHODS_RQVAEArrow_1"/>
          <p:cNvSpPr txBox="1"/>
          <p:nvPr/>
        </p:nvSpPr>
        <p:spPr>
          <a:xfrm>
            <a:off x="17090136" y="15115032"/>
            <a:ext cx="338328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80" name="METHODS_RQVAEBox_2"/>
          <p:cNvSpPr/>
          <p:nvPr/>
        </p:nvSpPr>
        <p:spPr>
          <a:xfrm>
            <a:off x="17510760" y="14685263"/>
            <a:ext cx="3931920" cy="1417320"/>
          </a:xfrm>
          <a:prstGeom prst="rect">
            <a:avLst/>
          </a:prstGeom>
          <a:solidFill>
            <a:srgbClr val="F2EFFF"/>
          </a:solidFill>
          <a:ln w="19050">
            <a:solidFill>
              <a:srgbClr val="D5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Residual
codebooks 1…L</a:t>
            </a:r>
          </a:p>
        </p:txBody>
      </p:sp>
      <p:sp>
        <p:nvSpPr>
          <p:cNvPr id="81" name="METHODS_RQVAEArrow_2"/>
          <p:cNvSpPr txBox="1"/>
          <p:nvPr/>
        </p:nvSpPr>
        <p:spPr>
          <a:xfrm>
            <a:off x="21524976" y="15115032"/>
            <a:ext cx="338328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82" name="METHODS_RQVAEBox_3"/>
          <p:cNvSpPr/>
          <p:nvPr/>
        </p:nvSpPr>
        <p:spPr>
          <a:xfrm>
            <a:off x="21945600" y="14685263"/>
            <a:ext cx="3429000" cy="1417320"/>
          </a:xfrm>
          <a:prstGeom prst="rect">
            <a:avLst/>
          </a:prstGeom>
          <a:solidFill>
            <a:srgbClr val="F2EFFF"/>
          </a:solidFill>
          <a:ln w="19050">
            <a:solidFill>
              <a:srgbClr val="D5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Quantized
representation</a:t>
            </a:r>
          </a:p>
        </p:txBody>
      </p:sp>
      <p:sp>
        <p:nvSpPr>
          <p:cNvPr id="83" name="METHODS_RQVAEArrow_3"/>
          <p:cNvSpPr txBox="1"/>
          <p:nvPr/>
        </p:nvSpPr>
        <p:spPr>
          <a:xfrm>
            <a:off x="25456896" y="15115032"/>
            <a:ext cx="338328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84" name="METHODS_RQVAEBox_4"/>
          <p:cNvSpPr/>
          <p:nvPr/>
        </p:nvSpPr>
        <p:spPr>
          <a:xfrm>
            <a:off x="25877520" y="14685263"/>
            <a:ext cx="214884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5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Decoder</a:t>
            </a:r>
          </a:p>
        </p:txBody>
      </p:sp>
      <p:sp>
        <p:nvSpPr>
          <p:cNvPr id="85" name="METHODS_RQVAENote"/>
          <p:cNvSpPr txBox="1"/>
          <p:nvPr/>
        </p:nvSpPr>
        <p:spPr>
          <a:xfrm>
            <a:off x="14859000" y="16230600"/>
            <a:ext cx="12847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524D61"/>
                </a:solidFill>
                <a:latin typeface="Arial"/>
              </a:rPr>
              <a:t>Остаток → codebooks 1…L → сумма кодов.</a:t>
            </a:r>
          </a:p>
        </p:txBody>
      </p:sp>
      <p:sp>
        <p:nvSpPr>
          <p:cNvPr id="86" name="METHODS_UserAwareHead"/>
          <p:cNvSpPr txBox="1"/>
          <p:nvPr/>
        </p:nvSpPr>
        <p:spPr>
          <a:xfrm>
            <a:off x="14859000" y="16843248"/>
            <a:ext cx="12847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User-aware</a:t>
            </a:r>
          </a:p>
        </p:txBody>
      </p:sp>
      <p:sp>
        <p:nvSpPr>
          <p:cNvPr id="87" name="METHODS_UserAwareBox_1"/>
          <p:cNvSpPr/>
          <p:nvPr/>
        </p:nvSpPr>
        <p:spPr>
          <a:xfrm>
            <a:off x="14859000" y="17373600"/>
            <a:ext cx="283464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5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User + item
embedding</a:t>
            </a:r>
          </a:p>
        </p:txBody>
      </p:sp>
      <p:sp>
        <p:nvSpPr>
          <p:cNvPr id="88" name="METHODS_UserAwareArrow_1"/>
          <p:cNvSpPr txBox="1"/>
          <p:nvPr/>
        </p:nvSpPr>
        <p:spPr>
          <a:xfrm>
            <a:off x="17766792" y="17812512"/>
            <a:ext cx="3200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89" name="METHODS_UserAwareBox_2"/>
          <p:cNvSpPr/>
          <p:nvPr/>
        </p:nvSpPr>
        <p:spPr>
          <a:xfrm>
            <a:off x="18150840" y="17373600"/>
            <a:ext cx="2697480" cy="1417320"/>
          </a:xfrm>
          <a:prstGeom prst="rect">
            <a:avLst/>
          </a:prstGeom>
          <a:solidFill>
            <a:srgbClr val="F2EFFF"/>
          </a:solidFill>
          <a:ln w="19050">
            <a:solidFill>
              <a:srgbClr val="D5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User-aware
network</a:t>
            </a:r>
          </a:p>
        </p:txBody>
      </p:sp>
      <p:sp>
        <p:nvSpPr>
          <p:cNvPr id="90" name="METHODS_UserAwareArrow_2"/>
          <p:cNvSpPr txBox="1"/>
          <p:nvPr/>
        </p:nvSpPr>
        <p:spPr>
          <a:xfrm>
            <a:off x="20921472" y="17812512"/>
            <a:ext cx="3200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91" name="METHODS_UserAwareBox_3"/>
          <p:cNvSpPr/>
          <p:nvPr/>
        </p:nvSpPr>
        <p:spPr>
          <a:xfrm>
            <a:off x="21305520" y="17373600"/>
            <a:ext cx="3749039" cy="1417320"/>
          </a:xfrm>
          <a:prstGeom prst="rect">
            <a:avLst/>
          </a:prstGeom>
          <a:solidFill>
            <a:srgbClr val="F2EFFF"/>
          </a:solidFill>
          <a:ln w="19050">
            <a:solidFill>
              <a:srgbClr val="D5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User-aware SID
RQ-KMeans / RQ-VAE</a:t>
            </a:r>
          </a:p>
        </p:txBody>
      </p:sp>
      <p:sp>
        <p:nvSpPr>
          <p:cNvPr id="92" name="METHODS_UserAwareArrow_3"/>
          <p:cNvSpPr txBox="1"/>
          <p:nvPr/>
        </p:nvSpPr>
        <p:spPr>
          <a:xfrm>
            <a:off x="25127711" y="17812512"/>
            <a:ext cx="3200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93" name="METHODS_UserAwareBox_4"/>
          <p:cNvSpPr/>
          <p:nvPr/>
        </p:nvSpPr>
        <p:spPr>
          <a:xfrm>
            <a:off x="25511760" y="17373600"/>
            <a:ext cx="24688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5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Canonical
SID target</a:t>
            </a:r>
          </a:p>
        </p:txBody>
      </p:sp>
      <p:cxnSp>
        <p:nvCxnSpPr>
          <p:cNvPr id="94" name="METHODS_SummaryRule"/>
          <p:cNvCxnSpPr/>
          <p:nvPr/>
        </p:nvCxnSpPr>
        <p:spPr>
          <a:xfrm>
            <a:off x="14859000" y="19129248"/>
            <a:ext cx="12847320" cy="0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METHODS_Summary_1"/>
          <p:cNvSpPr txBox="1"/>
          <p:nvPr/>
        </p:nvSpPr>
        <p:spPr>
          <a:xfrm>
            <a:off x="14859000" y="19366992"/>
            <a:ext cx="62362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87C48"/>
                </a:solidFill>
                <a:latin typeface="Arial"/>
              </a:rPr>
              <a:t>PLUM-like</a:t>
            </a:r>
          </a:p>
          <a:p>
            <a:pPr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Кодов меньше с глубиной; случайный активный префикс. Полная глубина: p = 0.25.</a:t>
            </a:r>
          </a:p>
        </p:txBody>
      </p:sp>
      <p:sp>
        <p:nvSpPr>
          <p:cNvPr id="96" name="METHODS_Summary_2"/>
          <p:cNvSpPr txBox="1"/>
          <p:nvPr/>
        </p:nvSpPr>
        <p:spPr>
          <a:xfrm>
            <a:off x="21460968" y="19366992"/>
            <a:ext cx="62362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87C48"/>
                </a:solidFill>
                <a:latin typeface="Arial"/>
              </a:rPr>
              <a:t>R3-VAE</a:t>
            </a:r>
          </a:p>
          <a:p>
            <a:pPr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Опорный вектор задаёт якорь; скалярное произведение сохраняет градиент; SC/PD структурирует кластеры.</a:t>
            </a:r>
          </a:p>
        </p:txBody>
      </p:sp>
      <p:sp>
        <p:nvSpPr>
          <p:cNvPr id="97" name="METHODS_Summary_3"/>
          <p:cNvSpPr txBox="1"/>
          <p:nvPr/>
        </p:nvSpPr>
        <p:spPr>
          <a:xfrm>
            <a:off x="14859000" y="21790152"/>
            <a:ext cx="62362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87C48"/>
                </a:solidFill>
                <a:latin typeface="Arial"/>
              </a:rPr>
              <a:t>PSI</a:t>
            </a:r>
          </a:p>
          <a:p>
            <a:pPr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Коллизии устраняются без дополнительного токена. Сравниваются RRS и ECM.</a:t>
            </a:r>
          </a:p>
        </p:txBody>
      </p:sp>
      <p:sp>
        <p:nvSpPr>
          <p:cNvPr id="98" name="METHODS_Summary_4"/>
          <p:cNvSpPr txBox="1"/>
          <p:nvPr/>
        </p:nvSpPr>
        <p:spPr>
          <a:xfrm>
            <a:off x="21460968" y="21790152"/>
            <a:ext cx="62362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87C48"/>
                </a:solidFill>
                <a:latin typeface="Arial"/>
              </a:rPr>
              <a:t>LogQ</a:t>
            </a:r>
          </a:p>
          <a:p>
            <a:pPr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Логиты корректируются по частоте SID-префиксов; item-level loss — по частоте объектов.</a:t>
            </a:r>
          </a:p>
        </p:txBody>
      </p:sp>
      <p:sp>
        <p:nvSpPr>
          <p:cNvPr id="99" name="RESULTS_HeatmapHead"/>
          <p:cNvSpPr txBox="1"/>
          <p:nvPr/>
        </p:nvSpPr>
        <p:spPr>
          <a:xfrm>
            <a:off x="29059632" y="9418320"/>
            <a:ext cx="1260043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Корреляция SID-метрик с downstream</a:t>
            </a:r>
          </a:p>
        </p:txBody>
      </p:sp>
      <p:sp>
        <p:nvSpPr>
          <p:cNvPr id="100" name="RESULTS_HeatmapSubhead"/>
          <p:cNvSpPr txBox="1"/>
          <p:nvPr/>
        </p:nvSpPr>
        <p:spPr>
          <a:xfrm>
            <a:off x="29059632" y="9912096"/>
            <a:ext cx="12600432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524D61"/>
                </a:solidFill>
                <a:latin typeface="Arial"/>
              </a:rPr>
              <a:t>Pearson r · две ключевые SID-метрики</a:t>
            </a:r>
          </a:p>
        </p:txBody>
      </p:sp>
      <p:sp>
        <p:nvSpPr>
          <p:cNvPr id="101" name="RESULTS_HeatmapHeader_1"/>
          <p:cNvSpPr txBox="1"/>
          <p:nvPr/>
        </p:nvSpPr>
        <p:spPr>
          <a:xfrm>
            <a:off x="31391352" y="10369296"/>
            <a:ext cx="2053742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Recall
@100</a:t>
            </a:r>
          </a:p>
        </p:txBody>
      </p:sp>
      <p:sp>
        <p:nvSpPr>
          <p:cNvPr id="102" name="RESULTS_HeatmapHeader_2"/>
          <p:cNvSpPr txBox="1"/>
          <p:nvPr/>
        </p:nvSpPr>
        <p:spPr>
          <a:xfrm>
            <a:off x="33445094" y="10369296"/>
            <a:ext cx="2053742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DCNv2
Pairwise</a:t>
            </a:r>
          </a:p>
        </p:txBody>
      </p:sp>
      <p:sp>
        <p:nvSpPr>
          <p:cNvPr id="103" name="RESULTS_HeatmapHeader_3"/>
          <p:cNvSpPr txBox="1"/>
          <p:nvPr/>
        </p:nvSpPr>
        <p:spPr>
          <a:xfrm>
            <a:off x="35498836" y="10369296"/>
            <a:ext cx="2053742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DCNv2
ROC-AUC</a:t>
            </a:r>
          </a:p>
        </p:txBody>
      </p:sp>
      <p:sp>
        <p:nvSpPr>
          <p:cNvPr id="104" name="RESULTS_HeatmapHeader_4"/>
          <p:cNvSpPr txBox="1"/>
          <p:nvPr/>
        </p:nvSpPr>
        <p:spPr>
          <a:xfrm>
            <a:off x="37552579" y="10369296"/>
            <a:ext cx="2053742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TransAct
Pairwise</a:t>
            </a:r>
          </a:p>
        </p:txBody>
      </p:sp>
      <p:sp>
        <p:nvSpPr>
          <p:cNvPr id="105" name="RESULTS_HeatmapHeader_5"/>
          <p:cNvSpPr txBox="1"/>
          <p:nvPr/>
        </p:nvSpPr>
        <p:spPr>
          <a:xfrm>
            <a:off x="39606321" y="10369296"/>
            <a:ext cx="2053742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TransAct
ROC-AUC</a:t>
            </a:r>
          </a:p>
        </p:txBody>
      </p:sp>
      <p:sp>
        <p:nvSpPr>
          <p:cNvPr id="106" name="RESULTS_HeatmapRow_1"/>
          <p:cNvSpPr txBox="1"/>
          <p:nvPr/>
        </p:nvSpPr>
        <p:spPr>
          <a:xfrm>
            <a:off x="29059632" y="11320272"/>
            <a:ext cx="2258568" cy="8778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ICR</a:t>
            </a:r>
          </a:p>
        </p:txBody>
      </p:sp>
      <p:sp>
        <p:nvSpPr>
          <p:cNvPr id="107" name="RESULTS_HeatmapCell_1_1"/>
          <p:cNvSpPr/>
          <p:nvPr/>
        </p:nvSpPr>
        <p:spPr>
          <a:xfrm>
            <a:off x="31391352" y="11320272"/>
            <a:ext cx="2053742" cy="877824"/>
          </a:xfrm>
          <a:prstGeom prst="rect">
            <a:avLst/>
          </a:prstGeom>
          <a:solidFill>
            <a:srgbClr val="F18D7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0.55</a:t>
            </a:r>
          </a:p>
        </p:txBody>
      </p:sp>
      <p:sp>
        <p:nvSpPr>
          <p:cNvPr id="108" name="RESULTS_HeatmapCell_1_2"/>
          <p:cNvSpPr/>
          <p:nvPr/>
        </p:nvSpPr>
        <p:spPr>
          <a:xfrm>
            <a:off x="33445094" y="11320272"/>
            <a:ext cx="2053742" cy="877824"/>
          </a:xfrm>
          <a:prstGeom prst="rect">
            <a:avLst/>
          </a:prstGeom>
          <a:solidFill>
            <a:srgbClr val="F4B69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0.47</a:t>
            </a:r>
          </a:p>
        </p:txBody>
      </p:sp>
      <p:sp>
        <p:nvSpPr>
          <p:cNvPr id="109" name="RESULTS_HeatmapCell_1_3"/>
          <p:cNvSpPr/>
          <p:nvPr/>
        </p:nvSpPr>
        <p:spPr>
          <a:xfrm>
            <a:off x="35498836" y="11320272"/>
            <a:ext cx="2053742" cy="877824"/>
          </a:xfrm>
          <a:prstGeom prst="rect">
            <a:avLst/>
          </a:prstGeom>
          <a:solidFill>
            <a:srgbClr val="E5EC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-0.05</a:t>
            </a:r>
          </a:p>
        </p:txBody>
      </p:sp>
      <p:sp>
        <p:nvSpPr>
          <p:cNvPr id="110" name="RESULTS_HeatmapCell_1_4"/>
          <p:cNvSpPr/>
          <p:nvPr/>
        </p:nvSpPr>
        <p:spPr>
          <a:xfrm>
            <a:off x="37552579" y="11320272"/>
            <a:ext cx="2053742" cy="877824"/>
          </a:xfrm>
          <a:prstGeom prst="rect">
            <a:avLst/>
          </a:prstGeom>
          <a:solidFill>
            <a:srgbClr val="E5EC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-0.08</a:t>
            </a:r>
          </a:p>
        </p:txBody>
      </p:sp>
      <p:sp>
        <p:nvSpPr>
          <p:cNvPr id="111" name="RESULTS_HeatmapCell_1_5"/>
          <p:cNvSpPr/>
          <p:nvPr/>
        </p:nvSpPr>
        <p:spPr>
          <a:xfrm>
            <a:off x="39606321" y="11320272"/>
            <a:ext cx="2053742" cy="877824"/>
          </a:xfrm>
          <a:prstGeom prst="rect">
            <a:avLst/>
          </a:prstGeom>
          <a:solidFill>
            <a:srgbClr val="F9E5D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0.11</a:t>
            </a:r>
          </a:p>
        </p:txBody>
      </p:sp>
      <p:sp>
        <p:nvSpPr>
          <p:cNvPr id="112" name="RESULTS_HeatmapRow_2"/>
          <p:cNvSpPr txBox="1"/>
          <p:nvPr/>
        </p:nvSpPr>
        <p:spPr>
          <a:xfrm>
            <a:off x="29059632" y="12271248"/>
            <a:ext cx="2258568" cy="8778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Intra-code
Similarity</a:t>
            </a:r>
          </a:p>
        </p:txBody>
      </p:sp>
      <p:sp>
        <p:nvSpPr>
          <p:cNvPr id="113" name="RESULTS_HeatmapCell_2_1"/>
          <p:cNvSpPr/>
          <p:nvPr/>
        </p:nvSpPr>
        <p:spPr>
          <a:xfrm>
            <a:off x="31391352" y="12271248"/>
            <a:ext cx="2053742" cy="877824"/>
          </a:xfrm>
          <a:prstGeom prst="rect">
            <a:avLst/>
          </a:prstGeom>
          <a:solidFill>
            <a:srgbClr val="F7D3C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0.32</a:t>
            </a:r>
          </a:p>
        </p:txBody>
      </p:sp>
      <p:sp>
        <p:nvSpPr>
          <p:cNvPr id="114" name="RESULTS_HeatmapCell_2_2"/>
          <p:cNvSpPr/>
          <p:nvPr/>
        </p:nvSpPr>
        <p:spPr>
          <a:xfrm>
            <a:off x="33445094" y="12271248"/>
            <a:ext cx="2053742" cy="877824"/>
          </a:xfrm>
          <a:prstGeom prst="rect">
            <a:avLst/>
          </a:prstGeom>
          <a:solidFill>
            <a:srgbClr val="F7D3C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0.37</a:t>
            </a:r>
          </a:p>
        </p:txBody>
      </p:sp>
      <p:sp>
        <p:nvSpPr>
          <p:cNvPr id="115" name="RESULTS_HeatmapCell_2_3"/>
          <p:cNvSpPr/>
          <p:nvPr/>
        </p:nvSpPr>
        <p:spPr>
          <a:xfrm>
            <a:off x="35498836" y="12271248"/>
            <a:ext cx="2053742" cy="877824"/>
          </a:xfrm>
          <a:prstGeom prst="rect">
            <a:avLst/>
          </a:prstGeom>
          <a:solidFill>
            <a:srgbClr val="F9E5D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0.18</a:t>
            </a:r>
          </a:p>
        </p:txBody>
      </p:sp>
      <p:sp>
        <p:nvSpPr>
          <p:cNvPr id="116" name="RESULTS_HeatmapCell_2_4"/>
          <p:cNvSpPr/>
          <p:nvPr/>
        </p:nvSpPr>
        <p:spPr>
          <a:xfrm>
            <a:off x="37552579" y="12271248"/>
            <a:ext cx="2053742" cy="877824"/>
          </a:xfrm>
          <a:prstGeom prst="rect">
            <a:avLst/>
          </a:prstGeom>
          <a:solidFill>
            <a:srgbClr val="D8E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-0.13</a:t>
            </a:r>
          </a:p>
        </p:txBody>
      </p:sp>
      <p:sp>
        <p:nvSpPr>
          <p:cNvPr id="117" name="RESULTS_HeatmapCell_2_5"/>
          <p:cNvSpPr/>
          <p:nvPr/>
        </p:nvSpPr>
        <p:spPr>
          <a:xfrm>
            <a:off x="39606321" y="12271248"/>
            <a:ext cx="2053742" cy="877824"/>
          </a:xfrm>
          <a:prstGeom prst="rect">
            <a:avLst/>
          </a:prstGeom>
          <a:solidFill>
            <a:srgbClr val="E5EC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-0.05</a:t>
            </a:r>
          </a:p>
        </p:txBody>
      </p:sp>
      <p:sp>
        <p:nvSpPr>
          <p:cNvPr id="118" name="RESULTS_HeatmapNote"/>
          <p:cNvSpPr txBox="1"/>
          <p:nvPr/>
        </p:nvSpPr>
        <p:spPr>
          <a:xfrm>
            <a:off x="29059632" y="13304520"/>
            <a:ext cx="12600432" cy="6766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524D61"/>
                </a:solidFill>
                <a:latin typeface="Arial"/>
              </a:rPr>
              <a:t>Наибольшие |r| — для Recall@100 и DCNv2 Pairwise. Корреляция не означает причинность.</a:t>
            </a:r>
          </a:p>
        </p:txBody>
      </p:sp>
      <p:sp>
        <p:nvSpPr>
          <p:cNvPr id="119" name="RESULTS_Task_1"/>
          <p:cNvSpPr txBox="1"/>
          <p:nvPr/>
        </p:nvSpPr>
        <p:spPr>
          <a:xfrm>
            <a:off x="29059632" y="14337792"/>
            <a:ext cx="2743200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GENERATION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Recall@100</a:t>
            </a:r>
          </a:p>
        </p:txBody>
      </p:sp>
      <p:sp>
        <p:nvSpPr>
          <p:cNvPr id="120" name="RESULTS_Baseline_1"/>
          <p:cNvSpPr txBox="1"/>
          <p:nvPr/>
        </p:nvSpPr>
        <p:spPr>
          <a:xfrm>
            <a:off x="31939992" y="14319504"/>
            <a:ext cx="2788920" cy="2788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Baseline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4600" b="1" i="0">
                <a:solidFill>
                  <a:srgbClr val="111116"/>
                </a:solidFill>
                <a:latin typeface="Arial"/>
              </a:rPr>
              <a:t>0.12303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SASRec-Audio-Uniform</a:t>
            </a:r>
          </a:p>
        </p:txBody>
      </p:sp>
      <p:sp>
        <p:nvSpPr>
          <p:cNvPr id="121" name="RESULTS_Best_1"/>
          <p:cNvSpPr txBox="1"/>
          <p:nvPr/>
        </p:nvSpPr>
        <p:spPr>
          <a:xfrm>
            <a:off x="34847784" y="14319504"/>
            <a:ext cx="4224528" cy="2788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Лучший SID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4600" b="1" i="0">
                <a:solidFill>
                  <a:srgbClr val="111116"/>
                </a:solidFill>
                <a:latin typeface="Arial"/>
              </a:rPr>
              <a:t>0.14138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RQVAE + item LogQ
L=2, C=256</a:t>
            </a:r>
          </a:p>
        </p:txBody>
      </p:sp>
      <p:sp>
        <p:nvSpPr>
          <p:cNvPr id="122" name="RESULTS_Delta_1"/>
          <p:cNvSpPr txBox="1"/>
          <p:nvPr/>
        </p:nvSpPr>
        <p:spPr>
          <a:xfrm>
            <a:off x="39191184" y="14484096"/>
            <a:ext cx="2395728" cy="2240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Δ</a:t>
            </a:r>
          </a:p>
          <a:p>
            <a:pPr algn="r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5200" b="1" i="0">
                <a:solidFill>
                  <a:srgbClr val="087C48"/>
                </a:solidFill>
                <a:latin typeface="Arial"/>
              </a:rPr>
              <a:t>+14.9%</a:t>
            </a:r>
          </a:p>
        </p:txBody>
      </p:sp>
      <p:cxnSp>
        <p:nvCxnSpPr>
          <p:cNvPr id="123" name="RESULTS_ResultRule_1"/>
          <p:cNvCxnSpPr/>
          <p:nvPr/>
        </p:nvCxnSpPr>
        <p:spPr>
          <a:xfrm>
            <a:off x="29059632" y="17410176"/>
            <a:ext cx="12600432" cy="0"/>
          </a:xfrm>
          <a:prstGeom prst="line">
            <a:avLst/>
          </a:prstGeom>
          <a:ln w="2032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SULTS_Task_2"/>
          <p:cNvSpPr txBox="1"/>
          <p:nvPr/>
        </p:nvSpPr>
        <p:spPr>
          <a:xfrm>
            <a:off x="29059632" y="17611344"/>
            <a:ext cx="2743200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RANKING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DCNv2 · Pairwise Accuracy</a:t>
            </a:r>
          </a:p>
        </p:txBody>
      </p:sp>
      <p:sp>
        <p:nvSpPr>
          <p:cNvPr id="125" name="RESULTS_Baseline_2"/>
          <p:cNvSpPr txBox="1"/>
          <p:nvPr/>
        </p:nvSpPr>
        <p:spPr>
          <a:xfrm>
            <a:off x="31939992" y="17593056"/>
            <a:ext cx="2788920" cy="2788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Baseline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4600" b="1" i="0">
                <a:solidFill>
                  <a:srgbClr val="111116"/>
                </a:solidFill>
                <a:latin typeface="Arial"/>
              </a:rPr>
              <a:t>0.54914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DCNv2 item-only</a:t>
            </a:r>
          </a:p>
        </p:txBody>
      </p:sp>
      <p:sp>
        <p:nvSpPr>
          <p:cNvPr id="126" name="RESULTS_Best_2"/>
          <p:cNvSpPr txBox="1"/>
          <p:nvPr/>
        </p:nvSpPr>
        <p:spPr>
          <a:xfrm>
            <a:off x="34847784" y="17593056"/>
            <a:ext cx="4224528" cy="2788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Лучший SID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4600" b="1" i="0">
                <a:solidFill>
                  <a:srgbClr val="111116"/>
                </a:solidFill>
                <a:latin typeface="Arial"/>
              </a:rPr>
              <a:t>0.53600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RQVAE (ECM)
L=3, C=256</a:t>
            </a:r>
          </a:p>
        </p:txBody>
      </p:sp>
      <p:sp>
        <p:nvSpPr>
          <p:cNvPr id="127" name="RESULTS_Delta_2"/>
          <p:cNvSpPr txBox="1"/>
          <p:nvPr/>
        </p:nvSpPr>
        <p:spPr>
          <a:xfrm>
            <a:off x="39191184" y="17757648"/>
            <a:ext cx="2395728" cy="2240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Δ</a:t>
            </a:r>
          </a:p>
          <a:p>
            <a:pPr algn="r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5200" b="1" i="0">
                <a:solidFill>
                  <a:srgbClr val="6C57B7"/>
                </a:solidFill>
                <a:latin typeface="Arial"/>
              </a:rPr>
              <a:t>−2.4%</a:t>
            </a:r>
          </a:p>
        </p:txBody>
      </p:sp>
      <p:cxnSp>
        <p:nvCxnSpPr>
          <p:cNvPr id="128" name="RESULTS_ResultRule_2"/>
          <p:cNvCxnSpPr/>
          <p:nvPr/>
        </p:nvCxnSpPr>
        <p:spPr>
          <a:xfrm>
            <a:off x="29059632" y="20683728"/>
            <a:ext cx="12600432" cy="0"/>
          </a:xfrm>
          <a:prstGeom prst="line">
            <a:avLst/>
          </a:prstGeom>
          <a:ln w="2032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SULTS_Task_3"/>
          <p:cNvSpPr txBox="1"/>
          <p:nvPr/>
        </p:nvSpPr>
        <p:spPr>
          <a:xfrm>
            <a:off x="29059632" y="20884896"/>
            <a:ext cx="2743200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RANKING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TransAct · Pairwise Accuracy</a:t>
            </a:r>
          </a:p>
        </p:txBody>
      </p:sp>
      <p:sp>
        <p:nvSpPr>
          <p:cNvPr id="130" name="RESULTS_Baseline_3"/>
          <p:cNvSpPr txBox="1"/>
          <p:nvPr/>
        </p:nvSpPr>
        <p:spPr>
          <a:xfrm>
            <a:off x="31939992" y="20866608"/>
            <a:ext cx="2788920" cy="2788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Baseline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4600" b="1" i="0">
                <a:solidFill>
                  <a:srgbClr val="111116"/>
                </a:solidFill>
                <a:latin typeface="Arial"/>
              </a:rPr>
              <a:t>0.76164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TransAct item-only</a:t>
            </a:r>
          </a:p>
        </p:txBody>
      </p:sp>
      <p:sp>
        <p:nvSpPr>
          <p:cNvPr id="131" name="RESULTS_Best_3"/>
          <p:cNvSpPr txBox="1"/>
          <p:nvPr/>
        </p:nvSpPr>
        <p:spPr>
          <a:xfrm>
            <a:off x="34847784" y="20866608"/>
            <a:ext cx="4224528" cy="2788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Лучший SID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4600" b="1" i="0">
                <a:solidFill>
                  <a:srgbClr val="111116"/>
                </a:solidFill>
                <a:latin typeface="Arial"/>
              </a:rPr>
              <a:t>0.63811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RQVAE
L=3, C=1024</a:t>
            </a:r>
          </a:p>
        </p:txBody>
      </p:sp>
      <p:sp>
        <p:nvSpPr>
          <p:cNvPr id="132" name="RESULTS_Delta_3"/>
          <p:cNvSpPr txBox="1"/>
          <p:nvPr/>
        </p:nvSpPr>
        <p:spPr>
          <a:xfrm>
            <a:off x="39191184" y="21031200"/>
            <a:ext cx="2395728" cy="2240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Δ</a:t>
            </a:r>
          </a:p>
          <a:p>
            <a:pPr algn="r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5200" b="1" i="0">
                <a:solidFill>
                  <a:srgbClr val="6C57B7"/>
                </a:solidFill>
                <a:latin typeface="Arial"/>
              </a:rPr>
              <a:t>−16.2%</a:t>
            </a:r>
          </a:p>
        </p:txBody>
      </p:sp>
      <p:sp>
        <p:nvSpPr>
          <p:cNvPr id="133" name="CONCLUSIONS_Body"/>
          <p:cNvSpPr txBox="1"/>
          <p:nvPr/>
        </p:nvSpPr>
        <p:spPr>
          <a:xfrm>
            <a:off x="2331720" y="27111960"/>
            <a:ext cx="39044880" cy="1993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• Высокое внутреннее качество SID само по себе не гарантирует улучшение downstream-модели.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• В ranking-задачах лучшие рассмотренные SID-конфигурации не превзошли item-only baseline.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• Для generation лучшая конфигурация RQVAE + item LogQ дала +14.9% Recall@100 относительно baseline.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• SID нужно оценивать внутренними метриками и непосредственно downstream-экспериментами.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ctr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t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ctr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t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127</Words>
  <Application>Microsoft Macintosh PowerPoint</Application>
  <PresentationFormat>Произвольный</PresentationFormat>
  <Paragraphs>21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Alina Murashova</cp:lastModifiedBy>
  <cp:revision>6</cp:revision>
  <dcterms:modified xsi:type="dcterms:W3CDTF">2026-08-17T15:43:34Z</dcterms:modified>
  <dc:title>Влияние качества Semantic ID на финальные метрики</dc:title>
  <dc:subject>A0 scientific poster adapted to the ML-Академия template</dc:subject>
  <dc:creator>Константин Рядинский, Лев Клюев, Ростислав Головков, Глеб Шевченко</dc:creator>
  <dc:description>Hallmark · fixed-template scientific poster · technical/austere · pre-emit critique: P5 H4 E4 S5 R5 V4</dc:description>
</cp:coreProperties>
</file>