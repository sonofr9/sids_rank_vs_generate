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/>
    <p:restoredTop sz="94643"/>
  </p:normalViewPr>
  <p:slideViewPr>
    <p:cSldViewPr snapToGrid="0">
      <p:cViewPr varScale="1">
        <p:scale>
          <a:sx n="25" d="100"/>
          <a:sy n="25" d="100"/>
        </p:scale>
        <p:origin x="18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lang="ru-RU" dirty="0"/>
              <a:t>Минимальный шрифт для использования - 30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poster_results_recall_vs_ic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142298" y="693778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7979859" y="693778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3842138" y="695711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2084831"/>
            <a:ext cx="31821119" cy="1325880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7200" b="0" i="0" dirty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4000" b="0" i="0" dirty="0" err="1">
                <a:solidFill>
                  <a:srgbClr val="111116"/>
                </a:solidFill>
                <a:latin typeface="Arial"/>
              </a:rPr>
              <a:t>Константин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Рядинский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• Лев Клюев • Ростислав Головков • Глеб Шевченко •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Ментор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: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Александр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Новак</a:t>
            </a:r>
            <a:endParaRPr sz="4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37" name="default_name"/>
          <p:cNvSpPr txBox="1"/>
          <p:nvPr/>
        </p:nvSpPr>
        <p:spPr>
          <a:xfrm>
            <a:off x="1685189" y="5435652"/>
            <a:ext cx="17639104" cy="98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8300"/>
              </a:lnSpc>
              <a:defRPr sz="5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17891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142298" y="2456145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4383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85607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1789108" y="252084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1539608" y="867933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779B4DCB-4E9F-32F4-71E4-0E0B66856854}"/>
              </a:ext>
            </a:extLst>
          </p:cNvPr>
          <p:cNvSpPr txBox="1"/>
          <p:nvPr/>
        </p:nvSpPr>
        <p:spPr>
          <a:xfrm>
            <a:off x="14285356" y="8777364"/>
            <a:ext cx="13006016" cy="4431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</a:endParaRPr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8567039" y="867933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1789108" y="2640087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0" name="RESULTS_Heatmap_Full" descr="Pearson correlation heatmap: all supplied SID metrics versus downstream metrics, including title, subtitle, cell values, and Pearson r colorbar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35604" y="9738360"/>
            <a:ext cx="11969496" cy="4572000"/>
          </a:xfrm>
          <a:prstGeom prst="rect">
            <a:avLst/>
          </a:prstGeom>
        </p:spPr>
      </p:pic>
      <p:pic>
        <p:nvPicPr>
          <p:cNvPr id="5" name="Рисунок 4" descr="Better Generalization with Semantic IDs: A Case Study in Ranking for  Recommendations">
            <a:extLst>
              <a:ext uri="{FF2B5EF4-FFF2-40B4-BE49-F238E27FC236}">
                <a16:creationId xmlns:a16="http://schemas.microsoft.com/office/drawing/2014/main" id="{B11749C3-E503-998E-5565-303EED156C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42080" y="10588752"/>
            <a:ext cx="8165592" cy="3657600"/>
          </a:xfrm>
          <a:prstGeom prst="rect">
            <a:avLst/>
          </a:prstGeom>
        </p:spPr>
      </p:pic>
      <p:sp>
        <p:nvSpPr>
          <p:cNvPr id="151" name="INTRO_ResearchQuestion"/>
          <p:cNvSpPr txBox="1"/>
          <p:nvPr/>
        </p:nvSpPr>
        <p:spPr>
          <a:xfrm>
            <a:off x="1700784" y="8686800"/>
            <a:ext cx="11695176" cy="1965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Какие свойства Semantic ID действительно отражаются на downstream-метриках рекомендательной системы?</a:t>
            </a:r>
          </a:p>
        </p:txBody>
      </p:sp>
      <p:cxnSp>
        <p:nvCxnSpPr>
          <p:cNvPr id="152" name="INTRO_QuestionUnderline"/>
          <p:cNvCxnSpPr/>
          <p:nvPr/>
        </p:nvCxnSpPr>
        <p:spPr>
          <a:xfrm>
            <a:off x="1700784" y="10698480"/>
            <a:ext cx="667512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INTRO_DefinitionHead"/>
          <p:cNvSpPr txBox="1"/>
          <p:nvPr/>
        </p:nvSpPr>
        <p:spPr>
          <a:xfrm>
            <a:off x="1700784" y="10954512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ЧТО ТАКОЕ SID?</a:t>
            </a:r>
          </a:p>
        </p:txBody>
      </p:sp>
      <p:sp>
        <p:nvSpPr>
          <p:cNvPr id="154" name="INTRO_Definition"/>
          <p:cNvSpPr txBox="1"/>
          <p:nvPr/>
        </p:nvSpPr>
        <p:spPr>
          <a:xfrm>
            <a:off x="1700784" y="11503152"/>
            <a:ext cx="1169517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SID — дискретные коды объектов для рекомендаций.</a:t>
            </a:r>
          </a:p>
        </p:txBody>
      </p:sp>
      <p:sp>
        <p:nvSpPr>
          <p:cNvPr id="155" name="INTRO_RQKMeansBand"/>
          <p:cNvSpPr/>
          <p:nvPr/>
        </p:nvSpPr>
        <p:spPr>
          <a:xfrm>
            <a:off x="1700784" y="12417552"/>
            <a:ext cx="11695176" cy="221284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INTRO_RQKMeansHead"/>
          <p:cNvSpPr txBox="1"/>
          <p:nvPr/>
        </p:nvSpPr>
        <p:spPr>
          <a:xfrm>
            <a:off x="1865376" y="12508992"/>
            <a:ext cx="1136599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RQ-KMeans · residual quantization</a:t>
            </a:r>
          </a:p>
        </p:txBody>
      </p:sp>
      <p:sp>
        <p:nvSpPr>
          <p:cNvPr id="157" name="INTRO_RQKMeansStage_0"/>
          <p:cNvSpPr txBox="1"/>
          <p:nvPr/>
        </p:nvSpPr>
        <p:spPr>
          <a:xfrm>
            <a:off x="1810512" y="13267944"/>
            <a:ext cx="213969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item
embedding</a:t>
            </a:r>
          </a:p>
        </p:txBody>
      </p:sp>
      <p:sp>
        <p:nvSpPr>
          <p:cNvPr id="158" name="INTRO_RQKMeansArrow_0"/>
          <p:cNvSpPr txBox="1"/>
          <p:nvPr/>
        </p:nvSpPr>
        <p:spPr>
          <a:xfrm>
            <a:off x="4041648" y="13350240"/>
            <a:ext cx="29260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59" name="INTRO_RQKMeansStage_1"/>
          <p:cNvSpPr txBox="1"/>
          <p:nvPr/>
        </p:nvSpPr>
        <p:spPr>
          <a:xfrm>
            <a:off x="4334256" y="13267944"/>
            <a:ext cx="219456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nearest code
c₁</a:t>
            </a:r>
          </a:p>
        </p:txBody>
      </p:sp>
      <p:sp>
        <p:nvSpPr>
          <p:cNvPr id="160" name="INTRO_RQKMeansArrow_1"/>
          <p:cNvSpPr txBox="1"/>
          <p:nvPr/>
        </p:nvSpPr>
        <p:spPr>
          <a:xfrm>
            <a:off x="6620256" y="13350240"/>
            <a:ext cx="29260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61" name="INTRO_RQKMeansStage_2"/>
          <p:cNvSpPr txBox="1"/>
          <p:nvPr/>
        </p:nvSpPr>
        <p:spPr>
          <a:xfrm>
            <a:off x="6931152" y="13267944"/>
            <a:ext cx="17556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residual</a:t>
            </a:r>
          </a:p>
        </p:txBody>
      </p:sp>
      <p:sp>
        <p:nvSpPr>
          <p:cNvPr id="162" name="INTRO_RQKMeansArrow_2"/>
          <p:cNvSpPr txBox="1"/>
          <p:nvPr/>
        </p:nvSpPr>
        <p:spPr>
          <a:xfrm>
            <a:off x="8778240" y="13350240"/>
            <a:ext cx="29260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63" name="INTRO_RQKMeansStage_3"/>
          <p:cNvSpPr txBox="1"/>
          <p:nvPr/>
        </p:nvSpPr>
        <p:spPr>
          <a:xfrm>
            <a:off x="9089136" y="13267944"/>
            <a:ext cx="221284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next code
c₂</a:t>
            </a:r>
          </a:p>
        </p:txBody>
      </p:sp>
      <p:sp>
        <p:nvSpPr>
          <p:cNvPr id="164" name="INTRO_RQKMeansArrow_3"/>
          <p:cNvSpPr txBox="1"/>
          <p:nvPr/>
        </p:nvSpPr>
        <p:spPr>
          <a:xfrm>
            <a:off x="11393424" y="13350240"/>
            <a:ext cx="292608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65" name="INTRO_RQKMeansStage_4"/>
          <p:cNvSpPr txBox="1"/>
          <p:nvPr/>
        </p:nvSpPr>
        <p:spPr>
          <a:xfrm>
            <a:off x="11704319" y="13267944"/>
            <a:ext cx="1472184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…</a:t>
            </a:r>
          </a:p>
        </p:txBody>
      </p:sp>
      <p:sp>
        <p:nvSpPr>
          <p:cNvPr id="166" name="INTRO_RQKMeansSequence"/>
          <p:cNvSpPr txBox="1"/>
          <p:nvPr/>
        </p:nvSpPr>
        <p:spPr>
          <a:xfrm>
            <a:off x="1883664" y="14109192"/>
            <a:ext cx="11329415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c₁  →  c₂  →  …  →  cₗ   =   Semantic ID</a:t>
            </a:r>
          </a:p>
        </p:txBody>
      </p:sp>
      <p:sp>
        <p:nvSpPr>
          <p:cNvPr id="167" name="INTRO_GoalHead"/>
          <p:cNvSpPr txBox="1"/>
          <p:nvPr/>
        </p:nvSpPr>
        <p:spPr>
          <a:xfrm>
            <a:off x="1700784" y="14977872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ЧТО ХОТИМ ВЫЯСНИТЬ?</a:t>
            </a:r>
          </a:p>
        </p:txBody>
      </p:sp>
      <p:sp>
        <p:nvSpPr>
          <p:cNvPr id="168" name="INTRO_GoalBody"/>
          <p:cNvSpPr txBox="1"/>
          <p:nvPr/>
        </p:nvSpPr>
        <p:spPr>
          <a:xfrm>
            <a:off x="1700784" y="15526512"/>
            <a:ext cx="11695176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• Сравнить способы построения SID.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• Проверить связь SID с downstream-качеством.</a:t>
            </a:r>
          </a:p>
        </p:txBody>
      </p:sp>
      <p:sp>
        <p:nvSpPr>
          <p:cNvPr id="169" name="INTRO_ContextHead"/>
          <p:cNvSpPr txBox="1"/>
          <p:nvPr/>
        </p:nvSpPr>
        <p:spPr>
          <a:xfrm>
            <a:off x="1700784" y="16989552"/>
            <a:ext cx="1169517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ГДЕ ПРОВЕРЯЕМ?</a:t>
            </a:r>
          </a:p>
        </p:txBody>
      </p:sp>
      <p:sp>
        <p:nvSpPr>
          <p:cNvPr id="170" name="INTRO_Dataset"/>
          <p:cNvSpPr txBox="1"/>
          <p:nvPr/>
        </p:nvSpPr>
        <p:spPr>
          <a:xfrm>
            <a:off x="1700784" y="17519904"/>
            <a:ext cx="1169517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Yambda-50M · time split</a:t>
            </a:r>
          </a:p>
        </p:txBody>
      </p:sp>
      <p:cxnSp>
        <p:nvCxnSpPr>
          <p:cNvPr id="171" name="INTRO_TaskDivider"/>
          <p:cNvCxnSpPr/>
          <p:nvPr/>
        </p:nvCxnSpPr>
        <p:spPr>
          <a:xfrm>
            <a:off x="7388352" y="18306288"/>
            <a:ext cx="0" cy="3986784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INTRO_GenerationHead"/>
          <p:cNvSpPr txBox="1"/>
          <p:nvPr/>
        </p:nvSpPr>
        <p:spPr>
          <a:xfrm>
            <a:off x="1700784" y="18306288"/>
            <a:ext cx="541324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Generation</a:t>
            </a:r>
          </a:p>
        </p:txBody>
      </p:sp>
      <p:sp>
        <p:nvSpPr>
          <p:cNvPr id="173" name="INTRO_GenerationBody"/>
          <p:cNvSpPr txBox="1"/>
          <p:nvPr/>
        </p:nvSpPr>
        <p:spPr>
          <a:xfrm>
            <a:off x="1700784" y="18873216"/>
            <a:ext cx="5413248" cy="2523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TIGER → SID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SASRec baseline · Recall@100</a:t>
            </a:r>
          </a:p>
        </p:txBody>
      </p:sp>
      <p:sp>
        <p:nvSpPr>
          <p:cNvPr id="174" name="INTRO_RankingHead"/>
          <p:cNvSpPr txBox="1"/>
          <p:nvPr/>
        </p:nvSpPr>
        <p:spPr>
          <a:xfrm>
            <a:off x="7662671" y="18306288"/>
            <a:ext cx="573328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Ranking</a:t>
            </a:r>
          </a:p>
        </p:txBody>
      </p:sp>
      <p:sp>
        <p:nvSpPr>
          <p:cNvPr id="175" name="INTRO_RankingBody"/>
          <p:cNvSpPr txBox="1"/>
          <p:nvPr/>
        </p:nvSpPr>
        <p:spPr>
          <a:xfrm>
            <a:off x="7662671" y="18873216"/>
            <a:ext cx="5733288" cy="2724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DCNv2 / TransAct-like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SID-признак · ROC-AUC · Pairwise Accuracy</a:t>
            </a:r>
          </a:p>
        </p:txBody>
      </p:sp>
      <p:sp>
        <p:nvSpPr>
          <p:cNvPr id="176" name="METHODS_BaselineBand"/>
          <p:cNvSpPr/>
          <p:nvPr/>
        </p:nvSpPr>
        <p:spPr>
          <a:xfrm>
            <a:off x="14429232" y="8686800"/>
            <a:ext cx="12600432" cy="118872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METHODS_Balanced"/>
          <p:cNvSpPr txBox="1"/>
          <p:nvPr/>
        </p:nvSpPr>
        <p:spPr>
          <a:xfrm>
            <a:off x="14575536" y="8759952"/>
            <a:ext cx="5870448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Balanced RQ-KMeans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capacity ограничивает размер кластера.</a:t>
            </a:r>
          </a:p>
        </p:txBody>
      </p:sp>
      <p:cxnSp>
        <p:nvCxnSpPr>
          <p:cNvPr id="178" name="METHODS_BaselineDivider"/>
          <p:cNvCxnSpPr/>
          <p:nvPr/>
        </p:nvCxnSpPr>
        <p:spPr>
          <a:xfrm>
            <a:off x="20729448" y="8833104"/>
            <a:ext cx="0" cy="89611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METHODS_PLUM"/>
          <p:cNvSpPr txBox="1"/>
          <p:nvPr/>
        </p:nvSpPr>
        <p:spPr>
          <a:xfrm>
            <a:off x="21012912" y="8759952"/>
            <a:ext cx="6016752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PLUM-like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меньше кодов + случайный prefix.</a:t>
            </a:r>
          </a:p>
        </p:txBody>
      </p:sp>
      <p:sp>
        <p:nvSpPr>
          <p:cNvPr id="180" name="METHODS_RQVAEHead"/>
          <p:cNvSpPr txBox="1"/>
          <p:nvPr/>
        </p:nvSpPr>
        <p:spPr>
          <a:xfrm>
            <a:off x="14429232" y="10094976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RQ-VAE</a:t>
            </a:r>
          </a:p>
        </p:txBody>
      </p:sp>
      <p:sp>
        <p:nvSpPr>
          <p:cNvPr id="181" name="METHODS_RQVAENote"/>
          <p:cNvSpPr txBox="1"/>
          <p:nvPr/>
        </p:nvSpPr>
        <p:spPr>
          <a:xfrm>
            <a:off x="16440912" y="10094976"/>
            <a:ext cx="10588751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Residual quantization с обучаемым encoder / decoder.</a:t>
            </a:r>
          </a:p>
        </p:txBody>
      </p:sp>
      <p:sp>
        <p:nvSpPr>
          <p:cNvPr id="182" name="METHODS_UserAwareHead"/>
          <p:cNvSpPr txBox="1"/>
          <p:nvPr/>
        </p:nvSpPr>
        <p:spPr>
          <a:xfrm>
            <a:off x="14429232" y="14584680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User-aware</a:t>
            </a:r>
          </a:p>
        </p:txBody>
      </p:sp>
      <p:sp>
        <p:nvSpPr>
          <p:cNvPr id="183" name="METHODS_UserAwareWhat"/>
          <p:cNvSpPr txBox="1"/>
          <p:nvPr/>
        </p:nvSpPr>
        <p:spPr>
          <a:xfrm>
            <a:off x="14429232" y="15252192"/>
            <a:ext cx="12600432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учитываем user preference при построении SID.</a:t>
            </a:r>
          </a:p>
        </p:txBody>
      </p:sp>
      <p:sp>
        <p:nvSpPr>
          <p:cNvPr id="184" name="METHODS_UserAwareBand"/>
          <p:cNvSpPr/>
          <p:nvPr/>
        </p:nvSpPr>
        <p:spPr>
          <a:xfrm>
            <a:off x="14429232" y="16002000"/>
            <a:ext cx="12600432" cy="91440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METHODS_UserAwareStage_0"/>
          <p:cNvSpPr txBox="1"/>
          <p:nvPr/>
        </p:nvSpPr>
        <p:spPr>
          <a:xfrm>
            <a:off x="14474952" y="16084296"/>
            <a:ext cx="27889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USER + ITEM
EMBEDDING</a:t>
            </a:r>
          </a:p>
        </p:txBody>
      </p:sp>
      <p:sp>
        <p:nvSpPr>
          <p:cNvPr id="186" name="METHODS_UserAwareArrow_0"/>
          <p:cNvSpPr txBox="1"/>
          <p:nvPr/>
        </p:nvSpPr>
        <p:spPr>
          <a:xfrm>
            <a:off x="17337023" y="16203167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87" name="METHODS_UserAwareStage_1"/>
          <p:cNvSpPr txBox="1"/>
          <p:nvPr/>
        </p:nvSpPr>
        <p:spPr>
          <a:xfrm>
            <a:off x="17675352" y="16084296"/>
            <a:ext cx="31089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USER-AWARE
MODEL</a:t>
            </a:r>
          </a:p>
        </p:txBody>
      </p:sp>
      <p:sp>
        <p:nvSpPr>
          <p:cNvPr id="188" name="METHODS_UserAwareArrow_1"/>
          <p:cNvSpPr txBox="1"/>
          <p:nvPr/>
        </p:nvSpPr>
        <p:spPr>
          <a:xfrm>
            <a:off x="20857463" y="16203167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89" name="METHODS_UserAwareStage_2"/>
          <p:cNvSpPr txBox="1"/>
          <p:nvPr/>
        </p:nvSpPr>
        <p:spPr>
          <a:xfrm>
            <a:off x="21195792" y="16084296"/>
            <a:ext cx="246888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U-AWARE
SID</a:t>
            </a:r>
          </a:p>
        </p:txBody>
      </p:sp>
      <p:sp>
        <p:nvSpPr>
          <p:cNvPr id="190" name="METHODS_UserAwareArrow_2"/>
          <p:cNvSpPr txBox="1"/>
          <p:nvPr/>
        </p:nvSpPr>
        <p:spPr>
          <a:xfrm>
            <a:off x="23737823" y="16203167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191" name="METHODS_UserAwareStage_3"/>
          <p:cNvSpPr txBox="1"/>
          <p:nvPr/>
        </p:nvSpPr>
        <p:spPr>
          <a:xfrm>
            <a:off x="24076152" y="16084296"/>
            <a:ext cx="27889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TARGET SID</a:t>
            </a:r>
          </a:p>
        </p:txBody>
      </p:sp>
      <p:sp>
        <p:nvSpPr>
          <p:cNvPr id="192" name="METHODS_UserAwareWhy"/>
          <p:cNvSpPr txBox="1"/>
          <p:nvPr/>
        </p:nvSpPr>
        <p:spPr>
          <a:xfrm>
            <a:off x="14429232" y="17099280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добавить пользовательскую семантику.</a:t>
            </a:r>
          </a:p>
        </p:txBody>
      </p:sp>
      <p:sp>
        <p:nvSpPr>
          <p:cNvPr id="194" name="METHODS_PSIHead"/>
          <p:cNvSpPr txBox="1"/>
          <p:nvPr/>
        </p:nvSpPr>
        <p:spPr>
          <a:xfrm>
            <a:off x="14429232" y="17949672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PSI</a:t>
            </a:r>
          </a:p>
        </p:txBody>
      </p:sp>
      <p:sp>
        <p:nvSpPr>
          <p:cNvPr id="195" name="METHODS_PSIWhat"/>
          <p:cNvSpPr txBox="1"/>
          <p:nvPr/>
        </p:nvSpPr>
        <p:spPr>
          <a:xfrm>
            <a:off x="14429232" y="18617184"/>
            <a:ext cx="12600432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занятый SID → следующая близкая свободная комбинация.</a:t>
            </a:r>
          </a:p>
        </p:txBody>
      </p:sp>
      <p:sp>
        <p:nvSpPr>
          <p:cNvPr id="196" name="METHODS_PSIBand"/>
          <p:cNvSpPr/>
          <p:nvPr/>
        </p:nvSpPr>
        <p:spPr>
          <a:xfrm>
            <a:off x="14429232" y="19366992"/>
            <a:ext cx="12600432" cy="91440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METHODS_PSIStage_0"/>
          <p:cNvSpPr txBox="1"/>
          <p:nvPr/>
        </p:nvSpPr>
        <p:spPr>
          <a:xfrm>
            <a:off x="14685263" y="19449288"/>
            <a:ext cx="4224528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nearest SID
занят  ×</a:t>
            </a:r>
          </a:p>
        </p:txBody>
      </p:sp>
      <p:sp>
        <p:nvSpPr>
          <p:cNvPr id="198" name="METHODS_PSIArrow_0"/>
          <p:cNvSpPr txBox="1"/>
          <p:nvPr/>
        </p:nvSpPr>
        <p:spPr>
          <a:xfrm>
            <a:off x="19092672" y="19568160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201" name="METHODS_PSIStage_2"/>
          <p:cNvSpPr txBox="1"/>
          <p:nvPr/>
        </p:nvSpPr>
        <p:spPr>
          <a:xfrm>
            <a:off x="19641312" y="19449288"/>
            <a:ext cx="7077456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next closest free SID  ✓</a:t>
            </a:r>
          </a:p>
        </p:txBody>
      </p:sp>
      <p:sp>
        <p:nvSpPr>
          <p:cNvPr id="202" name="METHODS_PSIWhy"/>
          <p:cNvSpPr txBox="1"/>
          <p:nvPr/>
        </p:nvSpPr>
        <p:spPr>
          <a:xfrm>
            <a:off x="14429232" y="20464272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убрать коллизии без нового токена.</a:t>
            </a:r>
          </a:p>
        </p:txBody>
      </p:sp>
      <p:sp>
        <p:nvSpPr>
          <p:cNvPr id="204" name="METHODS_R3VAEHead"/>
          <p:cNvSpPr txBox="1"/>
          <p:nvPr/>
        </p:nvSpPr>
        <p:spPr>
          <a:xfrm>
            <a:off x="14429232" y="21250656"/>
            <a:ext cx="6016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R3-VAE</a:t>
            </a:r>
          </a:p>
        </p:txBody>
      </p:sp>
      <p:sp>
        <p:nvSpPr>
          <p:cNvPr id="205" name="METHODS_R3VAEWhat"/>
          <p:cNvSpPr txBox="1"/>
          <p:nvPr/>
        </p:nvSpPr>
        <p:spPr>
          <a:xfrm>
            <a:off x="14429232" y="21854160"/>
            <a:ext cx="6016752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semantic anchor перед residual Q.</a:t>
            </a:r>
          </a:p>
        </p:txBody>
      </p:sp>
      <p:sp>
        <p:nvSpPr>
          <p:cNvPr id="206" name="METHODS_R3VAEBand"/>
          <p:cNvSpPr/>
          <p:nvPr/>
        </p:nvSpPr>
        <p:spPr>
          <a:xfrm>
            <a:off x="14429232" y="22585680"/>
            <a:ext cx="6016752" cy="768096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METHODS_R3VAEScheme"/>
          <p:cNvSpPr txBox="1"/>
          <p:nvPr/>
        </p:nvSpPr>
        <p:spPr>
          <a:xfrm>
            <a:off x="14538959" y="22677120"/>
            <a:ext cx="5797296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embedding + anchor  →  residual Q</a:t>
            </a:r>
          </a:p>
        </p:txBody>
      </p:sp>
      <p:sp>
        <p:nvSpPr>
          <p:cNvPr id="208" name="METHODS_R3VAEWhy"/>
          <p:cNvSpPr txBox="1"/>
          <p:nvPr/>
        </p:nvSpPr>
        <p:spPr>
          <a:xfrm>
            <a:off x="14429232" y="23536656"/>
            <a:ext cx="6016752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структурировать коды.</a:t>
            </a:r>
          </a:p>
        </p:txBody>
      </p:sp>
      <p:sp>
        <p:nvSpPr>
          <p:cNvPr id="209" name="METHODS_LogQHead"/>
          <p:cNvSpPr txBox="1"/>
          <p:nvPr/>
        </p:nvSpPr>
        <p:spPr>
          <a:xfrm>
            <a:off x="21012912" y="21250656"/>
            <a:ext cx="6016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LogQ</a:t>
            </a:r>
          </a:p>
        </p:txBody>
      </p:sp>
      <p:sp>
        <p:nvSpPr>
          <p:cNvPr id="210" name="METHODS_LogQWhat"/>
          <p:cNvSpPr txBox="1"/>
          <p:nvPr/>
        </p:nvSpPr>
        <p:spPr>
          <a:xfrm>
            <a:off x="21012912" y="21854160"/>
            <a:ext cx="6016752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Что меняем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frequency correction logits.</a:t>
            </a:r>
          </a:p>
        </p:txBody>
      </p:sp>
      <p:sp>
        <p:nvSpPr>
          <p:cNvPr id="211" name="METHODS_LogQBand"/>
          <p:cNvSpPr/>
          <p:nvPr/>
        </p:nvSpPr>
        <p:spPr>
          <a:xfrm>
            <a:off x="21012912" y="22585680"/>
            <a:ext cx="6016752" cy="768096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METHODS_LogQScheme"/>
          <p:cNvSpPr txBox="1"/>
          <p:nvPr/>
        </p:nvSpPr>
        <p:spPr>
          <a:xfrm>
            <a:off x="21122640" y="22640544"/>
            <a:ext cx="5797296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logits  →  frequency correction
→  corrected logits</a:t>
            </a:r>
          </a:p>
        </p:txBody>
      </p:sp>
      <p:sp>
        <p:nvSpPr>
          <p:cNvPr id="213" name="METHODS_LogQWhy"/>
          <p:cNvSpPr txBox="1"/>
          <p:nvPr/>
        </p:nvSpPr>
        <p:spPr>
          <a:xfrm>
            <a:off x="21012912" y="23536656"/>
            <a:ext cx="6016752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Зачем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снизить frequency bias.</a:t>
            </a:r>
          </a:p>
        </p:txBody>
      </p:sp>
      <p:sp>
        <p:nvSpPr>
          <p:cNvPr id="214" name="RESULTS_HeatmapQuestion"/>
          <p:cNvSpPr txBox="1"/>
          <p:nvPr/>
        </p:nvSpPr>
        <p:spPr>
          <a:xfrm>
            <a:off x="28520136" y="8686800"/>
            <a:ext cx="1260043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КАКИЕ ХАРАКТЕРИСТИКИ SID СВЯЗАНЫ
С DOWNSTREAM-КАЧЕСТВОМ?</a:t>
            </a:r>
          </a:p>
        </p:txBody>
      </p:sp>
      <p:sp>
        <p:nvSpPr>
          <p:cNvPr id="215" name="RESULTS_Observation_1"/>
          <p:cNvSpPr txBox="1"/>
          <p:nvPr/>
        </p:nvSpPr>
        <p:spPr>
          <a:xfrm>
            <a:off x="28520136" y="14465808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DCNv2 Pairwise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ICR и code entropy: r = 0.47.</a:t>
            </a:r>
          </a:p>
        </p:txBody>
      </p:sp>
      <p:sp>
        <p:nvSpPr>
          <p:cNvPr id="216" name="RESULTS_Observation_2"/>
          <p:cNvSpPr txBox="1"/>
          <p:nvPr/>
        </p:nvSpPr>
        <p:spPr>
          <a:xfrm>
            <a:off x="28520136" y="15078455"/>
            <a:ext cx="12600432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DCNv2 ROC-AUC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нет общей зависимости; max |r| = 0.20.</a:t>
            </a:r>
          </a:p>
        </p:txBody>
      </p:sp>
      <p:cxnSp>
        <p:nvCxnSpPr>
          <p:cNvPr id="217" name="RESULTS_ObservationRule"/>
          <p:cNvCxnSpPr/>
          <p:nvPr/>
        </p:nvCxnSpPr>
        <p:spPr>
          <a:xfrm>
            <a:off x="28520136" y="15709392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RESULTS_GenerationTableHead"/>
          <p:cNvSpPr txBox="1"/>
          <p:nvPr/>
        </p:nvSpPr>
        <p:spPr>
          <a:xfrm>
            <a:off x="28520136" y="16020288"/>
            <a:ext cx="1260043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GENERATION · ОСНОВНОЙ РЕЗУЛЬТАТ</a:t>
            </a:r>
          </a:p>
        </p:txBody>
      </p:sp>
      <p:sp>
        <p:nvSpPr>
          <p:cNvPr id="219" name="RESULTS_TableHeaderBand"/>
          <p:cNvSpPr/>
          <p:nvPr/>
        </p:nvSpPr>
        <p:spPr>
          <a:xfrm>
            <a:off x="28520136" y="16550640"/>
            <a:ext cx="12600432" cy="603504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SULTS_TableBestBand"/>
          <p:cNvSpPr/>
          <p:nvPr/>
        </p:nvSpPr>
        <p:spPr>
          <a:xfrm>
            <a:off x="28520136" y="17903952"/>
            <a:ext cx="12600432" cy="74980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SULTS_TableHeader_0"/>
          <p:cNvSpPr txBox="1"/>
          <p:nvPr/>
        </p:nvSpPr>
        <p:spPr>
          <a:xfrm>
            <a:off x="28520136" y="16550640"/>
            <a:ext cx="6629400" cy="603504"/>
          </a:xfrm>
          <a:prstGeom prst="rect">
            <a:avLst/>
          </a:prstGeom>
          <a:noFill/>
        </p:spPr>
        <p:txBody>
          <a:bodyPr wrap="square" tIns="91440" bIns="91440" anchor="ctr" lIns="128016" rIns="128016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Model</a:t>
            </a:r>
          </a:p>
        </p:txBody>
      </p:sp>
      <p:sp>
        <p:nvSpPr>
          <p:cNvPr id="222" name="RESULTS_TableHeader_1"/>
          <p:cNvSpPr txBox="1"/>
          <p:nvPr/>
        </p:nvSpPr>
        <p:spPr>
          <a:xfrm>
            <a:off x="35149536" y="16550640"/>
            <a:ext cx="3063240" cy="603504"/>
          </a:xfrm>
          <a:prstGeom prst="rect">
            <a:avLst/>
          </a:prstGeom>
          <a:noFill/>
        </p:spPr>
        <p:txBody>
          <a:bodyPr wrap="square" tIns="91440" bIns="91440" anchor="ctr" lIns="128016" rIns="128016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Recall@100</a:t>
            </a:r>
          </a:p>
        </p:txBody>
      </p:sp>
      <p:sp>
        <p:nvSpPr>
          <p:cNvPr id="223" name="RESULTS_TableHeader_2"/>
          <p:cNvSpPr txBox="1"/>
          <p:nvPr/>
        </p:nvSpPr>
        <p:spPr>
          <a:xfrm>
            <a:off x="38212776" y="16550640"/>
            <a:ext cx="2907792" cy="603504"/>
          </a:xfrm>
          <a:prstGeom prst="rect">
            <a:avLst/>
          </a:prstGeom>
          <a:noFill/>
        </p:spPr>
        <p:txBody>
          <a:bodyPr wrap="square" tIns="91440" bIns="91440" anchor="ctr" lIns="128016" rIns="128016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Δ</a:t>
            </a:r>
          </a:p>
        </p:txBody>
      </p:sp>
      <p:sp>
        <p:nvSpPr>
          <p:cNvPr id="224" name="RESULTS_TableCell_0_0"/>
          <p:cNvSpPr txBox="1"/>
          <p:nvPr/>
        </p:nvSpPr>
        <p:spPr>
          <a:xfrm>
            <a:off x="28520136" y="17154144"/>
            <a:ext cx="6629400" cy="749808"/>
          </a:xfrm>
          <a:prstGeom prst="rect">
            <a:avLst/>
          </a:prstGeom>
          <a:noFill/>
        </p:spPr>
        <p:txBody>
          <a:bodyPr wrap="square" tIns="109728" bIns="109728" anchor="ctr" lIns="128016" rIns="128016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SASRec-Audio-Uniform</a:t>
            </a:r>
          </a:p>
        </p:txBody>
      </p:sp>
      <p:sp>
        <p:nvSpPr>
          <p:cNvPr id="225" name="RESULTS_TableCell_0_1"/>
          <p:cNvSpPr txBox="1"/>
          <p:nvPr/>
        </p:nvSpPr>
        <p:spPr>
          <a:xfrm>
            <a:off x="35149536" y="17154144"/>
            <a:ext cx="3063240" cy="749808"/>
          </a:xfrm>
          <a:prstGeom prst="rect">
            <a:avLst/>
          </a:prstGeom>
          <a:noFill/>
        </p:spPr>
        <p:txBody>
          <a:bodyPr wrap="square" tIns="109728" bIns="109728" anchor="ctr" lIns="128016" rIns="128016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0.12303</a:t>
            </a:r>
          </a:p>
        </p:txBody>
      </p:sp>
      <p:sp>
        <p:nvSpPr>
          <p:cNvPr id="226" name="RESULTS_TableCell_0_2"/>
          <p:cNvSpPr txBox="1"/>
          <p:nvPr/>
        </p:nvSpPr>
        <p:spPr>
          <a:xfrm>
            <a:off x="38212776" y="17154144"/>
            <a:ext cx="2907792" cy="749808"/>
          </a:xfrm>
          <a:prstGeom prst="rect">
            <a:avLst/>
          </a:prstGeom>
          <a:noFill/>
        </p:spPr>
        <p:txBody>
          <a:bodyPr wrap="square" tIns="109728" bIns="109728" anchor="ctr" lIns="128016" rIns="128016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</a:t>
            </a:r>
          </a:p>
        </p:txBody>
      </p:sp>
      <p:cxnSp>
        <p:nvCxnSpPr>
          <p:cNvPr id="227" name="RESULTS_TableRule_0"/>
          <p:cNvCxnSpPr/>
          <p:nvPr/>
        </p:nvCxnSpPr>
        <p:spPr>
          <a:xfrm>
            <a:off x="28520136" y="17903952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ESULTS_TableCell_1_0"/>
          <p:cNvSpPr txBox="1"/>
          <p:nvPr/>
        </p:nvSpPr>
        <p:spPr>
          <a:xfrm>
            <a:off x="28520136" y="17903952"/>
            <a:ext cx="6629400" cy="749808"/>
          </a:xfrm>
          <a:prstGeom prst="rect">
            <a:avLst/>
          </a:prstGeom>
          <a:noFill/>
        </p:spPr>
        <p:txBody>
          <a:bodyPr wrap="square" tIns="109728" bIns="109728" anchor="ctr" lIns="128016" rIns="128016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RQ-VAE + item LogQ</a:t>
            </a:r>
          </a:p>
        </p:txBody>
      </p:sp>
      <p:sp>
        <p:nvSpPr>
          <p:cNvPr id="229" name="RESULTS_TableCell_1_1"/>
          <p:cNvSpPr txBox="1"/>
          <p:nvPr/>
        </p:nvSpPr>
        <p:spPr>
          <a:xfrm>
            <a:off x="35149536" y="17903952"/>
            <a:ext cx="3063240" cy="749808"/>
          </a:xfrm>
          <a:prstGeom prst="rect">
            <a:avLst/>
          </a:prstGeom>
          <a:noFill/>
        </p:spPr>
        <p:txBody>
          <a:bodyPr wrap="square" tIns="109728" bIns="109728" anchor="ctr" lIns="128016" rIns="128016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0.14138</a:t>
            </a:r>
          </a:p>
        </p:txBody>
      </p:sp>
      <p:sp>
        <p:nvSpPr>
          <p:cNvPr id="230" name="RESULTS_TableCell_1_2"/>
          <p:cNvSpPr txBox="1"/>
          <p:nvPr/>
        </p:nvSpPr>
        <p:spPr>
          <a:xfrm>
            <a:off x="38212776" y="17903952"/>
            <a:ext cx="2907792" cy="749808"/>
          </a:xfrm>
          <a:prstGeom prst="rect">
            <a:avLst/>
          </a:prstGeom>
          <a:noFill/>
        </p:spPr>
        <p:txBody>
          <a:bodyPr wrap="square" tIns="109728" bIns="109728" anchor="ctr" lIns="128016" rIns="128016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+14.9%</a:t>
            </a:r>
          </a:p>
        </p:txBody>
      </p:sp>
      <p:cxnSp>
        <p:nvCxnSpPr>
          <p:cNvPr id="231" name="RESULTS_TableRule_1"/>
          <p:cNvCxnSpPr/>
          <p:nvPr/>
        </p:nvCxnSpPr>
        <p:spPr>
          <a:xfrm>
            <a:off x="28520136" y="18653760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RESULTS_GenerationTableNote"/>
          <p:cNvSpPr txBox="1"/>
          <p:nvPr/>
        </p:nvSpPr>
        <p:spPr>
          <a:xfrm>
            <a:off x="28520136" y="18818352"/>
            <a:ext cx="1260043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Best SID: RQ-VAE + item LogQ, L=2, C=256</a:t>
            </a:r>
          </a:p>
        </p:txBody>
      </p:sp>
      <p:cxnSp>
        <p:nvCxnSpPr>
          <p:cNvPr id="233" name="CONCLUSIONS_Divider_1"/>
          <p:cNvCxnSpPr/>
          <p:nvPr/>
        </p:nvCxnSpPr>
        <p:spPr>
          <a:xfrm>
            <a:off x="11183112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CLUSIONS_Divider_2"/>
          <p:cNvCxnSpPr/>
          <p:nvPr/>
        </p:nvCxnSpPr>
        <p:spPr>
          <a:xfrm>
            <a:off x="20939760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CLUSIONS_Divider_3"/>
          <p:cNvCxnSpPr/>
          <p:nvPr/>
        </p:nvCxnSpPr>
        <p:spPr>
          <a:xfrm>
            <a:off x="30696408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CONCLUSIONS_Thesis_1"/>
          <p:cNvSpPr txBox="1"/>
          <p:nvPr/>
        </p:nvSpPr>
        <p:spPr>
          <a:xfrm>
            <a:off x="1938528" y="26371296"/>
            <a:ext cx="8705088" cy="1993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SID ≠ downstream quality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Внутренние метрики SID не гарантируют downstream-улучшение.</a:t>
            </a:r>
          </a:p>
        </p:txBody>
      </p:sp>
      <p:sp>
        <p:nvSpPr>
          <p:cNvPr id="237" name="CONCLUSIONS_Thesis_2"/>
          <p:cNvSpPr txBox="1"/>
          <p:nvPr/>
        </p:nvSpPr>
        <p:spPr>
          <a:xfrm>
            <a:off x="11695176" y="26371296"/>
            <a:ext cx="8705088" cy="1993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Ranking: устойчивого улучшения нет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SID-конфигурации не превзошли item-only baseline.</a:t>
            </a:r>
          </a:p>
        </p:txBody>
      </p:sp>
      <p:sp>
        <p:nvSpPr>
          <p:cNvPr id="238" name="CONCLUSIONS_Thesis_3"/>
          <p:cNvSpPr txBox="1"/>
          <p:nvPr/>
        </p:nvSpPr>
        <p:spPr>
          <a:xfrm>
            <a:off x="21451824" y="26371296"/>
            <a:ext cx="8705088" cy="1993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Generation: +14.9%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RQ-VAE + item LogQ дал лучший Recall@100.</a:t>
            </a:r>
          </a:p>
        </p:txBody>
      </p:sp>
      <p:sp>
        <p:nvSpPr>
          <p:cNvPr id="239" name="CONCLUSIONS_Thesis_4"/>
          <p:cNvSpPr txBox="1"/>
          <p:nvPr/>
        </p:nvSpPr>
        <p:spPr>
          <a:xfrm>
            <a:off x="31208472" y="26371296"/>
            <a:ext cx="8705088" cy="1993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Проверять нужно downstream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Оценивать SID нужно через реальные downstream-задачи.</a:t>
            </a:r>
          </a:p>
        </p:txBody>
      </p:sp>
      <p:pic>
        <p:nvPicPr>
          <p:cNvPr id="240" name="RESULTS_Recall_vs_ICR_SVG" descr="Recall@100 versus raw independent code rate (ICR), with panels for varying number of codebooks and varying codebook size.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448252" y="19348704"/>
            <a:ext cx="10744200" cy="475016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282</Words>
  <Application>Microsoft Macintosh PowerPoint</Application>
  <PresentationFormat>Произвольный</PresentationFormat>
  <Paragraphs>60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Current spaced poster preserved · recall100_vs_icr added to Results · native SVG with PNG fallback · A0 · supplied RQ-VAE and heatmap retained</dc:description>
  <cp:lastModifiedBy>Konstantin Ryadinskiy</cp:lastModifiedBy>
  <cp:revision>10</cp:revision>
  <dcterms:modified xsi:type="dcterms:W3CDTF">2026-08-18T16:06:49Z</dcterms:modified>
</cp:coreProperties>
</file>