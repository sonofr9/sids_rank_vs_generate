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43"/>
  </p:normalViewPr>
  <p:slideViewPr>
    <p:cSldViewPr snapToGrid="0">
      <p:cViewPr varScale="1">
        <p:scale>
          <a:sx n="25" d="100"/>
          <a:sy n="25" d="100"/>
        </p:scale>
        <p:origin x="18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0096" y="9802368"/>
            <a:ext cx="13240512" cy="5056632"/>
          </a:xfrm>
          <a:prstGeom prst="rect">
            <a:avLst/>
          </a:prstGeom>
        </p:spPr>
      </p:pic>
      <p:pic>
        <p:nvPicPr>
          <p:cNvPr id="5" name="Рисунок 4" descr="Better Generalization with Semantic IDs: A Case Study in Ranking for  Recommendations">
            <a:extLst>
              <a:ext uri="{FF2B5EF4-FFF2-40B4-BE49-F238E27FC236}">
                <a16:creationId xmlns:a16="http://schemas.microsoft.com/office/drawing/2014/main" id="{B11749C3-E503-998E-5565-303EED156C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40328" y="10533888"/>
            <a:ext cx="8778240" cy="3931920"/>
          </a:xfrm>
          <a:prstGeom prst="rect">
            <a:avLst/>
          </a:prstGeom>
        </p:spPr>
      </p:pic>
      <p:sp>
        <p:nvSpPr>
          <p:cNvPr id="151" name="INTRO_ResearchQuestion"/>
          <p:cNvSpPr txBox="1"/>
          <p:nvPr/>
        </p:nvSpPr>
        <p:spPr>
          <a:xfrm>
            <a:off x="1700784" y="8686800"/>
            <a:ext cx="11695176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152" name="INTRO_QuestionUnderline"/>
          <p:cNvCxnSpPr/>
          <p:nvPr/>
        </p:nvCxnSpPr>
        <p:spPr>
          <a:xfrm>
            <a:off x="1700784" y="10698480"/>
            <a:ext cx="667512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NTRO_DefinitionHead"/>
          <p:cNvSpPr txBox="1"/>
          <p:nvPr/>
        </p:nvSpPr>
        <p:spPr>
          <a:xfrm>
            <a:off x="1700784" y="10899648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ТАКОЕ SID?</a:t>
            </a:r>
          </a:p>
        </p:txBody>
      </p:sp>
      <p:sp>
        <p:nvSpPr>
          <p:cNvPr id="154" name="INTRO_Definition"/>
          <p:cNvSpPr txBox="1"/>
          <p:nvPr/>
        </p:nvSpPr>
        <p:spPr>
          <a:xfrm>
            <a:off x="1700784" y="11338560"/>
            <a:ext cx="11695176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Semantic IDs — дискретные коды объектов для генеративных рекомендательных моделей.</a:t>
            </a:r>
          </a:p>
        </p:txBody>
      </p:sp>
      <p:sp>
        <p:nvSpPr>
          <p:cNvPr id="155" name="INTRO_RQKMeansBand"/>
          <p:cNvSpPr/>
          <p:nvPr/>
        </p:nvSpPr>
        <p:spPr>
          <a:xfrm>
            <a:off x="1700784" y="12390120"/>
            <a:ext cx="11695176" cy="221284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INTRO_RQKMeansHead"/>
          <p:cNvSpPr txBox="1"/>
          <p:nvPr/>
        </p:nvSpPr>
        <p:spPr>
          <a:xfrm>
            <a:off x="1865376" y="12481560"/>
            <a:ext cx="1136599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RQ-KMeans · residual quantization</a:t>
            </a:r>
          </a:p>
        </p:txBody>
      </p:sp>
      <p:sp>
        <p:nvSpPr>
          <p:cNvPr id="157" name="INTRO_RQKMeansStage_0"/>
          <p:cNvSpPr txBox="1"/>
          <p:nvPr/>
        </p:nvSpPr>
        <p:spPr>
          <a:xfrm>
            <a:off x="1810512" y="13240512"/>
            <a:ext cx="213969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item
embedding</a:t>
            </a:r>
          </a:p>
        </p:txBody>
      </p:sp>
      <p:sp>
        <p:nvSpPr>
          <p:cNvPr id="158" name="INTRO_RQKMeansArrow_0"/>
          <p:cNvSpPr txBox="1"/>
          <p:nvPr/>
        </p:nvSpPr>
        <p:spPr>
          <a:xfrm>
            <a:off x="4041648" y="13322808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59" name="INTRO_RQKMeansStage_1"/>
          <p:cNvSpPr txBox="1"/>
          <p:nvPr/>
        </p:nvSpPr>
        <p:spPr>
          <a:xfrm>
            <a:off x="4334256" y="13240512"/>
            <a:ext cx="21945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nearest code
c₁</a:t>
            </a:r>
          </a:p>
        </p:txBody>
      </p:sp>
      <p:sp>
        <p:nvSpPr>
          <p:cNvPr id="160" name="INTRO_RQKMeansArrow_1"/>
          <p:cNvSpPr txBox="1"/>
          <p:nvPr/>
        </p:nvSpPr>
        <p:spPr>
          <a:xfrm>
            <a:off x="6620256" y="13322808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1" name="INTRO_RQKMeansStage_2"/>
          <p:cNvSpPr txBox="1"/>
          <p:nvPr/>
        </p:nvSpPr>
        <p:spPr>
          <a:xfrm>
            <a:off x="6931152" y="13240512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residual</a:t>
            </a:r>
          </a:p>
        </p:txBody>
      </p:sp>
      <p:sp>
        <p:nvSpPr>
          <p:cNvPr id="162" name="INTRO_RQKMeansArrow_2"/>
          <p:cNvSpPr txBox="1"/>
          <p:nvPr/>
        </p:nvSpPr>
        <p:spPr>
          <a:xfrm>
            <a:off x="8778240" y="13322808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3" name="INTRO_RQKMeansStage_3"/>
          <p:cNvSpPr txBox="1"/>
          <p:nvPr/>
        </p:nvSpPr>
        <p:spPr>
          <a:xfrm>
            <a:off x="9089136" y="13240512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next code
c₂</a:t>
            </a:r>
          </a:p>
        </p:txBody>
      </p:sp>
      <p:sp>
        <p:nvSpPr>
          <p:cNvPr id="164" name="INTRO_RQKMeansArrow_3"/>
          <p:cNvSpPr txBox="1"/>
          <p:nvPr/>
        </p:nvSpPr>
        <p:spPr>
          <a:xfrm>
            <a:off x="11393424" y="13322808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5" name="INTRO_RQKMeansStage_4"/>
          <p:cNvSpPr txBox="1"/>
          <p:nvPr/>
        </p:nvSpPr>
        <p:spPr>
          <a:xfrm>
            <a:off x="11704319" y="13240512"/>
            <a:ext cx="147218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…</a:t>
            </a:r>
          </a:p>
        </p:txBody>
      </p:sp>
      <p:sp>
        <p:nvSpPr>
          <p:cNvPr id="166" name="INTRO_RQKMeansSequence"/>
          <p:cNvSpPr txBox="1"/>
          <p:nvPr/>
        </p:nvSpPr>
        <p:spPr>
          <a:xfrm>
            <a:off x="1883664" y="14081760"/>
            <a:ext cx="11329415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c₁  →  c₂  →  …  →  cₗ   =   Semantic ID</a:t>
            </a:r>
          </a:p>
        </p:txBody>
      </p:sp>
      <p:sp>
        <p:nvSpPr>
          <p:cNvPr id="167" name="INTRO_GoalHead"/>
          <p:cNvSpPr txBox="1"/>
          <p:nvPr/>
        </p:nvSpPr>
        <p:spPr>
          <a:xfrm>
            <a:off x="1700784" y="14923008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ХОТИМ ВЫЯСНИТЬ?</a:t>
            </a:r>
          </a:p>
        </p:txBody>
      </p:sp>
      <p:sp>
        <p:nvSpPr>
          <p:cNvPr id="168" name="INTRO_GoalBody"/>
          <p:cNvSpPr txBox="1"/>
          <p:nvPr/>
        </p:nvSpPr>
        <p:spPr>
          <a:xfrm>
            <a:off x="1700784" y="15398496"/>
            <a:ext cx="11695176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Сравнить способы построения и модификации SID.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Проверить связь характеристик SID с downstream-качеством.</a:t>
            </a:r>
          </a:p>
        </p:txBody>
      </p:sp>
      <p:sp>
        <p:nvSpPr>
          <p:cNvPr id="169" name="INTRO_ContextHead"/>
          <p:cNvSpPr txBox="1"/>
          <p:nvPr/>
        </p:nvSpPr>
        <p:spPr>
          <a:xfrm>
            <a:off x="1700784" y="17026128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ГДЕ ПРОВЕРЯЕМ?</a:t>
            </a:r>
          </a:p>
        </p:txBody>
      </p:sp>
      <p:sp>
        <p:nvSpPr>
          <p:cNvPr id="170" name="INTRO_Dataset"/>
          <p:cNvSpPr txBox="1"/>
          <p:nvPr/>
        </p:nvSpPr>
        <p:spPr>
          <a:xfrm>
            <a:off x="1700784" y="17483328"/>
            <a:ext cx="116951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Yambda-50M · time split</a:t>
            </a:r>
          </a:p>
        </p:txBody>
      </p:sp>
      <p:cxnSp>
        <p:nvCxnSpPr>
          <p:cNvPr id="171" name="INTRO_TaskDivider"/>
          <p:cNvCxnSpPr/>
          <p:nvPr/>
        </p:nvCxnSpPr>
        <p:spPr>
          <a:xfrm>
            <a:off x="7388352" y="18141696"/>
            <a:ext cx="0" cy="3968496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NTRO_GenerationHead"/>
          <p:cNvSpPr txBox="1"/>
          <p:nvPr/>
        </p:nvSpPr>
        <p:spPr>
          <a:xfrm>
            <a:off x="1700784" y="18141696"/>
            <a:ext cx="541324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</a:t>
            </a:r>
          </a:p>
        </p:txBody>
      </p:sp>
      <p:sp>
        <p:nvSpPr>
          <p:cNvPr id="173" name="INTRO_GenerationBody"/>
          <p:cNvSpPr txBox="1"/>
          <p:nvPr/>
        </p:nvSpPr>
        <p:spPr>
          <a:xfrm>
            <a:off x="1700784" y="18672048"/>
            <a:ext cx="5413248" cy="3200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→ SID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 · SASRec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sp>
        <p:nvSpPr>
          <p:cNvPr id="174" name="INTRO_RankingHead"/>
          <p:cNvSpPr txBox="1"/>
          <p:nvPr/>
        </p:nvSpPr>
        <p:spPr>
          <a:xfrm>
            <a:off x="7662671" y="18141696"/>
            <a:ext cx="57332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</a:t>
            </a:r>
          </a:p>
        </p:txBody>
      </p:sp>
      <p:sp>
        <p:nvSpPr>
          <p:cNvPr id="175" name="INTRO_RankingBody"/>
          <p:cNvSpPr txBox="1"/>
          <p:nvPr/>
        </p:nvSpPr>
        <p:spPr>
          <a:xfrm>
            <a:off x="7662671" y="18672048"/>
            <a:ext cx="5733288" cy="33284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DCNv2 / TransAct-like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 — дополнительный признак</a:t>
            </a:r>
          </a:p>
          <a:p>
            <a:pPr algn="l">
              <a:lnSpc>
                <a:spcPct val="102000"/>
              </a:lnSpc>
              <a:spcBef>
                <a:spcPts val="6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ROC-AUC · Pairwise Accuracy</a:t>
            </a:r>
          </a:p>
        </p:txBody>
      </p:sp>
      <p:sp>
        <p:nvSpPr>
          <p:cNvPr id="176" name="METHODS_BaselineBand"/>
          <p:cNvSpPr/>
          <p:nvPr/>
        </p:nvSpPr>
        <p:spPr>
          <a:xfrm>
            <a:off x="14429232" y="8686800"/>
            <a:ext cx="12600432" cy="11887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METHODS_Balanced"/>
          <p:cNvSpPr txBox="1"/>
          <p:nvPr/>
        </p:nvSpPr>
        <p:spPr>
          <a:xfrm>
            <a:off x="14575536" y="8759952"/>
            <a:ext cx="587044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Balanced RQ-KMeans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capacity ограничивает размер кластера.</a:t>
            </a:r>
          </a:p>
        </p:txBody>
      </p:sp>
      <p:cxnSp>
        <p:nvCxnSpPr>
          <p:cNvPr id="178" name="METHODS_BaselineDivider"/>
          <p:cNvCxnSpPr/>
          <p:nvPr/>
        </p:nvCxnSpPr>
        <p:spPr>
          <a:xfrm>
            <a:off x="20729448" y="8833104"/>
            <a:ext cx="0" cy="8961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METHODS_PLUM"/>
          <p:cNvSpPr txBox="1"/>
          <p:nvPr/>
        </p:nvSpPr>
        <p:spPr>
          <a:xfrm>
            <a:off x="21012912" y="8759952"/>
            <a:ext cx="6016752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PLUM-like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меньше кодов + случайный активный prefix.</a:t>
            </a:r>
          </a:p>
        </p:txBody>
      </p:sp>
      <p:sp>
        <p:nvSpPr>
          <p:cNvPr id="180" name="METHODS_RQVAEHead"/>
          <p:cNvSpPr txBox="1"/>
          <p:nvPr/>
        </p:nvSpPr>
        <p:spPr>
          <a:xfrm>
            <a:off x="14429232" y="10076688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RQ-VAE</a:t>
            </a:r>
          </a:p>
        </p:txBody>
      </p:sp>
      <p:sp>
        <p:nvSpPr>
          <p:cNvPr id="181" name="METHODS_RQVAENote"/>
          <p:cNvSpPr txBox="1"/>
          <p:nvPr/>
        </p:nvSpPr>
        <p:spPr>
          <a:xfrm>
            <a:off x="16440912" y="10076688"/>
            <a:ext cx="10588751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Residual quantization с обучаемым encoder / decoder.</a:t>
            </a:r>
          </a:p>
        </p:txBody>
      </p:sp>
      <p:sp>
        <p:nvSpPr>
          <p:cNvPr id="182" name="METHODS_UserAwareHead"/>
          <p:cNvSpPr txBox="1"/>
          <p:nvPr/>
        </p:nvSpPr>
        <p:spPr>
          <a:xfrm>
            <a:off x="14429232" y="14593824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User-aware</a:t>
            </a:r>
          </a:p>
        </p:txBody>
      </p:sp>
      <p:sp>
        <p:nvSpPr>
          <p:cNvPr id="183" name="METHODS_UserAwareWhat"/>
          <p:cNvSpPr txBox="1"/>
          <p:nvPr/>
        </p:nvSpPr>
        <p:spPr>
          <a:xfrm>
            <a:off x="14429232" y="15142463"/>
            <a:ext cx="1260043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учитываем пользовательские предпочтения при построении SID.</a:t>
            </a:r>
          </a:p>
        </p:txBody>
      </p:sp>
      <p:sp>
        <p:nvSpPr>
          <p:cNvPr id="184" name="METHODS_UserAwareBand"/>
          <p:cNvSpPr/>
          <p:nvPr/>
        </p:nvSpPr>
        <p:spPr>
          <a:xfrm>
            <a:off x="14429232" y="15855696"/>
            <a:ext cx="12600432" cy="111556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METHODS_UserAwareStage_0"/>
          <p:cNvSpPr txBox="1"/>
          <p:nvPr/>
        </p:nvSpPr>
        <p:spPr>
          <a:xfrm>
            <a:off x="14474952" y="15983712"/>
            <a:ext cx="27889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186" name="METHODS_UserAwareArrow_0"/>
          <p:cNvSpPr txBox="1"/>
          <p:nvPr/>
        </p:nvSpPr>
        <p:spPr>
          <a:xfrm>
            <a:off x="17337023" y="16130016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87" name="METHODS_UserAwareStage_1"/>
          <p:cNvSpPr txBox="1"/>
          <p:nvPr/>
        </p:nvSpPr>
        <p:spPr>
          <a:xfrm>
            <a:off x="17675352" y="15983712"/>
            <a:ext cx="310896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USER-AWARE
MODEL</a:t>
            </a:r>
          </a:p>
        </p:txBody>
      </p:sp>
      <p:sp>
        <p:nvSpPr>
          <p:cNvPr id="188" name="METHODS_UserAwareArrow_1"/>
          <p:cNvSpPr txBox="1"/>
          <p:nvPr/>
        </p:nvSpPr>
        <p:spPr>
          <a:xfrm>
            <a:off x="20857463" y="16130016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89" name="METHODS_UserAwareStage_2"/>
          <p:cNvSpPr txBox="1"/>
          <p:nvPr/>
        </p:nvSpPr>
        <p:spPr>
          <a:xfrm>
            <a:off x="21195792" y="15983712"/>
            <a:ext cx="246888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U-AWARE
SID</a:t>
            </a:r>
          </a:p>
        </p:txBody>
      </p:sp>
      <p:sp>
        <p:nvSpPr>
          <p:cNvPr id="190" name="METHODS_UserAwareArrow_2"/>
          <p:cNvSpPr txBox="1"/>
          <p:nvPr/>
        </p:nvSpPr>
        <p:spPr>
          <a:xfrm>
            <a:off x="23737823" y="16130016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91" name="METHODS_UserAwareStage_3"/>
          <p:cNvSpPr txBox="1"/>
          <p:nvPr/>
        </p:nvSpPr>
        <p:spPr>
          <a:xfrm>
            <a:off x="24076152" y="15983712"/>
            <a:ext cx="27889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TARGET SID</a:t>
            </a:r>
          </a:p>
        </p:txBody>
      </p:sp>
      <p:sp>
        <p:nvSpPr>
          <p:cNvPr id="192" name="METHODS_UserAwareWhy"/>
          <p:cNvSpPr txBox="1"/>
          <p:nvPr/>
        </p:nvSpPr>
        <p:spPr>
          <a:xfrm>
            <a:off x="14429232" y="17044416"/>
            <a:ext cx="1260043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отразить пользовательское восприятие, не только content similarity.</a:t>
            </a:r>
          </a:p>
        </p:txBody>
      </p:sp>
      <p:cxnSp>
        <p:nvCxnSpPr>
          <p:cNvPr id="193" name="METHODS_UserAwareRule"/>
          <p:cNvCxnSpPr/>
          <p:nvPr/>
        </p:nvCxnSpPr>
        <p:spPr>
          <a:xfrm>
            <a:off x="14429232" y="17647920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METHODS_PSIHead"/>
          <p:cNvSpPr txBox="1"/>
          <p:nvPr/>
        </p:nvSpPr>
        <p:spPr>
          <a:xfrm>
            <a:off x="14429232" y="17794224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PSI</a:t>
            </a:r>
          </a:p>
        </p:txBody>
      </p:sp>
      <p:sp>
        <p:nvSpPr>
          <p:cNvPr id="195" name="METHODS_PSIWhat"/>
          <p:cNvSpPr txBox="1"/>
          <p:nvPr/>
        </p:nvSpPr>
        <p:spPr>
          <a:xfrm>
            <a:off x="14429232" y="18342864"/>
            <a:ext cx="1260043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занятый nearest SID → следующая близкая свободная комбинация.</a:t>
            </a:r>
          </a:p>
        </p:txBody>
      </p:sp>
      <p:sp>
        <p:nvSpPr>
          <p:cNvPr id="196" name="METHODS_PSIBand"/>
          <p:cNvSpPr/>
          <p:nvPr/>
        </p:nvSpPr>
        <p:spPr>
          <a:xfrm>
            <a:off x="14429232" y="19037808"/>
            <a:ext cx="12600432" cy="100584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METHODS_PSIStage_0"/>
          <p:cNvSpPr txBox="1"/>
          <p:nvPr/>
        </p:nvSpPr>
        <p:spPr>
          <a:xfrm>
            <a:off x="14575536" y="19165824"/>
            <a:ext cx="292608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nearest SID
занят  ×</a:t>
            </a:r>
          </a:p>
        </p:txBody>
      </p:sp>
      <p:sp>
        <p:nvSpPr>
          <p:cNvPr id="198" name="METHODS_PSIArrow_0"/>
          <p:cNvSpPr txBox="1"/>
          <p:nvPr/>
        </p:nvSpPr>
        <p:spPr>
          <a:xfrm>
            <a:off x="17574768" y="19293840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99" name="METHODS_PSIStage_1"/>
          <p:cNvSpPr txBox="1"/>
          <p:nvPr/>
        </p:nvSpPr>
        <p:spPr>
          <a:xfrm>
            <a:off x="17940527" y="19165824"/>
            <a:ext cx="2999232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next closest
занят  ×</a:t>
            </a:r>
          </a:p>
        </p:txBody>
      </p:sp>
      <p:sp>
        <p:nvSpPr>
          <p:cNvPr id="200" name="METHODS_PSIArrow_1"/>
          <p:cNvSpPr txBox="1"/>
          <p:nvPr/>
        </p:nvSpPr>
        <p:spPr>
          <a:xfrm>
            <a:off x="21012911" y="19293840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201" name="METHODS_PSIStage_2"/>
          <p:cNvSpPr txBox="1"/>
          <p:nvPr/>
        </p:nvSpPr>
        <p:spPr>
          <a:xfrm>
            <a:off x="21378672" y="19165824"/>
            <a:ext cx="5504688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next closest free SID  ✓</a:t>
            </a:r>
          </a:p>
        </p:txBody>
      </p:sp>
      <p:sp>
        <p:nvSpPr>
          <p:cNvPr id="202" name="METHODS_PSIWhy"/>
          <p:cNvSpPr txBox="1"/>
          <p:nvPr/>
        </p:nvSpPr>
        <p:spPr>
          <a:xfrm>
            <a:off x="14429232" y="20116800"/>
            <a:ext cx="12600432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устранить SID-коллизии без дополнительного токена.</a:t>
            </a:r>
          </a:p>
        </p:txBody>
      </p:sp>
      <p:cxnSp>
        <p:nvCxnSpPr>
          <p:cNvPr id="203" name="METHODS_PSIRule"/>
          <p:cNvCxnSpPr/>
          <p:nvPr/>
        </p:nvCxnSpPr>
        <p:spPr>
          <a:xfrm>
            <a:off x="14429232" y="20738592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METHODS_R3VAEHead"/>
          <p:cNvSpPr txBox="1"/>
          <p:nvPr/>
        </p:nvSpPr>
        <p:spPr>
          <a:xfrm>
            <a:off x="14429232" y="20884896"/>
            <a:ext cx="6016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R3-VAE</a:t>
            </a:r>
          </a:p>
        </p:txBody>
      </p:sp>
      <p:sp>
        <p:nvSpPr>
          <p:cNvPr id="205" name="METHODS_R3VAEWhat"/>
          <p:cNvSpPr txBox="1"/>
          <p:nvPr/>
        </p:nvSpPr>
        <p:spPr>
          <a:xfrm>
            <a:off x="14429232" y="21451824"/>
            <a:ext cx="601675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semantic anchor перед residual Q.</a:t>
            </a:r>
          </a:p>
        </p:txBody>
      </p:sp>
      <p:sp>
        <p:nvSpPr>
          <p:cNvPr id="206" name="METHODS_R3VAEBand"/>
          <p:cNvSpPr/>
          <p:nvPr/>
        </p:nvSpPr>
        <p:spPr>
          <a:xfrm>
            <a:off x="14429232" y="22329648"/>
            <a:ext cx="6016752" cy="82296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METHODS_R3VAEScheme"/>
          <p:cNvSpPr txBox="1"/>
          <p:nvPr/>
        </p:nvSpPr>
        <p:spPr>
          <a:xfrm>
            <a:off x="14538959" y="22439376"/>
            <a:ext cx="5797296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embedding + anchor  →  residual Q</a:t>
            </a:r>
          </a:p>
        </p:txBody>
      </p:sp>
      <p:sp>
        <p:nvSpPr>
          <p:cNvPr id="208" name="METHODS_R3VAEWhy"/>
          <p:cNvSpPr txBox="1"/>
          <p:nvPr/>
        </p:nvSpPr>
        <p:spPr>
          <a:xfrm>
            <a:off x="14429232" y="23244048"/>
            <a:ext cx="601675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структурировать пространство кодов.</a:t>
            </a:r>
          </a:p>
        </p:txBody>
      </p:sp>
      <p:sp>
        <p:nvSpPr>
          <p:cNvPr id="209" name="METHODS_LogQHead"/>
          <p:cNvSpPr txBox="1"/>
          <p:nvPr/>
        </p:nvSpPr>
        <p:spPr>
          <a:xfrm>
            <a:off x="21012912" y="20884896"/>
            <a:ext cx="6016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LogQ</a:t>
            </a:r>
          </a:p>
        </p:txBody>
      </p:sp>
      <p:sp>
        <p:nvSpPr>
          <p:cNvPr id="210" name="METHODS_LogQWhat"/>
          <p:cNvSpPr txBox="1"/>
          <p:nvPr/>
        </p:nvSpPr>
        <p:spPr>
          <a:xfrm>
            <a:off x="21012912" y="21451824"/>
            <a:ext cx="601675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учёт частоты SID-префиксов / item ID.</a:t>
            </a:r>
          </a:p>
        </p:txBody>
      </p:sp>
      <p:sp>
        <p:nvSpPr>
          <p:cNvPr id="211" name="METHODS_LogQBand"/>
          <p:cNvSpPr/>
          <p:nvPr/>
        </p:nvSpPr>
        <p:spPr>
          <a:xfrm>
            <a:off x="21012912" y="22329648"/>
            <a:ext cx="6016752" cy="82296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METHODS_LogQScheme"/>
          <p:cNvSpPr txBox="1"/>
          <p:nvPr/>
        </p:nvSpPr>
        <p:spPr>
          <a:xfrm>
            <a:off x="21122640" y="22402800"/>
            <a:ext cx="579729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logits  →  frequency correction
→  corrected logits</a:t>
            </a:r>
          </a:p>
        </p:txBody>
      </p:sp>
      <p:sp>
        <p:nvSpPr>
          <p:cNvPr id="213" name="METHODS_LogQWhy"/>
          <p:cNvSpPr txBox="1"/>
          <p:nvPr/>
        </p:nvSpPr>
        <p:spPr>
          <a:xfrm>
            <a:off x="21012912" y="23244048"/>
            <a:ext cx="601675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компенсировать frequency bias.</a:t>
            </a:r>
          </a:p>
        </p:txBody>
      </p:sp>
      <p:sp>
        <p:nvSpPr>
          <p:cNvPr id="214" name="RESULTS_HeatmapQuestion"/>
          <p:cNvSpPr txBox="1"/>
          <p:nvPr/>
        </p:nvSpPr>
        <p:spPr>
          <a:xfrm>
            <a:off x="28520136" y="8686800"/>
            <a:ext cx="1260043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КАКИЕ ХАРАКТЕРИСТИКИ SID СВЯЗАНЫ
С DOWNSTREAM-КАЧЕСТВОМ?</a:t>
            </a:r>
          </a:p>
        </p:txBody>
      </p:sp>
      <p:sp>
        <p:nvSpPr>
          <p:cNvPr id="215" name="RESULTS_Observation_1"/>
          <p:cNvSpPr txBox="1"/>
          <p:nvPr/>
        </p:nvSpPr>
        <p:spPr>
          <a:xfrm>
            <a:off x="28520136" y="15014448"/>
            <a:ext cx="126004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Pairwise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ICR и code entropy: r = 0.47.</a:t>
            </a:r>
          </a:p>
        </p:txBody>
      </p:sp>
      <p:sp>
        <p:nvSpPr>
          <p:cNvPr id="216" name="RESULTS_Observation_2"/>
          <p:cNvSpPr txBox="1"/>
          <p:nvPr/>
        </p:nvSpPr>
        <p:spPr>
          <a:xfrm>
            <a:off x="28520136" y="15691104"/>
            <a:ext cx="12600432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ROC-AUC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нет общей зависимости; max |r| = 0.20.</a:t>
            </a:r>
          </a:p>
        </p:txBody>
      </p:sp>
      <p:cxnSp>
        <p:nvCxnSpPr>
          <p:cNvPr id="217" name="RESULTS_ObservationRule"/>
          <p:cNvCxnSpPr/>
          <p:nvPr/>
        </p:nvCxnSpPr>
        <p:spPr>
          <a:xfrm>
            <a:off x="28520136" y="16495776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ESULTS_GenerationTableHead"/>
          <p:cNvSpPr txBox="1"/>
          <p:nvPr/>
        </p:nvSpPr>
        <p:spPr>
          <a:xfrm>
            <a:off x="28520136" y="16898112"/>
            <a:ext cx="1260043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GENERATION · ОСНОВНОЙ РЕЗУЛЬТАТ</a:t>
            </a:r>
          </a:p>
        </p:txBody>
      </p:sp>
      <p:sp>
        <p:nvSpPr>
          <p:cNvPr id="219" name="RESULTS_TableHeaderBand"/>
          <p:cNvSpPr/>
          <p:nvPr/>
        </p:nvSpPr>
        <p:spPr>
          <a:xfrm>
            <a:off x="28520136" y="17501616"/>
            <a:ext cx="12600432" cy="64008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SULTS_TableBestBand"/>
          <p:cNvSpPr/>
          <p:nvPr/>
        </p:nvSpPr>
        <p:spPr>
          <a:xfrm>
            <a:off x="28520136" y="19001232"/>
            <a:ext cx="12600432" cy="859536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SULTS_TableHeader_0"/>
          <p:cNvSpPr txBox="1"/>
          <p:nvPr/>
        </p:nvSpPr>
        <p:spPr>
          <a:xfrm>
            <a:off x="28520136" y="17501616"/>
            <a:ext cx="6629400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Model</a:t>
            </a:r>
          </a:p>
        </p:txBody>
      </p:sp>
      <p:sp>
        <p:nvSpPr>
          <p:cNvPr id="222" name="RESULTS_TableHeader_1"/>
          <p:cNvSpPr txBox="1"/>
          <p:nvPr/>
        </p:nvSpPr>
        <p:spPr>
          <a:xfrm>
            <a:off x="35149536" y="17501616"/>
            <a:ext cx="3063240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Recall@100</a:t>
            </a:r>
          </a:p>
        </p:txBody>
      </p:sp>
      <p:sp>
        <p:nvSpPr>
          <p:cNvPr id="223" name="RESULTS_TableHeader_2"/>
          <p:cNvSpPr txBox="1"/>
          <p:nvPr/>
        </p:nvSpPr>
        <p:spPr>
          <a:xfrm>
            <a:off x="38212776" y="17501616"/>
            <a:ext cx="2907791" cy="640080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</p:txBody>
      </p:sp>
      <p:sp>
        <p:nvSpPr>
          <p:cNvPr id="224" name="RESULTS_TableCell_0_0"/>
          <p:cNvSpPr txBox="1"/>
          <p:nvPr/>
        </p:nvSpPr>
        <p:spPr>
          <a:xfrm>
            <a:off x="28520136" y="18141696"/>
            <a:ext cx="6629400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225" name="RESULTS_TableCell_0_1"/>
          <p:cNvSpPr txBox="1"/>
          <p:nvPr/>
        </p:nvSpPr>
        <p:spPr>
          <a:xfrm>
            <a:off x="35149536" y="18141696"/>
            <a:ext cx="3063240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0.12303</a:t>
            </a:r>
          </a:p>
        </p:txBody>
      </p:sp>
      <p:sp>
        <p:nvSpPr>
          <p:cNvPr id="226" name="RESULTS_TableCell_0_2"/>
          <p:cNvSpPr txBox="1"/>
          <p:nvPr/>
        </p:nvSpPr>
        <p:spPr>
          <a:xfrm>
            <a:off x="38212776" y="18141696"/>
            <a:ext cx="2907791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</a:t>
            </a:r>
          </a:p>
        </p:txBody>
      </p:sp>
      <p:cxnSp>
        <p:nvCxnSpPr>
          <p:cNvPr id="227" name="RESULTS_TableRule_0"/>
          <p:cNvCxnSpPr/>
          <p:nvPr/>
        </p:nvCxnSpPr>
        <p:spPr>
          <a:xfrm>
            <a:off x="28520136" y="19001232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SULTS_TableCell_1_0"/>
          <p:cNvSpPr txBox="1"/>
          <p:nvPr/>
        </p:nvSpPr>
        <p:spPr>
          <a:xfrm>
            <a:off x="28520136" y="19001232"/>
            <a:ext cx="6629400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RQ-VAE + item LogQ</a:t>
            </a:r>
          </a:p>
        </p:txBody>
      </p:sp>
      <p:sp>
        <p:nvSpPr>
          <p:cNvPr id="229" name="RESULTS_TableCell_1_1"/>
          <p:cNvSpPr txBox="1"/>
          <p:nvPr/>
        </p:nvSpPr>
        <p:spPr>
          <a:xfrm>
            <a:off x="35149536" y="19001232"/>
            <a:ext cx="3063240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0.14138</a:t>
            </a:r>
          </a:p>
        </p:txBody>
      </p:sp>
      <p:sp>
        <p:nvSpPr>
          <p:cNvPr id="230" name="RESULTS_TableCell_1_2"/>
          <p:cNvSpPr txBox="1"/>
          <p:nvPr/>
        </p:nvSpPr>
        <p:spPr>
          <a:xfrm>
            <a:off x="38212776" y="19001232"/>
            <a:ext cx="2907791" cy="859536"/>
          </a:xfrm>
          <a:prstGeom prst="rect">
            <a:avLst/>
          </a:prstGeom>
          <a:noFill/>
        </p:spPr>
        <p:txBody>
          <a:bodyPr wrap="square" tIns="91440" bIns="9144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cxnSp>
        <p:nvCxnSpPr>
          <p:cNvPr id="231" name="RESULTS_TableRule_1"/>
          <p:cNvCxnSpPr/>
          <p:nvPr/>
        </p:nvCxnSpPr>
        <p:spPr>
          <a:xfrm>
            <a:off x="28520136" y="19860768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SULTS_GenerationTableNote"/>
          <p:cNvSpPr txBox="1"/>
          <p:nvPr/>
        </p:nvSpPr>
        <p:spPr>
          <a:xfrm>
            <a:off x="28520136" y="20135088"/>
            <a:ext cx="1260043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Best SID: RQ-VAE + item LogQ, L=2, C=256</a:t>
            </a:r>
          </a:p>
        </p:txBody>
      </p:sp>
      <p:cxnSp>
        <p:nvCxnSpPr>
          <p:cNvPr id="233" name="CONCLUSIONS_Divider_1"/>
          <p:cNvCxnSpPr/>
          <p:nvPr/>
        </p:nvCxnSpPr>
        <p:spPr>
          <a:xfrm>
            <a:off x="11183112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CLUSIONS_Divider_2"/>
          <p:cNvCxnSpPr/>
          <p:nvPr/>
        </p:nvCxnSpPr>
        <p:spPr>
          <a:xfrm>
            <a:off x="20939760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CLUSIONS_Divider_3"/>
          <p:cNvCxnSpPr/>
          <p:nvPr/>
        </p:nvCxnSpPr>
        <p:spPr>
          <a:xfrm>
            <a:off x="30696408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CONCLUSIONS_Thesis_1"/>
          <p:cNvSpPr txBox="1"/>
          <p:nvPr/>
        </p:nvSpPr>
        <p:spPr>
          <a:xfrm>
            <a:off x="1792224" y="26353008"/>
            <a:ext cx="9006840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Хорошие внутренние характеристики SID не гарантируют улучшение итоговой модели.</a:t>
            </a:r>
          </a:p>
        </p:txBody>
      </p:sp>
      <p:sp>
        <p:nvSpPr>
          <p:cNvPr id="237" name="CONCLUSIONS_Thesis_2"/>
          <p:cNvSpPr txBox="1"/>
          <p:nvPr/>
        </p:nvSpPr>
        <p:spPr>
          <a:xfrm>
            <a:off x="11548872" y="26353008"/>
            <a:ext cx="9006840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Ranking: устойчивого улучшения нет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baseline.</a:t>
            </a:r>
          </a:p>
        </p:txBody>
      </p:sp>
      <p:sp>
        <p:nvSpPr>
          <p:cNvPr id="238" name="CONCLUSIONS_Thesis_3"/>
          <p:cNvSpPr txBox="1"/>
          <p:nvPr/>
        </p:nvSpPr>
        <p:spPr>
          <a:xfrm>
            <a:off x="21305520" y="26353008"/>
            <a:ext cx="9006840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дал лучший Recall@100 относительно baseline.</a:t>
            </a:r>
          </a:p>
        </p:txBody>
      </p:sp>
      <p:sp>
        <p:nvSpPr>
          <p:cNvPr id="239" name="CONCLUSIONS_Thesis_4"/>
          <p:cNvSpPr txBox="1"/>
          <p:nvPr/>
        </p:nvSpPr>
        <p:spPr>
          <a:xfrm>
            <a:off x="31062168" y="26353008"/>
            <a:ext cx="9006840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 нужно оценивать через реальные downstream-задачи, а не только внутренние метрики.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282</Words>
  <Application>Microsoft Macintosh PowerPoint</Application>
  <PresentationFormat>Произвольный</PresentationFormat>
  <Paragraphs>60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pre-emit P5 H5 E4 S5 R5 V4 · constrained Narrative Workflow · poster_0 source preserved · original RQ-VAE and heatmap images retained byte-for-byte</dc:description>
  <cp:lastModifiedBy>Konstantin Ryadinskiy</cp:lastModifiedBy>
  <cp:revision>10</cp:revision>
  <dcterms:modified xsi:type="dcterms:W3CDTF">2026-08-18T16:06:49Z</dcterms:modified>
</cp:coreProperties>
</file>