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79"/>
    <p:restoredTop sz="94714"/>
  </p:normalViewPr>
  <p:slideViewPr>
    <p:cSldViewPr snapToGrid="0">
      <p:cViewPr>
        <p:scale>
          <a:sx n="30" d="100"/>
          <a:sy n="30" d="100"/>
        </p:scale>
        <p:origin x="1264" y="-224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1892475"/>
            <a:ext cx="31821119" cy="1518236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8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8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8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8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285356" y="877736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0" name="RESULTS_Heatmap_Full" descr="Pearson correlation heatmap: all supplied SID metrics versus downstream metrics, including title, subtitle, cell values, and Pearson r colorbar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64897" y="8951955"/>
            <a:ext cx="13240512" cy="5056632"/>
          </a:xfrm>
          <a:prstGeom prst="rect">
            <a:avLst/>
          </a:prstGeom>
        </p:spPr>
      </p:pic>
      <p:pic>
        <p:nvPicPr>
          <p:cNvPr id="5" name="Рисунок 4" descr="Better Generalization with Semantic IDs: A Case Study in Ranking for  Recommendations">
            <a:extLst>
              <a:ext uri="{FF2B5EF4-FFF2-40B4-BE49-F238E27FC236}">
                <a16:creationId xmlns:a16="http://schemas.microsoft.com/office/drawing/2014/main" id="{B11749C3-E503-998E-5565-303EED156C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60596" y="10133685"/>
            <a:ext cx="10669068" cy="4575162"/>
          </a:xfrm>
          <a:prstGeom prst="rect">
            <a:avLst/>
          </a:prstGeom>
        </p:spPr>
      </p:pic>
      <p:sp>
        <p:nvSpPr>
          <p:cNvPr id="151" name="INTRO_ResearchQuestion"/>
          <p:cNvSpPr txBox="1"/>
          <p:nvPr/>
        </p:nvSpPr>
        <p:spPr>
          <a:xfrm>
            <a:off x="1700784" y="8686800"/>
            <a:ext cx="11695176" cy="1965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Какие свойства Semantic ID действительно отражаются на downstream-метриках рекомендательной системы?</a:t>
            </a:r>
          </a:p>
        </p:txBody>
      </p:sp>
      <p:cxnSp>
        <p:nvCxnSpPr>
          <p:cNvPr id="152" name="INTRO_QuestionUnderline"/>
          <p:cNvCxnSpPr/>
          <p:nvPr/>
        </p:nvCxnSpPr>
        <p:spPr>
          <a:xfrm>
            <a:off x="1700784" y="10698480"/>
            <a:ext cx="667512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INTRO_DefinitionHead"/>
          <p:cNvSpPr txBox="1"/>
          <p:nvPr/>
        </p:nvSpPr>
        <p:spPr>
          <a:xfrm>
            <a:off x="1700784" y="10954512"/>
            <a:ext cx="116951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ТАКОЕ SID?</a:t>
            </a:r>
          </a:p>
        </p:txBody>
      </p:sp>
      <p:sp>
        <p:nvSpPr>
          <p:cNvPr id="154" name="INTRO_Definition"/>
          <p:cNvSpPr txBox="1"/>
          <p:nvPr/>
        </p:nvSpPr>
        <p:spPr>
          <a:xfrm>
            <a:off x="1700784" y="11503152"/>
            <a:ext cx="11695176" cy="6583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SID — дискретные коды объектов для рекомендаций.</a:t>
            </a:r>
          </a:p>
        </p:txBody>
      </p:sp>
      <p:sp>
        <p:nvSpPr>
          <p:cNvPr id="167" name="INTRO_GoalHead"/>
          <p:cNvSpPr txBox="1"/>
          <p:nvPr/>
        </p:nvSpPr>
        <p:spPr>
          <a:xfrm>
            <a:off x="1700784" y="17523024"/>
            <a:ext cx="116951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ЧТО ХОТИМ ВЫЯСНИТЬ?</a:t>
            </a:r>
          </a:p>
        </p:txBody>
      </p:sp>
      <p:sp>
        <p:nvSpPr>
          <p:cNvPr id="168" name="INTRO_GoalBody"/>
          <p:cNvSpPr txBox="1"/>
          <p:nvPr/>
        </p:nvSpPr>
        <p:spPr>
          <a:xfrm>
            <a:off x="1700784" y="18231621"/>
            <a:ext cx="11695176" cy="10972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• Сравнить способы построения SID.</a:t>
            </a:r>
          </a:p>
          <a:p>
            <a:pPr algn="l">
              <a:lnSpc>
                <a:spcPct val="11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• Проверить связь SID с downstream-качеством.</a:t>
            </a:r>
          </a:p>
        </p:txBody>
      </p:sp>
      <p:sp>
        <p:nvSpPr>
          <p:cNvPr id="169" name="INTRO_ContextHead"/>
          <p:cNvSpPr txBox="1"/>
          <p:nvPr/>
        </p:nvSpPr>
        <p:spPr>
          <a:xfrm>
            <a:off x="1700784" y="19694661"/>
            <a:ext cx="11695176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111116"/>
                </a:solidFill>
                <a:latin typeface="Arial"/>
              </a:rPr>
              <a:t>ГДЕ ПРОВЕРЯЕМ?</a:t>
            </a:r>
          </a:p>
        </p:txBody>
      </p:sp>
      <p:sp>
        <p:nvSpPr>
          <p:cNvPr id="170" name="INTRO_Dataset"/>
          <p:cNvSpPr txBox="1"/>
          <p:nvPr/>
        </p:nvSpPr>
        <p:spPr>
          <a:xfrm>
            <a:off x="1700784" y="20225013"/>
            <a:ext cx="11695176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 dirty="0">
                <a:solidFill>
                  <a:srgbClr val="524D61"/>
                </a:solidFill>
                <a:latin typeface="Arial"/>
              </a:rPr>
              <a:t>Yambda-50M </a:t>
            </a:r>
            <a:r>
              <a:rPr lang="ru-RU" sz="3000" b="1" dirty="0">
                <a:solidFill>
                  <a:srgbClr val="524D61"/>
                </a:solidFill>
                <a:latin typeface="Arial"/>
              </a:rPr>
              <a:t>+</a:t>
            </a:r>
            <a:r>
              <a:rPr sz="3000" b="1" i="0" dirty="0">
                <a:solidFill>
                  <a:srgbClr val="524D61"/>
                </a:solidFill>
                <a:latin typeface="Arial"/>
              </a:rPr>
              <a:t> time split</a:t>
            </a:r>
          </a:p>
        </p:txBody>
      </p:sp>
      <p:cxnSp>
        <p:nvCxnSpPr>
          <p:cNvPr id="171" name="INTRO_TaskDivider"/>
          <p:cNvCxnSpPr/>
          <p:nvPr/>
        </p:nvCxnSpPr>
        <p:spPr>
          <a:xfrm>
            <a:off x="6941959" y="20876758"/>
            <a:ext cx="0" cy="3986784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INTRO_GenerationHead"/>
          <p:cNvSpPr txBox="1"/>
          <p:nvPr/>
        </p:nvSpPr>
        <p:spPr>
          <a:xfrm>
            <a:off x="1700784" y="21011397"/>
            <a:ext cx="541324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ru-RU" sz="3400" b="1" dirty="0">
                <a:solidFill>
                  <a:srgbClr val="087C48"/>
                </a:solidFill>
                <a:latin typeface="Arial"/>
              </a:rPr>
              <a:t>Генерация</a:t>
            </a: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173" name="INTRO_GenerationBody"/>
          <p:cNvSpPr txBox="1"/>
          <p:nvPr/>
        </p:nvSpPr>
        <p:spPr>
          <a:xfrm>
            <a:off x="1700784" y="21578325"/>
            <a:ext cx="5413248" cy="2523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11116"/>
                </a:solidFill>
                <a:latin typeface="Arial"/>
              </a:rPr>
              <a:t>TIGER</a:t>
            </a:r>
            <a:r>
              <a:rPr lang="en-US" sz="3000" b="1" dirty="0">
                <a:solidFill>
                  <a:srgbClr val="111116"/>
                </a:solidFill>
                <a:latin typeface="Arial"/>
              </a:rPr>
              <a:t>-like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 → SID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SASRec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baseline · Recall@100</a:t>
            </a:r>
          </a:p>
        </p:txBody>
      </p:sp>
      <p:sp>
        <p:nvSpPr>
          <p:cNvPr id="174" name="INTRO_RankingHead"/>
          <p:cNvSpPr txBox="1"/>
          <p:nvPr/>
        </p:nvSpPr>
        <p:spPr>
          <a:xfrm>
            <a:off x="7662671" y="21011397"/>
            <a:ext cx="573328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lang="ru-RU" sz="3400" b="1" i="0" dirty="0">
                <a:solidFill>
                  <a:srgbClr val="087C48"/>
                </a:solidFill>
                <a:latin typeface="Arial"/>
              </a:rPr>
              <a:t>Ранжирование</a:t>
            </a: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175" name="INTRO_RankingBody"/>
          <p:cNvSpPr txBox="1"/>
          <p:nvPr/>
        </p:nvSpPr>
        <p:spPr>
          <a:xfrm>
            <a:off x="7662671" y="21578325"/>
            <a:ext cx="5733288" cy="2724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dirty="0">
                <a:solidFill>
                  <a:srgbClr val="111116"/>
                </a:solidFill>
                <a:latin typeface="Arial"/>
              </a:rPr>
              <a:t>DCNv2 / </a:t>
            </a:r>
            <a:r>
              <a:rPr sz="3000" b="1" i="0" dirty="0" err="1">
                <a:solidFill>
                  <a:srgbClr val="111116"/>
                </a:solidFill>
                <a:latin typeface="Arial"/>
              </a:rPr>
              <a:t>TransAct</a:t>
            </a:r>
            <a:r>
              <a:rPr sz="3000" b="1" i="0" dirty="0">
                <a:solidFill>
                  <a:srgbClr val="111116"/>
                </a:solidFill>
                <a:latin typeface="Arial"/>
              </a:rPr>
              <a:t>-like</a:t>
            </a:r>
          </a:p>
          <a:p>
            <a:pPr algn="l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SID-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признак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· ROC-AUC · Pairwise Accuracy</a:t>
            </a:r>
          </a:p>
        </p:txBody>
      </p:sp>
      <p:sp>
        <p:nvSpPr>
          <p:cNvPr id="176" name="METHODS_BaselineBand"/>
          <p:cNvSpPr/>
          <p:nvPr/>
        </p:nvSpPr>
        <p:spPr>
          <a:xfrm>
            <a:off x="14429232" y="8686800"/>
            <a:ext cx="12600432" cy="118872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METHODS_Balanced"/>
          <p:cNvSpPr txBox="1"/>
          <p:nvPr/>
        </p:nvSpPr>
        <p:spPr>
          <a:xfrm>
            <a:off x="14575536" y="8759952"/>
            <a:ext cx="5870448" cy="10241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Balanced RQ-KMeans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capacity ограничивает размер кластера.</a:t>
            </a:r>
          </a:p>
        </p:txBody>
      </p:sp>
      <p:cxnSp>
        <p:nvCxnSpPr>
          <p:cNvPr id="178" name="METHODS_BaselineDivider"/>
          <p:cNvCxnSpPr/>
          <p:nvPr/>
        </p:nvCxnSpPr>
        <p:spPr>
          <a:xfrm>
            <a:off x="20729448" y="8833104"/>
            <a:ext cx="0" cy="89611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METHODS_PLUM"/>
          <p:cNvSpPr txBox="1"/>
          <p:nvPr/>
        </p:nvSpPr>
        <p:spPr>
          <a:xfrm>
            <a:off x="21012912" y="8759952"/>
            <a:ext cx="6016752" cy="10241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087C48"/>
                </a:solidFill>
                <a:latin typeface="Arial"/>
              </a:rPr>
              <a:t>PLUM-like · </a:t>
            </a:r>
            <a:r>
              <a:rPr sz="3000" b="0" i="0">
                <a:solidFill>
                  <a:srgbClr val="111116"/>
                </a:solidFill>
                <a:latin typeface="Arial"/>
              </a:rPr>
              <a:t>меньше кодов + случайный prefix.</a:t>
            </a:r>
          </a:p>
        </p:txBody>
      </p:sp>
      <p:sp>
        <p:nvSpPr>
          <p:cNvPr id="180" name="METHODS_RQVAEHead"/>
          <p:cNvSpPr txBox="1"/>
          <p:nvPr/>
        </p:nvSpPr>
        <p:spPr>
          <a:xfrm>
            <a:off x="14429232" y="10094976"/>
            <a:ext cx="20116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RQ-VAE</a:t>
            </a:r>
          </a:p>
        </p:txBody>
      </p:sp>
      <p:sp>
        <p:nvSpPr>
          <p:cNvPr id="181" name="METHODS_RQVAENote"/>
          <p:cNvSpPr txBox="1"/>
          <p:nvPr/>
        </p:nvSpPr>
        <p:spPr>
          <a:xfrm>
            <a:off x="16440912" y="10094976"/>
            <a:ext cx="10588751" cy="51206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3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182" name="METHODS_UserAwareHead"/>
          <p:cNvSpPr txBox="1"/>
          <p:nvPr/>
        </p:nvSpPr>
        <p:spPr>
          <a:xfrm>
            <a:off x="14429231" y="15088286"/>
            <a:ext cx="12600432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User-aware</a:t>
            </a:r>
          </a:p>
        </p:txBody>
      </p:sp>
      <p:sp>
        <p:nvSpPr>
          <p:cNvPr id="183" name="METHODS_UserAwareWhat"/>
          <p:cNvSpPr txBox="1"/>
          <p:nvPr/>
        </p:nvSpPr>
        <p:spPr>
          <a:xfrm>
            <a:off x="17026970" y="15097846"/>
            <a:ext cx="1260043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учитываем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user preference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построении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SID.</a:t>
            </a:r>
          </a:p>
        </p:txBody>
      </p:sp>
      <p:sp>
        <p:nvSpPr>
          <p:cNvPr id="194" name="METHODS_PSIHead"/>
          <p:cNvSpPr txBox="1"/>
          <p:nvPr/>
        </p:nvSpPr>
        <p:spPr>
          <a:xfrm>
            <a:off x="14389254" y="19036555"/>
            <a:ext cx="12600432" cy="5120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PSI</a:t>
            </a:r>
          </a:p>
        </p:txBody>
      </p:sp>
      <p:sp>
        <p:nvSpPr>
          <p:cNvPr id="195" name="METHODS_PSIWhat"/>
          <p:cNvSpPr txBox="1"/>
          <p:nvPr/>
        </p:nvSpPr>
        <p:spPr>
          <a:xfrm>
            <a:off x="15394914" y="19064527"/>
            <a:ext cx="1260043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000" b="0" i="0" dirty="0">
                <a:solidFill>
                  <a:srgbClr val="111116"/>
                </a:solidFill>
                <a:latin typeface="Arial"/>
              </a:rPr>
              <a:t>Вместо токена выбираем близкую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свободн</a:t>
            </a:r>
            <a:r>
              <a:rPr lang="ru-RU" sz="3000" b="0" i="0" dirty="0">
                <a:solidFill>
                  <a:srgbClr val="111116"/>
                </a:solidFill>
                <a:latin typeface="Arial"/>
              </a:rPr>
              <a:t>ую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комбинаци</a:t>
            </a:r>
            <a:r>
              <a:rPr lang="ru-RU" sz="3000" b="0" i="0" dirty="0">
                <a:solidFill>
                  <a:srgbClr val="111116"/>
                </a:solidFill>
                <a:latin typeface="Arial"/>
              </a:rPr>
              <a:t>ю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204" name="METHODS_R3VAEHead"/>
          <p:cNvSpPr txBox="1"/>
          <p:nvPr/>
        </p:nvSpPr>
        <p:spPr>
          <a:xfrm>
            <a:off x="14389254" y="19914565"/>
            <a:ext cx="601675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R3-VAE</a:t>
            </a:r>
          </a:p>
        </p:txBody>
      </p:sp>
      <p:sp>
        <p:nvSpPr>
          <p:cNvPr id="205" name="METHODS_R3VAEWhat"/>
          <p:cNvSpPr txBox="1"/>
          <p:nvPr/>
        </p:nvSpPr>
        <p:spPr>
          <a:xfrm>
            <a:off x="14389254" y="21376491"/>
            <a:ext cx="6016752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Добавляем обучаемый семантический якорь перед квантизацией.</a:t>
            </a:r>
            <a:b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sz="3000" i="0" dirty="0">
              <a:solidFill>
                <a:srgbClr val="1111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METHODS_R3VAEBand"/>
          <p:cNvSpPr/>
          <p:nvPr/>
        </p:nvSpPr>
        <p:spPr>
          <a:xfrm>
            <a:off x="14429231" y="22398058"/>
            <a:ext cx="6016752" cy="113859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METHODS_R3VAEScheme"/>
          <p:cNvSpPr txBox="1"/>
          <p:nvPr/>
        </p:nvSpPr>
        <p:spPr>
          <a:xfrm>
            <a:off x="14603035" y="22694861"/>
            <a:ext cx="5797296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r>
              <a:rPr lang="ru-RU" sz="3200" b="1" dirty="0" err="1"/>
              <a:t>embedding</a:t>
            </a:r>
            <a:r>
              <a:rPr lang="ru-RU" sz="3200" b="1" dirty="0"/>
              <a:t> + </a:t>
            </a:r>
            <a:r>
              <a:rPr lang="ru-RU" sz="3200" b="1" dirty="0" err="1"/>
              <a:t>learned</a:t>
            </a:r>
            <a:r>
              <a:rPr lang="ru-RU" sz="3200" b="1" dirty="0"/>
              <a:t> </a:t>
            </a:r>
            <a:r>
              <a:rPr lang="ru-RU" sz="3200" b="1" dirty="0" err="1"/>
              <a:t>anchor</a:t>
            </a:r>
            <a:r>
              <a:rPr lang="ru-RU" sz="3200" b="1" dirty="0"/>
              <a:t> → </a:t>
            </a:r>
            <a:r>
              <a:rPr lang="ru-RU" sz="3200" b="1" dirty="0" err="1"/>
              <a:t>residual</a:t>
            </a:r>
            <a:r>
              <a:rPr lang="ru-RU" sz="3200" b="1" dirty="0"/>
              <a:t> → </a:t>
            </a:r>
            <a:r>
              <a:rPr lang="ru-RU" sz="3200" b="1" dirty="0" err="1"/>
              <a:t>quantization</a:t>
            </a:r>
            <a:endParaRPr lang="ru-RU" sz="3200" dirty="0"/>
          </a:p>
        </p:txBody>
      </p:sp>
      <p:sp>
        <p:nvSpPr>
          <p:cNvPr id="208" name="METHODS_R3VAEWhy"/>
          <p:cNvSpPr txBox="1"/>
          <p:nvPr/>
        </p:nvSpPr>
        <p:spPr>
          <a:xfrm>
            <a:off x="14429232" y="23536656"/>
            <a:ext cx="6016752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endParaRPr lang="ru-RU" sz="3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209" name="METHODS_LogQHead"/>
          <p:cNvSpPr txBox="1"/>
          <p:nvPr/>
        </p:nvSpPr>
        <p:spPr>
          <a:xfrm>
            <a:off x="20930615" y="19914565"/>
            <a:ext cx="601675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 err="1">
                <a:solidFill>
                  <a:srgbClr val="087C48"/>
                </a:solidFill>
                <a:latin typeface="Arial"/>
              </a:rPr>
              <a:t>LogQ</a:t>
            </a:r>
            <a:endParaRPr sz="3400" b="1" i="0" dirty="0">
              <a:solidFill>
                <a:srgbClr val="087C48"/>
              </a:solidFill>
              <a:latin typeface="Arial"/>
            </a:endParaRPr>
          </a:p>
        </p:txBody>
      </p:sp>
      <p:sp>
        <p:nvSpPr>
          <p:cNvPr id="214" name="RESULTS_HeatmapQuestion"/>
          <p:cNvSpPr txBox="1"/>
          <p:nvPr/>
        </p:nvSpPr>
        <p:spPr>
          <a:xfrm>
            <a:off x="28520136" y="8686800"/>
            <a:ext cx="12600432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215" name="RESULTS_Observation_1"/>
          <p:cNvSpPr txBox="1"/>
          <p:nvPr/>
        </p:nvSpPr>
        <p:spPr>
          <a:xfrm>
            <a:off x="28560708" y="14187977"/>
            <a:ext cx="12600432" cy="5852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endParaRPr sz="3000" b="0" i="0" dirty="0">
              <a:solidFill>
                <a:srgbClr val="111116"/>
              </a:solidFill>
              <a:latin typeface="Arial"/>
            </a:endParaRPr>
          </a:p>
        </p:txBody>
      </p:sp>
      <p:cxnSp>
        <p:nvCxnSpPr>
          <p:cNvPr id="217" name="RESULTS_ObservationRule"/>
          <p:cNvCxnSpPr/>
          <p:nvPr/>
        </p:nvCxnSpPr>
        <p:spPr>
          <a:xfrm>
            <a:off x="28560708" y="14210792"/>
            <a:ext cx="12600432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RESULTS_GenerationTableHead"/>
          <p:cNvSpPr txBox="1"/>
          <p:nvPr/>
        </p:nvSpPr>
        <p:spPr>
          <a:xfrm>
            <a:off x="28530804" y="14289029"/>
            <a:ext cx="12600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111116"/>
                </a:solidFill>
                <a:latin typeface="Arial"/>
              </a:rPr>
              <a:t>ОСНОВНОЙ РЕЗУЛЬТАТ</a:t>
            </a:r>
          </a:p>
        </p:txBody>
      </p:sp>
      <p:sp>
        <p:nvSpPr>
          <p:cNvPr id="219" name="RESULTS_TableHeaderBand"/>
          <p:cNvSpPr/>
          <p:nvPr/>
        </p:nvSpPr>
        <p:spPr>
          <a:xfrm>
            <a:off x="28530804" y="14947397"/>
            <a:ext cx="12600432" cy="71323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RESULTS_TableBestBand"/>
          <p:cNvSpPr/>
          <p:nvPr/>
        </p:nvSpPr>
        <p:spPr>
          <a:xfrm>
            <a:off x="28530804" y="16620749"/>
            <a:ext cx="12600432" cy="960120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RESULTS_TableHeader_0"/>
          <p:cNvSpPr txBox="1"/>
          <p:nvPr/>
        </p:nvSpPr>
        <p:spPr>
          <a:xfrm>
            <a:off x="28530804" y="14947397"/>
            <a:ext cx="6629400" cy="71323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Model</a:t>
            </a:r>
          </a:p>
        </p:txBody>
      </p:sp>
      <p:sp>
        <p:nvSpPr>
          <p:cNvPr id="222" name="RESULTS_TableHeader_1"/>
          <p:cNvSpPr txBox="1"/>
          <p:nvPr/>
        </p:nvSpPr>
        <p:spPr>
          <a:xfrm>
            <a:off x="35160204" y="14947397"/>
            <a:ext cx="3063240" cy="71323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Recall@100</a:t>
            </a:r>
          </a:p>
        </p:txBody>
      </p:sp>
      <p:sp>
        <p:nvSpPr>
          <p:cNvPr id="223" name="RESULTS_TableHeader_2"/>
          <p:cNvSpPr txBox="1"/>
          <p:nvPr/>
        </p:nvSpPr>
        <p:spPr>
          <a:xfrm>
            <a:off x="38223444" y="14947397"/>
            <a:ext cx="2907792" cy="713232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1" i="0" dirty="0" err="1">
                <a:solidFill>
                  <a:srgbClr val="524D61"/>
                </a:solidFill>
                <a:latin typeface="Arial"/>
              </a:rPr>
              <a:t>Δ</a:t>
            </a:r>
            <a:endParaRPr sz="3000" b="1" i="0" dirty="0">
              <a:solidFill>
                <a:srgbClr val="524D61"/>
              </a:solidFill>
              <a:latin typeface="Arial"/>
            </a:endParaRPr>
          </a:p>
        </p:txBody>
      </p:sp>
      <p:sp>
        <p:nvSpPr>
          <p:cNvPr id="224" name="RESULTS_TableCell_0_0"/>
          <p:cNvSpPr txBox="1"/>
          <p:nvPr/>
        </p:nvSpPr>
        <p:spPr>
          <a:xfrm>
            <a:off x="28530804" y="15660629"/>
            <a:ext cx="662940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225" name="RESULTS_TableCell_0_1"/>
          <p:cNvSpPr txBox="1"/>
          <p:nvPr/>
        </p:nvSpPr>
        <p:spPr>
          <a:xfrm>
            <a:off x="35160204" y="15660629"/>
            <a:ext cx="306324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0.12303</a:t>
            </a:r>
          </a:p>
        </p:txBody>
      </p:sp>
      <p:sp>
        <p:nvSpPr>
          <p:cNvPr id="226" name="RESULTS_TableCell_0_2"/>
          <p:cNvSpPr txBox="1"/>
          <p:nvPr/>
        </p:nvSpPr>
        <p:spPr>
          <a:xfrm>
            <a:off x="38223444" y="15660629"/>
            <a:ext cx="2907792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</a:t>
            </a:r>
          </a:p>
        </p:txBody>
      </p:sp>
      <p:cxnSp>
        <p:nvCxnSpPr>
          <p:cNvPr id="227" name="RESULTS_TableRule_0"/>
          <p:cNvCxnSpPr/>
          <p:nvPr/>
        </p:nvCxnSpPr>
        <p:spPr>
          <a:xfrm>
            <a:off x="28530804" y="16620749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RESULTS_TableCell_1_0"/>
          <p:cNvSpPr txBox="1"/>
          <p:nvPr/>
        </p:nvSpPr>
        <p:spPr>
          <a:xfrm>
            <a:off x="28530804" y="16620749"/>
            <a:ext cx="662940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i="0" dirty="0">
                <a:solidFill>
                  <a:srgbClr val="111116"/>
                </a:solidFill>
                <a:latin typeface="Arial"/>
              </a:rPr>
              <a:t>RQ-VAE + item </a:t>
            </a:r>
            <a:r>
              <a:rPr sz="3000" i="0" dirty="0" err="1">
                <a:solidFill>
                  <a:srgbClr val="111116"/>
                </a:solidFill>
                <a:latin typeface="Arial"/>
              </a:rPr>
              <a:t>LogQ</a:t>
            </a:r>
            <a:endParaRPr sz="300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229" name="RESULTS_TableCell_1_1"/>
          <p:cNvSpPr txBox="1"/>
          <p:nvPr/>
        </p:nvSpPr>
        <p:spPr>
          <a:xfrm>
            <a:off x="35160204" y="16620749"/>
            <a:ext cx="3063240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0.14138</a:t>
            </a:r>
          </a:p>
        </p:txBody>
      </p:sp>
      <p:sp>
        <p:nvSpPr>
          <p:cNvPr id="230" name="RESULTS_TableCell_1_2"/>
          <p:cNvSpPr txBox="1"/>
          <p:nvPr/>
        </p:nvSpPr>
        <p:spPr>
          <a:xfrm>
            <a:off x="38223444" y="16620749"/>
            <a:ext cx="2907792" cy="960120"/>
          </a:xfrm>
          <a:prstGeom prst="rect">
            <a:avLst/>
          </a:prstGeom>
          <a:noFill/>
        </p:spPr>
        <p:txBody>
          <a:bodyPr wrap="square" lIns="128016" tIns="128016" rIns="128016" bIns="12801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cxnSp>
        <p:nvCxnSpPr>
          <p:cNvPr id="231" name="RESULTS_TableRule_1"/>
          <p:cNvCxnSpPr/>
          <p:nvPr/>
        </p:nvCxnSpPr>
        <p:spPr>
          <a:xfrm>
            <a:off x="28530804" y="17580869"/>
            <a:ext cx="12600432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RESULTS_GenerationTableNote"/>
          <p:cNvSpPr txBox="1"/>
          <p:nvPr/>
        </p:nvSpPr>
        <p:spPr>
          <a:xfrm>
            <a:off x="28545107" y="17761633"/>
            <a:ext cx="12600432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3000" b="1" i="0" dirty="0">
              <a:solidFill>
                <a:srgbClr val="087C48"/>
              </a:solidFill>
              <a:latin typeface="Arial"/>
            </a:endParaRPr>
          </a:p>
        </p:txBody>
      </p:sp>
      <p:cxnSp>
        <p:nvCxnSpPr>
          <p:cNvPr id="233" name="CONCLUSIONS_Divider_1"/>
          <p:cNvCxnSpPr/>
          <p:nvPr/>
        </p:nvCxnSpPr>
        <p:spPr>
          <a:xfrm>
            <a:off x="11183112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CLUSIONS_Divider_2"/>
          <p:cNvCxnSpPr/>
          <p:nvPr/>
        </p:nvCxnSpPr>
        <p:spPr>
          <a:xfrm>
            <a:off x="20939760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CLUSIONS_Divider_3"/>
          <p:cNvCxnSpPr/>
          <p:nvPr/>
        </p:nvCxnSpPr>
        <p:spPr>
          <a:xfrm>
            <a:off x="30696408" y="26426160"/>
            <a:ext cx="0" cy="1938528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CONCLUSIONS_Thesis_1"/>
          <p:cNvSpPr txBox="1"/>
          <p:nvPr/>
        </p:nvSpPr>
        <p:spPr>
          <a:xfrm>
            <a:off x="1938528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Внутренние метрики SID не гарантируют downstream-улучшение.</a:t>
            </a:r>
          </a:p>
        </p:txBody>
      </p:sp>
      <p:sp>
        <p:nvSpPr>
          <p:cNvPr id="237" name="CONCLUSIONS_Thesis_2"/>
          <p:cNvSpPr txBox="1"/>
          <p:nvPr/>
        </p:nvSpPr>
        <p:spPr>
          <a:xfrm>
            <a:off x="11695176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Ranking: устойчивого улучшения нет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baseline.</a:t>
            </a:r>
          </a:p>
        </p:txBody>
      </p:sp>
      <p:sp>
        <p:nvSpPr>
          <p:cNvPr id="238" name="CONCLUSIONS_Thesis_3"/>
          <p:cNvSpPr txBox="1"/>
          <p:nvPr/>
        </p:nvSpPr>
        <p:spPr>
          <a:xfrm>
            <a:off x="21451824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Generation: +14.9%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 дал лучший Recall@100.</a:t>
            </a:r>
          </a:p>
        </p:txBody>
      </p:sp>
      <p:sp>
        <p:nvSpPr>
          <p:cNvPr id="239" name="CONCLUSIONS_Thesis_4"/>
          <p:cNvSpPr txBox="1"/>
          <p:nvPr/>
        </p:nvSpPr>
        <p:spPr>
          <a:xfrm>
            <a:off x="31208472" y="26371296"/>
            <a:ext cx="8705088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12000"/>
              </a:lnSpc>
              <a:spcBef>
                <a:spcPts val="12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Оценивать SID нужно через реальные downstream-задачи.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0D277A8-AE79-C9A0-5D32-985074213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82054" y="17779549"/>
            <a:ext cx="13240512" cy="630326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0DE6633-4F91-F6C0-3EF1-93E540C3E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159745" y="15598249"/>
            <a:ext cx="13254866" cy="3367967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91E2DAC-C685-634C-ABC3-8128E085B8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200488" y="22940781"/>
            <a:ext cx="5477006" cy="1176645"/>
          </a:xfrm>
          <a:prstGeom prst="rect">
            <a:avLst/>
          </a:prstGeom>
        </p:spPr>
      </p:pic>
      <p:sp>
        <p:nvSpPr>
          <p:cNvPr id="210" name="METHODS_LogQWhat"/>
          <p:cNvSpPr txBox="1"/>
          <p:nvPr/>
        </p:nvSpPr>
        <p:spPr>
          <a:xfrm>
            <a:off x="20930615" y="21567790"/>
            <a:ext cx="6761023" cy="64577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При генерации SID корректируем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логиты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с учётом частоты SID-префиксов.</a:t>
            </a:r>
            <a:b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Для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item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ID используем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item-level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3000" dirty="0" err="1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r>
              <a:rPr lang="ru-RU" sz="3000" dirty="0">
                <a:latin typeface="Arial" panose="020B0604020202020204" pitchFamily="34" charset="0"/>
                <a:cs typeface="Arial" panose="020B0604020202020204" pitchFamily="34" charset="0"/>
              </a:rPr>
              <a:t> по частоте объектов.</a:t>
            </a:r>
            <a:endParaRPr sz="3000" i="0" dirty="0">
              <a:solidFill>
                <a:srgbClr val="11111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968</TotalTime>
  <Words>243</Words>
  <Application>Microsoft Macintosh PowerPoint</Application>
  <PresentationFormat>Произвольный</PresentationFormat>
  <Paragraphs>51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pre-emit P5 H5 E5 S5 R5 V4 · whitespace refinement only · poster_0_improved.pptx used as the sole base · original RQ-VAE and heatmap images retained byte-for-byte</dc:description>
  <cp:lastModifiedBy>Konstantin Ryadinskiy</cp:lastModifiedBy>
  <cp:revision>11</cp:revision>
  <dcterms:modified xsi:type="dcterms:W3CDTF">2026-08-18T19:58:10Z</dcterms:modified>
</cp:coreProperties>
</file>